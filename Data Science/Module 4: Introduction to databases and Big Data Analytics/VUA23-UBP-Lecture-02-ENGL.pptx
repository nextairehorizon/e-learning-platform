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354" r:id="rId2"/>
    <p:sldId id="316" r:id="rId3"/>
    <p:sldId id="319" r:id="rId4"/>
    <p:sldId id="322" r:id="rId5"/>
    <p:sldId id="352" r:id="rId6"/>
    <p:sldId id="323" r:id="rId7"/>
    <p:sldId id="324" r:id="rId8"/>
    <p:sldId id="325" r:id="rId9"/>
    <p:sldId id="326" r:id="rId10"/>
    <p:sldId id="353" r:id="rId11"/>
    <p:sldId id="332" r:id="rId12"/>
    <p:sldId id="351" r:id="rId13"/>
    <p:sldId id="327" r:id="rId14"/>
    <p:sldId id="347" r:id="rId15"/>
    <p:sldId id="330" r:id="rId16"/>
    <p:sldId id="331" r:id="rId17"/>
    <p:sldId id="333" r:id="rId18"/>
    <p:sldId id="334" r:id="rId19"/>
    <p:sldId id="335" r:id="rId20"/>
    <p:sldId id="348" r:id="rId21"/>
    <p:sldId id="349" r:id="rId22"/>
    <p:sldId id="350" r:id="rId23"/>
    <p:sldId id="339" r:id="rId24"/>
    <p:sldId id="340" r:id="rId25"/>
    <p:sldId id="341" r:id="rId26"/>
    <p:sldId id="34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30E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Srednji stil 2 - Isticanj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Svijetli stil 2 - Isticanje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69CF1AB2-1976-4502-BF36-3FF5EA218861}" styleName="Srednji stil 4 - Isticanj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D083AE6-46FA-4A59-8FB0-9F97EB10719F}" styleName="Svijetli stil 3 - Isticanje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Srednji stil 2 - Isticanj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Svijetli stil 1 - Isticanj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E25E649-3F16-4E02-A733-19D2CDBF48F0}" styleName="Srednji stil 3 - Isticanje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Srednji stil 4 - Isticanj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7AC3CCA-C797-4891-BE02-D94E43425B78}" styleName="Srednji stil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Srednji stil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Svijetli stil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Svijetli stil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7" autoAdjust="0"/>
    <p:restoredTop sz="93792" autoAdjust="0"/>
  </p:normalViewPr>
  <p:slideViewPr>
    <p:cSldViewPr snapToGrid="0" snapToObjects="1">
      <p:cViewPr varScale="1">
        <p:scale>
          <a:sx n="122" d="100"/>
          <a:sy n="122" d="100"/>
        </p:scale>
        <p:origin x="138" y="21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93" d="100"/>
          <a:sy n="93" d="100"/>
        </p:scale>
        <p:origin x="3528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o Fabijanić" userId="1ead0857-fbe2-43d2-a68d-bf32e4aa3fde" providerId="ADAL" clId="{329B70D9-6F9A-4E81-B99C-D272D124CB47}"/>
    <pc:docChg chg="modSld">
      <pc:chgData name="Mario Fabijanić" userId="1ead0857-fbe2-43d2-a68d-bf32e4aa3fde" providerId="ADAL" clId="{329B70D9-6F9A-4E81-B99C-D272D124CB47}" dt="2023-02-27T08:10:29.946" v="21" actId="20577"/>
      <pc:docMkLst>
        <pc:docMk/>
      </pc:docMkLst>
      <pc:sldChg chg="modSp mod">
        <pc:chgData name="Mario Fabijanić" userId="1ead0857-fbe2-43d2-a68d-bf32e4aa3fde" providerId="ADAL" clId="{329B70D9-6F9A-4E81-B99C-D272D124CB47}" dt="2023-02-27T08:09:52.491" v="14" actId="20577"/>
        <pc:sldMkLst>
          <pc:docMk/>
          <pc:sldMk cId="0" sldId="349"/>
        </pc:sldMkLst>
        <pc:spChg chg="mod">
          <ac:chgData name="Mario Fabijanić" userId="1ead0857-fbe2-43d2-a68d-bf32e4aa3fde" providerId="ADAL" clId="{329B70D9-6F9A-4E81-B99C-D272D124CB47}" dt="2023-02-27T08:09:52.491" v="14" actId="20577"/>
          <ac:spMkLst>
            <pc:docMk/>
            <pc:sldMk cId="0" sldId="349"/>
            <ac:spMk id="3" creationId="{00000000-0000-0000-0000-000000000000}"/>
          </ac:spMkLst>
        </pc:spChg>
      </pc:sldChg>
      <pc:sldChg chg="modSp mod">
        <pc:chgData name="Mario Fabijanić" userId="1ead0857-fbe2-43d2-a68d-bf32e4aa3fde" providerId="ADAL" clId="{329B70D9-6F9A-4E81-B99C-D272D124CB47}" dt="2023-02-27T08:10:29.946" v="21" actId="20577"/>
        <pc:sldMkLst>
          <pc:docMk/>
          <pc:sldMk cId="0" sldId="351"/>
        </pc:sldMkLst>
        <pc:spChg chg="mod">
          <ac:chgData name="Mario Fabijanić" userId="1ead0857-fbe2-43d2-a68d-bf32e4aa3fde" providerId="ADAL" clId="{329B70D9-6F9A-4E81-B99C-D272D124CB47}" dt="2023-02-27T08:10:29.946" v="21" actId="20577"/>
          <ac:spMkLst>
            <pc:docMk/>
            <pc:sldMk cId="0" sldId="351"/>
            <ac:spMk id="3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1274C4-6AB2-4050-8EB7-878185B39940}" type="doc">
      <dgm:prSet loTypeId="urn:microsoft.com/office/officeart/2005/8/layout/chevron1" loCatId="process" qsTypeId="urn:microsoft.com/office/officeart/2005/8/quickstyle/3d3" qsCatId="3D" csTypeId="urn:microsoft.com/office/officeart/2005/8/colors/accent2_1" csCatId="accent2" phldr="1"/>
      <dgm:spPr/>
    </dgm:pt>
    <dgm:pt modelId="{0F0A06F3-BC7A-4796-B770-7C83CCEE968A}">
      <dgm:prSet phldrT="[Text]"/>
      <dgm:spPr/>
      <dgm:t>
        <a:bodyPr/>
        <a:lstStyle/>
        <a:p>
          <a:r>
            <a:rPr lang="en-US" noProof="0" dirty="0">
              <a:latin typeface="Candara" pitchFamily="34" charset="0"/>
            </a:rPr>
            <a:t>User requests</a:t>
          </a:r>
        </a:p>
      </dgm:t>
    </dgm:pt>
    <dgm:pt modelId="{68206FB2-ACF4-447E-82D1-8929104CBA98}" type="parTrans" cxnId="{1623F967-A74F-4CFD-BDBB-148C2B443EA5}">
      <dgm:prSet/>
      <dgm:spPr/>
      <dgm:t>
        <a:bodyPr/>
        <a:lstStyle/>
        <a:p>
          <a:endParaRPr lang="hr-HR">
            <a:latin typeface="Candara" pitchFamily="34" charset="0"/>
          </a:endParaRPr>
        </a:p>
      </dgm:t>
    </dgm:pt>
    <dgm:pt modelId="{379FF77A-0370-4DC4-B656-75C001EA03C6}" type="sibTrans" cxnId="{1623F967-A74F-4CFD-BDBB-148C2B443EA5}">
      <dgm:prSet/>
      <dgm:spPr/>
      <dgm:t>
        <a:bodyPr/>
        <a:lstStyle/>
        <a:p>
          <a:endParaRPr lang="hr-HR">
            <a:latin typeface="Candara" pitchFamily="34" charset="0"/>
          </a:endParaRPr>
        </a:p>
      </dgm:t>
    </dgm:pt>
    <dgm:pt modelId="{6A6F1DC9-1CFE-4294-B5E9-10131925C16A}">
      <dgm:prSet phldrT="[Text]"/>
      <dgm:spPr/>
      <dgm:t>
        <a:bodyPr/>
        <a:lstStyle/>
        <a:p>
          <a:r>
            <a:rPr lang="en-US" noProof="0" dirty="0">
              <a:latin typeface="Candara" pitchFamily="34" charset="0"/>
            </a:rPr>
            <a:t>ER model</a:t>
          </a:r>
        </a:p>
      </dgm:t>
    </dgm:pt>
    <dgm:pt modelId="{7AF0655D-91C8-4395-B3DB-7D49B685D2AA}" type="parTrans" cxnId="{32C17C3E-A519-46BF-BE5F-B7062A0090A2}">
      <dgm:prSet/>
      <dgm:spPr/>
      <dgm:t>
        <a:bodyPr/>
        <a:lstStyle/>
        <a:p>
          <a:endParaRPr lang="hr-HR">
            <a:latin typeface="Candara" pitchFamily="34" charset="0"/>
          </a:endParaRPr>
        </a:p>
      </dgm:t>
    </dgm:pt>
    <dgm:pt modelId="{5822181E-C996-4A90-BF80-EDFD94288F04}" type="sibTrans" cxnId="{32C17C3E-A519-46BF-BE5F-B7062A0090A2}">
      <dgm:prSet/>
      <dgm:spPr/>
      <dgm:t>
        <a:bodyPr/>
        <a:lstStyle/>
        <a:p>
          <a:endParaRPr lang="hr-HR">
            <a:latin typeface="Candara" pitchFamily="34" charset="0"/>
          </a:endParaRPr>
        </a:p>
      </dgm:t>
    </dgm:pt>
    <dgm:pt modelId="{829A33BF-8487-46A4-93FF-012EB0B5E763}">
      <dgm:prSet phldrT="[Text]"/>
      <dgm:spPr/>
      <dgm:t>
        <a:bodyPr/>
        <a:lstStyle/>
        <a:p>
          <a:r>
            <a:rPr lang="en-US" noProof="0" dirty="0">
              <a:latin typeface="Candara" pitchFamily="34" charset="0"/>
            </a:rPr>
            <a:t>Relation model</a:t>
          </a:r>
        </a:p>
      </dgm:t>
    </dgm:pt>
    <dgm:pt modelId="{B867E0E7-C54F-4F73-AD63-6FA8956CE596}" type="parTrans" cxnId="{5E0F5CCD-3A0B-4A93-9304-C0FC9FB2A86A}">
      <dgm:prSet/>
      <dgm:spPr/>
      <dgm:t>
        <a:bodyPr/>
        <a:lstStyle/>
        <a:p>
          <a:endParaRPr lang="hr-HR">
            <a:latin typeface="Candara" pitchFamily="34" charset="0"/>
          </a:endParaRPr>
        </a:p>
      </dgm:t>
    </dgm:pt>
    <dgm:pt modelId="{4FB72C97-3A1C-4679-85A9-3DE2577B3B66}" type="sibTrans" cxnId="{5E0F5CCD-3A0B-4A93-9304-C0FC9FB2A86A}">
      <dgm:prSet/>
      <dgm:spPr/>
      <dgm:t>
        <a:bodyPr/>
        <a:lstStyle/>
        <a:p>
          <a:endParaRPr lang="hr-HR">
            <a:latin typeface="Candara" pitchFamily="34" charset="0"/>
          </a:endParaRPr>
        </a:p>
      </dgm:t>
    </dgm:pt>
    <dgm:pt modelId="{6D5335A7-8ED0-4591-B4C8-5E9137EE0560}">
      <dgm:prSet phldrT="[Text]"/>
      <dgm:spPr/>
      <dgm:t>
        <a:bodyPr/>
        <a:lstStyle/>
        <a:p>
          <a:r>
            <a:rPr lang="en-US" noProof="0" dirty="0">
              <a:latin typeface="Candara" pitchFamily="34" charset="0"/>
            </a:rPr>
            <a:t>Database</a:t>
          </a:r>
        </a:p>
      </dgm:t>
    </dgm:pt>
    <dgm:pt modelId="{34E9F8E3-348F-4CA0-889E-3088FE1E6EBD}" type="parTrans" cxnId="{2E9C5FB4-058B-4188-8EA7-F2FFD0799B11}">
      <dgm:prSet/>
      <dgm:spPr/>
      <dgm:t>
        <a:bodyPr/>
        <a:lstStyle/>
        <a:p>
          <a:endParaRPr lang="hr-HR">
            <a:latin typeface="Candara" pitchFamily="34" charset="0"/>
          </a:endParaRPr>
        </a:p>
      </dgm:t>
    </dgm:pt>
    <dgm:pt modelId="{0B8F1801-0982-42E3-A48E-2933CFFC9A9B}" type="sibTrans" cxnId="{2E9C5FB4-058B-4188-8EA7-F2FFD0799B11}">
      <dgm:prSet/>
      <dgm:spPr/>
      <dgm:t>
        <a:bodyPr/>
        <a:lstStyle/>
        <a:p>
          <a:endParaRPr lang="hr-HR">
            <a:latin typeface="Candara" pitchFamily="34" charset="0"/>
          </a:endParaRPr>
        </a:p>
      </dgm:t>
    </dgm:pt>
    <dgm:pt modelId="{F164E4F2-4E7E-44EE-A966-36194AD65421}" type="pres">
      <dgm:prSet presAssocID="{0E1274C4-6AB2-4050-8EB7-878185B39940}" presName="Name0" presStyleCnt="0">
        <dgm:presLayoutVars>
          <dgm:dir/>
          <dgm:animLvl val="lvl"/>
          <dgm:resizeHandles val="exact"/>
        </dgm:presLayoutVars>
      </dgm:prSet>
      <dgm:spPr/>
    </dgm:pt>
    <dgm:pt modelId="{43380F6C-9609-418B-B39D-E79FB2FA3E0D}" type="pres">
      <dgm:prSet presAssocID="{0F0A06F3-BC7A-4796-B770-7C83CCEE968A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68F969C8-6091-44F3-BB6E-3664928214D6}" type="pres">
      <dgm:prSet presAssocID="{379FF77A-0370-4DC4-B656-75C001EA03C6}" presName="parTxOnlySpace" presStyleCnt="0"/>
      <dgm:spPr/>
    </dgm:pt>
    <dgm:pt modelId="{AFDD040D-9EAC-4A4A-A3BD-17F92B95D82B}" type="pres">
      <dgm:prSet presAssocID="{6A6F1DC9-1CFE-4294-B5E9-10131925C16A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667D5BF-5686-47EB-BCF7-2FBCB1E681BE}" type="pres">
      <dgm:prSet presAssocID="{5822181E-C996-4A90-BF80-EDFD94288F04}" presName="parTxOnlySpace" presStyleCnt="0"/>
      <dgm:spPr/>
    </dgm:pt>
    <dgm:pt modelId="{1D6B17EE-88BD-4A51-884D-DC2B5C8202C0}" type="pres">
      <dgm:prSet presAssocID="{829A33BF-8487-46A4-93FF-012EB0B5E763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03688AE0-4CD6-41D1-84F5-F0294F0EB977}" type="pres">
      <dgm:prSet presAssocID="{4FB72C97-3A1C-4679-85A9-3DE2577B3B66}" presName="parTxOnlySpace" presStyleCnt="0"/>
      <dgm:spPr/>
    </dgm:pt>
    <dgm:pt modelId="{8A2B136F-6CDC-4D5A-B1FF-E636A56951F6}" type="pres">
      <dgm:prSet presAssocID="{6D5335A7-8ED0-4591-B4C8-5E9137EE0560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68D1301-22BF-47B6-85E3-2EB1A9F7D0AD}" type="presOf" srcId="{0F0A06F3-BC7A-4796-B770-7C83CCEE968A}" destId="{43380F6C-9609-418B-B39D-E79FB2FA3E0D}" srcOrd="0" destOrd="0" presId="urn:microsoft.com/office/officeart/2005/8/layout/chevron1"/>
    <dgm:cxn modelId="{32C17C3E-A519-46BF-BE5F-B7062A0090A2}" srcId="{0E1274C4-6AB2-4050-8EB7-878185B39940}" destId="{6A6F1DC9-1CFE-4294-B5E9-10131925C16A}" srcOrd="1" destOrd="0" parTransId="{7AF0655D-91C8-4395-B3DB-7D49B685D2AA}" sibTransId="{5822181E-C996-4A90-BF80-EDFD94288F04}"/>
    <dgm:cxn modelId="{1623F967-A74F-4CFD-BDBB-148C2B443EA5}" srcId="{0E1274C4-6AB2-4050-8EB7-878185B39940}" destId="{0F0A06F3-BC7A-4796-B770-7C83CCEE968A}" srcOrd="0" destOrd="0" parTransId="{68206FB2-ACF4-447E-82D1-8929104CBA98}" sibTransId="{379FF77A-0370-4DC4-B656-75C001EA03C6}"/>
    <dgm:cxn modelId="{6779546B-64F3-458C-BD85-9991AFAE0E8C}" type="presOf" srcId="{829A33BF-8487-46A4-93FF-012EB0B5E763}" destId="{1D6B17EE-88BD-4A51-884D-DC2B5C8202C0}" srcOrd="0" destOrd="0" presId="urn:microsoft.com/office/officeart/2005/8/layout/chevron1"/>
    <dgm:cxn modelId="{533E8BA4-EB47-433C-BF4A-994269AE10FD}" type="presOf" srcId="{6D5335A7-8ED0-4591-B4C8-5E9137EE0560}" destId="{8A2B136F-6CDC-4D5A-B1FF-E636A56951F6}" srcOrd="0" destOrd="0" presId="urn:microsoft.com/office/officeart/2005/8/layout/chevron1"/>
    <dgm:cxn modelId="{2E9C5FB4-058B-4188-8EA7-F2FFD0799B11}" srcId="{0E1274C4-6AB2-4050-8EB7-878185B39940}" destId="{6D5335A7-8ED0-4591-B4C8-5E9137EE0560}" srcOrd="3" destOrd="0" parTransId="{34E9F8E3-348F-4CA0-889E-3088FE1E6EBD}" sibTransId="{0B8F1801-0982-42E3-A48E-2933CFFC9A9B}"/>
    <dgm:cxn modelId="{5E0F5CCD-3A0B-4A93-9304-C0FC9FB2A86A}" srcId="{0E1274C4-6AB2-4050-8EB7-878185B39940}" destId="{829A33BF-8487-46A4-93FF-012EB0B5E763}" srcOrd="2" destOrd="0" parTransId="{B867E0E7-C54F-4F73-AD63-6FA8956CE596}" sibTransId="{4FB72C97-3A1C-4679-85A9-3DE2577B3B66}"/>
    <dgm:cxn modelId="{3F485FCE-2D20-45C7-BCC6-B600C60B377F}" type="presOf" srcId="{6A6F1DC9-1CFE-4294-B5E9-10131925C16A}" destId="{AFDD040D-9EAC-4A4A-A3BD-17F92B95D82B}" srcOrd="0" destOrd="0" presId="urn:microsoft.com/office/officeart/2005/8/layout/chevron1"/>
    <dgm:cxn modelId="{F90FA9D7-9F95-4B09-A548-440ABC29BDA8}" type="presOf" srcId="{0E1274C4-6AB2-4050-8EB7-878185B39940}" destId="{F164E4F2-4E7E-44EE-A966-36194AD65421}" srcOrd="0" destOrd="0" presId="urn:microsoft.com/office/officeart/2005/8/layout/chevron1"/>
    <dgm:cxn modelId="{31B8D1E5-F513-42A5-9E0D-BC6CC6293CD9}" type="presParOf" srcId="{F164E4F2-4E7E-44EE-A966-36194AD65421}" destId="{43380F6C-9609-418B-B39D-E79FB2FA3E0D}" srcOrd="0" destOrd="0" presId="urn:microsoft.com/office/officeart/2005/8/layout/chevron1"/>
    <dgm:cxn modelId="{E33969FB-7E20-4138-BCDC-023DD31E30E0}" type="presParOf" srcId="{F164E4F2-4E7E-44EE-A966-36194AD65421}" destId="{68F969C8-6091-44F3-BB6E-3664928214D6}" srcOrd="1" destOrd="0" presId="urn:microsoft.com/office/officeart/2005/8/layout/chevron1"/>
    <dgm:cxn modelId="{83CF1E8C-100B-494E-AFF3-80F405665FB3}" type="presParOf" srcId="{F164E4F2-4E7E-44EE-A966-36194AD65421}" destId="{AFDD040D-9EAC-4A4A-A3BD-17F92B95D82B}" srcOrd="2" destOrd="0" presId="urn:microsoft.com/office/officeart/2005/8/layout/chevron1"/>
    <dgm:cxn modelId="{287F1954-F0F3-471E-AD42-6A8D5A1E7AD4}" type="presParOf" srcId="{F164E4F2-4E7E-44EE-A966-36194AD65421}" destId="{2667D5BF-5686-47EB-BCF7-2FBCB1E681BE}" srcOrd="3" destOrd="0" presId="urn:microsoft.com/office/officeart/2005/8/layout/chevron1"/>
    <dgm:cxn modelId="{A1DAD765-DB9F-4940-899C-C34411E3C81C}" type="presParOf" srcId="{F164E4F2-4E7E-44EE-A966-36194AD65421}" destId="{1D6B17EE-88BD-4A51-884D-DC2B5C8202C0}" srcOrd="4" destOrd="0" presId="urn:microsoft.com/office/officeart/2005/8/layout/chevron1"/>
    <dgm:cxn modelId="{77F7639D-9025-4A34-886D-DD9BF43313D4}" type="presParOf" srcId="{F164E4F2-4E7E-44EE-A966-36194AD65421}" destId="{03688AE0-4CD6-41D1-84F5-F0294F0EB977}" srcOrd="5" destOrd="0" presId="urn:microsoft.com/office/officeart/2005/8/layout/chevron1"/>
    <dgm:cxn modelId="{C042DA8B-CD33-41DF-AF06-E5AAC75CD146}" type="presParOf" srcId="{F164E4F2-4E7E-44EE-A966-36194AD65421}" destId="{8A2B136F-6CDC-4D5A-B1FF-E636A56951F6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380F6C-9609-418B-B39D-E79FB2FA3E0D}">
      <dsp:nvSpPr>
        <dsp:cNvPr id="0" name=""/>
        <dsp:cNvSpPr/>
      </dsp:nvSpPr>
      <dsp:spPr>
        <a:xfrm>
          <a:off x="4041" y="1237429"/>
          <a:ext cx="2352671" cy="941068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0013" tIns="33338" rIns="33338" bIns="33338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noProof="0" dirty="0">
              <a:latin typeface="Candara" pitchFamily="34" charset="0"/>
            </a:rPr>
            <a:t>User requests</a:t>
          </a:r>
        </a:p>
      </dsp:txBody>
      <dsp:txXfrm>
        <a:off x="474575" y="1237429"/>
        <a:ext cx="1411603" cy="941068"/>
      </dsp:txXfrm>
    </dsp:sp>
    <dsp:sp modelId="{AFDD040D-9EAC-4A4A-A3BD-17F92B95D82B}">
      <dsp:nvSpPr>
        <dsp:cNvPr id="0" name=""/>
        <dsp:cNvSpPr/>
      </dsp:nvSpPr>
      <dsp:spPr>
        <a:xfrm>
          <a:off x="2121446" y="1237429"/>
          <a:ext cx="2352671" cy="941068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0013" tIns="33338" rIns="33338" bIns="33338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noProof="0" dirty="0">
              <a:latin typeface="Candara" pitchFamily="34" charset="0"/>
            </a:rPr>
            <a:t>ER model</a:t>
          </a:r>
        </a:p>
      </dsp:txBody>
      <dsp:txXfrm>
        <a:off x="2591980" y="1237429"/>
        <a:ext cx="1411603" cy="941068"/>
      </dsp:txXfrm>
    </dsp:sp>
    <dsp:sp modelId="{1D6B17EE-88BD-4A51-884D-DC2B5C8202C0}">
      <dsp:nvSpPr>
        <dsp:cNvPr id="0" name=""/>
        <dsp:cNvSpPr/>
      </dsp:nvSpPr>
      <dsp:spPr>
        <a:xfrm>
          <a:off x="4238850" y="1237429"/>
          <a:ext cx="2352671" cy="941068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0013" tIns="33338" rIns="33338" bIns="33338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noProof="0" dirty="0">
              <a:latin typeface="Candara" pitchFamily="34" charset="0"/>
            </a:rPr>
            <a:t>Relation model</a:t>
          </a:r>
        </a:p>
      </dsp:txBody>
      <dsp:txXfrm>
        <a:off x="4709384" y="1237429"/>
        <a:ext cx="1411603" cy="941068"/>
      </dsp:txXfrm>
    </dsp:sp>
    <dsp:sp modelId="{8A2B136F-6CDC-4D5A-B1FF-E636A56951F6}">
      <dsp:nvSpPr>
        <dsp:cNvPr id="0" name=""/>
        <dsp:cNvSpPr/>
      </dsp:nvSpPr>
      <dsp:spPr>
        <a:xfrm>
          <a:off x="6356254" y="1237429"/>
          <a:ext cx="2352671" cy="941068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0013" tIns="33338" rIns="33338" bIns="33338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noProof="0" dirty="0">
              <a:latin typeface="Candara" pitchFamily="34" charset="0"/>
            </a:rPr>
            <a:t>Database</a:t>
          </a:r>
        </a:p>
      </dsp:txBody>
      <dsp:txXfrm>
        <a:off x="6826788" y="1237429"/>
        <a:ext cx="1411603" cy="9410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81C21E-1610-F840-997A-88EB307E0A1C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DC0C92-97E4-9540-AC90-F1BBF9189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343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Ažurirati naziv kolegija.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DC0C92-97E4-9540-AC90-F1BBF91896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42535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r-HR" dirty="0"/>
              <a:t>Kako formalno predstaviti</a:t>
            </a:r>
            <a:r>
              <a:rPr lang="hr-HR" baseline="0" dirty="0"/>
              <a:t> odnose među entitetima?</a:t>
            </a:r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F397A02-10C3-4588-915E-908661025B64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147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r-HR" dirty="0"/>
              <a:t>Kako formalno predstaviti</a:t>
            </a:r>
            <a:r>
              <a:rPr lang="hr-HR" baseline="0" dirty="0"/>
              <a:t> odnose među entitetima?</a:t>
            </a:r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F397A02-10C3-4588-915E-908661025B64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6530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r-HR" dirty="0"/>
              <a:t>Entitet</a:t>
            </a:r>
            <a:r>
              <a:rPr lang="hr-HR" baseline="0" dirty="0"/>
              <a:t> Student ima atribut “država rođenja” koje ima vrijednost “Hrvatska”.</a:t>
            </a:r>
          </a:p>
          <a:p>
            <a:r>
              <a:rPr lang="hr-HR" baseline="0" dirty="0"/>
              <a:t>Što ako želimo u bazi uz državu vezati i pozivni broj, zastavu i himnu?</a:t>
            </a:r>
          </a:p>
          <a:p>
            <a:r>
              <a:rPr lang="hr-HR" baseline="0" dirty="0"/>
              <a:t>U tom slučaju Država postaje entitet, a “Rođen” postaje odnos entiteta Student i Država.</a:t>
            </a:r>
          </a:p>
          <a:p>
            <a:endParaRPr lang="hr-HR" dirty="0"/>
          </a:p>
          <a:p>
            <a:r>
              <a:rPr lang="hr-HR" dirty="0"/>
              <a:t>Dakle, atribut je</a:t>
            </a:r>
            <a:r>
              <a:rPr lang="hr-HR" baseline="0" dirty="0"/>
              <a:t> zamijenjen odnosom.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F397A02-10C3-4588-915E-908661025B64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077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r-HR" dirty="0"/>
              <a:t>Nacrtaj</a:t>
            </a:r>
            <a:r>
              <a:rPr lang="hr-HR" baseline="0" dirty="0"/>
              <a:t> skupove Država i Himna i prikaži vezu npr. Hrvatske i Lijepe Naše.</a:t>
            </a:r>
          </a:p>
          <a:p>
            <a:endParaRPr lang="hr-HR" baseline="0" dirty="0"/>
          </a:p>
          <a:p>
            <a:r>
              <a:rPr lang="hr-HR" baseline="0" dirty="0"/>
              <a:t>Drugi primjeri:</a:t>
            </a:r>
          </a:p>
          <a:p>
            <a:pPr>
              <a:buFontTx/>
              <a:buChar char="-"/>
            </a:pPr>
            <a:r>
              <a:rPr lang="hr-HR" baseline="0" dirty="0"/>
              <a:t> Odnos skupa “Muž” i skupa “Žena”.</a:t>
            </a:r>
          </a:p>
          <a:p>
            <a:pPr>
              <a:buFontTx/>
              <a:buChar char="-"/>
            </a:pPr>
            <a:r>
              <a:rPr lang="hr-HR" baseline="0" dirty="0"/>
              <a:t> Odnos između Janka i njegovog JMBG-a (možemo gledati to i kao odnos između skupa “Građani” i skupa “JMBG-ovi”).</a:t>
            </a:r>
          </a:p>
          <a:p>
            <a:pPr>
              <a:buFontTx/>
              <a:buNone/>
            </a:pP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F397A02-10C3-4588-915E-908661025B64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841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r-HR" dirty="0"/>
              <a:t>Nacrtaj</a:t>
            </a:r>
            <a:r>
              <a:rPr lang="hr-HR" baseline="0" dirty="0"/>
              <a:t> 1:N i N:1 skupove i pokaži veze.</a:t>
            </a:r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F397A02-10C3-4588-915E-908661025B64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6871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r-HR" dirty="0"/>
              <a:t>Nacrtaj</a:t>
            </a:r>
            <a:r>
              <a:rPr lang="hr-HR" baseline="0" dirty="0"/>
              <a:t> M:N i pokaži veze.</a:t>
            </a:r>
          </a:p>
          <a:p>
            <a:endParaRPr lang="hr-HR" baseline="0" dirty="0"/>
          </a:p>
          <a:p>
            <a:r>
              <a:rPr lang="hr-HR" baseline="0" dirty="0"/>
              <a:t>Nacrtaj 1:1 i N:1 skupove i pokaži zavisnost.</a:t>
            </a:r>
            <a:endParaRPr lang="hr-HR" dirty="0"/>
          </a:p>
          <a:p>
            <a:endParaRPr lang="hr-HR" dirty="0"/>
          </a:p>
          <a:p>
            <a:r>
              <a:rPr lang="hr-HR" dirty="0"/>
              <a:t>Primjer:</a:t>
            </a:r>
          </a:p>
          <a:p>
            <a:pPr>
              <a:buFontTx/>
              <a:buChar char="-"/>
            </a:pPr>
            <a:r>
              <a:rPr lang="hr-HR" baseline="0" dirty="0"/>
              <a:t> Odnos liječnika-specijaliste prema pacijentima.</a:t>
            </a:r>
          </a:p>
          <a:p>
            <a:pPr>
              <a:buFontTx/>
              <a:buChar char="-"/>
            </a:pPr>
            <a:r>
              <a:rPr lang="hr-HR" dirty="0"/>
              <a:t> Odnos radnika prema radnim zadacima.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F397A02-10C3-4588-915E-908661025B64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2983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F397A02-10C3-4588-915E-908661025B64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7635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F397A02-10C3-4588-915E-908661025B64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0175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r-HR" dirty="0"/>
              <a:t>Primjer iz prakse: u jednoj bazi prije 10 godina definirao sam na entitetu</a:t>
            </a:r>
            <a:r>
              <a:rPr lang="hr-HR" baseline="0" dirty="0"/>
              <a:t> Klijent </a:t>
            </a:r>
            <a:r>
              <a:rPr lang="hr-HR" dirty="0"/>
              <a:t>atribut “Mjesto prebivališta”.</a:t>
            </a:r>
            <a:r>
              <a:rPr lang="hr-HR" baseline="0" dirty="0"/>
              <a:t> Nakon par godina vrijednosti tog atributa su bile svakakve: “Zagreb”, “10000”, “10.000”, “ZG”, “Zgreb”, ...</a:t>
            </a:r>
          </a:p>
          <a:p>
            <a:r>
              <a:rPr lang="hr-HR" baseline="0" dirty="0"/>
              <a:t>Onda su me tražili izvještaj o broju klijenata prema prebivalištu.</a:t>
            </a:r>
          </a:p>
          <a:p>
            <a:r>
              <a:rPr lang="hr-HR" baseline="0" dirty="0"/>
              <a:t>Problem!</a:t>
            </a:r>
          </a:p>
          <a:p>
            <a:r>
              <a:rPr lang="hr-HR" baseline="0" dirty="0"/>
              <a:t>Sad kad pogledam, trebao sam uvesti entitet “Grad” i klijenta staviti u odnos “Prebiva” s entitetom “Grad”.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F397A02-10C3-4588-915E-908661025B64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0610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F397A02-10C3-4588-915E-908661025B64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2244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F397A02-10C3-4588-915E-908661025B64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5229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r-HR" dirty="0"/>
              <a:t>Napomeni da se kao neko pravilo može reći da su entiteti imenice, a odnosi glagoli.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F397A02-10C3-4588-915E-908661025B64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5295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r-HR" dirty="0"/>
              <a:t>1. Ispričati ukratko koji</a:t>
            </a:r>
            <a:r>
              <a:rPr lang="hr-HR" baseline="0" dirty="0"/>
              <a:t> poslovni proces modeliramo.</a:t>
            </a:r>
          </a:p>
          <a:p>
            <a:r>
              <a:rPr lang="hr-HR" dirty="0"/>
              <a:t>2. Definirati entitete i nacrtati ih na ploči.</a:t>
            </a:r>
          </a:p>
          <a:p>
            <a:r>
              <a:rPr lang="hr-HR" dirty="0"/>
              <a:t>3.</a:t>
            </a:r>
            <a:r>
              <a:rPr lang="hr-HR" baseline="0" dirty="0"/>
              <a:t> Definirati odnose i reći na koje entitete se odnose (nacrtati na ploči)</a:t>
            </a:r>
          </a:p>
          <a:p>
            <a:r>
              <a:rPr lang="hr-HR" baseline="0" dirty="0"/>
              <a:t>4. Ispričati postupak i započeti crtati dijagram entiteta (izmisliti atribute, odnosi nemaju atributa osim odnosa “Upisao” koji ima atribut “Datum upisa”).</a:t>
            </a:r>
          </a:p>
          <a:p>
            <a:endParaRPr lang="hr-HR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F397A02-10C3-4588-915E-908661025B64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9538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r-HR" dirty="0"/>
              <a:t>1. Ispričati ukratko koji</a:t>
            </a:r>
            <a:r>
              <a:rPr lang="hr-HR" baseline="0" dirty="0"/>
              <a:t> poslovni proces modeliramo.</a:t>
            </a:r>
          </a:p>
          <a:p>
            <a:r>
              <a:rPr lang="hr-HR" dirty="0"/>
              <a:t>2. Definirati entitete i nacrtati ih na ploči.</a:t>
            </a:r>
          </a:p>
          <a:p>
            <a:r>
              <a:rPr lang="hr-HR" dirty="0"/>
              <a:t>3.</a:t>
            </a:r>
            <a:r>
              <a:rPr lang="hr-HR" baseline="0" dirty="0"/>
              <a:t> Definirati odnose i reći na koje entitete se odnose (nacrtati na ploči)</a:t>
            </a:r>
          </a:p>
          <a:p>
            <a:r>
              <a:rPr lang="hr-HR" baseline="0" dirty="0"/>
              <a:t>4. Ispričati postupak i započeti crtati dijagram entiteta (izmisliti atribute, odnosi nemaju atributa osim odnosa “Upisao” koji ima atribut “Datum upisa”).</a:t>
            </a:r>
          </a:p>
          <a:p>
            <a:endParaRPr lang="hr-HR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F397A02-10C3-4588-915E-908661025B64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9733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r-HR" dirty="0"/>
              <a:t>Na tren pokazati sliku i maknuti je.</a:t>
            </a:r>
          </a:p>
          <a:p>
            <a:r>
              <a:rPr lang="hr-HR" dirty="0"/>
              <a:t>Crtati</a:t>
            </a:r>
            <a:r>
              <a:rPr lang="hr-HR" baseline="0" dirty="0"/>
              <a:t> je dio po dio.</a:t>
            </a:r>
          </a:p>
          <a:p>
            <a:r>
              <a:rPr lang="hr-HR" baseline="0" dirty="0"/>
              <a:t>Raspravljati posebno o vrsti odnosa među entitetima (1:1, 1:N, N:1, M:N).</a:t>
            </a:r>
          </a:p>
          <a:p>
            <a:endParaRPr lang="hr-HR" dirty="0"/>
          </a:p>
          <a:p>
            <a:r>
              <a:rPr lang="hr-HR" dirty="0"/>
              <a:t>Što ako bih trebao proširiti model na zahtjev klijenta:</a:t>
            </a:r>
          </a:p>
          <a:p>
            <a:pPr marL="228600" indent="-228600">
              <a:buAutoNum type="arabicPeriod"/>
            </a:pPr>
            <a:r>
              <a:rPr lang="hr-HR" baseline="0" dirty="0"/>
              <a:t>S entitetom fakulteta.</a:t>
            </a:r>
          </a:p>
          <a:p>
            <a:pPr marL="228600" indent="-228600">
              <a:buAutoNum type="arabicPeriod"/>
            </a:pPr>
            <a:r>
              <a:rPr lang="hr-HR" baseline="0" dirty="0"/>
              <a:t>S entitetom semestra za kolegij.</a:t>
            </a:r>
          </a:p>
          <a:p>
            <a:pPr marL="228600" indent="-228600">
              <a:buAutoNum type="arabicPeriod"/>
            </a:pPr>
            <a:endParaRPr lang="hr-HR" baseline="0" dirty="0"/>
          </a:p>
          <a:p>
            <a:pPr marL="228600" indent="-228600">
              <a:buNone/>
            </a:pPr>
            <a:r>
              <a:rPr lang="hr-HR" baseline="0" dirty="0"/>
              <a:t>Ispričati o uf-u kako je Kolegij uvijek pripadao jednom semestru, a onda su došli izborni koji su se mogli upisati u više semestara.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F397A02-10C3-4588-915E-908661025B64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6915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r-HR" dirty="0"/>
              <a:t>Nacrtaj skup</a:t>
            </a:r>
            <a:r>
              <a:rPr lang="hr-HR" baseline="0" dirty="0"/>
              <a:t> A i B.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F397A02-10C3-4588-915E-908661025B64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257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958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9653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0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1934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45422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57678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0912510-587E-0743-8BB6-FA03E27BCB0C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830844-789E-4246-80A3-6F7B92FC0B1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6255" y="1600199"/>
            <a:ext cx="5829301" cy="54864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6800" y="728663"/>
            <a:ext cx="6476999" cy="2014537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0912510-587E-0743-8BB6-FA03E27BCB0C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830844-789E-4246-80A3-6F7B92FC0B1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8718" y="3904457"/>
            <a:ext cx="6022181" cy="2014537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860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78571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364169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081119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955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Slika 3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38959"/>
            <a:ext cx="11931868" cy="619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150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0" r:id="rId7"/>
    <p:sldLayoutId id="2147483661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6323" y="932330"/>
            <a:ext cx="8475678" cy="1315920"/>
          </a:xfrm>
        </p:spPr>
        <p:txBody>
          <a:bodyPr>
            <a:noAutofit/>
          </a:bodyPr>
          <a:lstStyle/>
          <a:p>
            <a:pPr algn="r"/>
            <a:r>
              <a:rPr lang="hr-HR" sz="4000" dirty="0"/>
              <a:t>INTRODUCTION TO DATABASES</a:t>
            </a:r>
            <a:endParaRPr lang="en-US" sz="2400" b="0" dirty="0">
              <a:solidFill>
                <a:srgbClr val="C30E60"/>
              </a:solidFill>
            </a:endParaRPr>
          </a:p>
        </p:txBody>
      </p:sp>
      <p:sp>
        <p:nvSpPr>
          <p:cNvPr id="3" name="TekstniOkvir 2"/>
          <p:cNvSpPr txBox="1"/>
          <p:nvPr/>
        </p:nvSpPr>
        <p:spPr>
          <a:xfrm>
            <a:off x="7154806" y="2248250"/>
            <a:ext cx="5037194" cy="17784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4000" b="1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E83773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Lecture 2</a:t>
            </a:r>
          </a:p>
        </p:txBody>
      </p:sp>
    </p:spTree>
    <p:extLst>
      <p:ext uri="{BB962C8B-B14F-4D97-AF65-F5344CB8AC3E}">
        <p14:creationId xmlns:p14="http://schemas.microsoft.com/office/powerpoint/2010/main" val="2291897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52736"/>
          </a:xfrm>
        </p:spPr>
        <p:txBody>
          <a:bodyPr/>
          <a:lstStyle/>
          <a:p>
            <a:pPr algn="ctr"/>
            <a:r>
              <a:rPr lang="en-US" dirty="0"/>
              <a:t>Repetition</a:t>
            </a:r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71547"/>
            <a:ext cx="12192000" cy="5500725"/>
          </a:xfrm>
        </p:spPr>
        <p:txBody>
          <a:bodyPr>
            <a:normAutofit/>
          </a:bodyPr>
          <a:lstStyle/>
          <a:p>
            <a:pPr>
              <a:spcAft>
                <a:spcPts val="800"/>
              </a:spcAft>
            </a:pPr>
            <a:r>
              <a:rPr lang="en-US" sz="2800" b="1">
                <a:latin typeface="Arial" panose="020B0604020202020204" pitchFamily="34" charset="0"/>
                <a:cs typeface="Arial" panose="020B0604020202020204" pitchFamily="34" charset="0"/>
              </a:rPr>
              <a:t>Entity </a:t>
            </a: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is anything that the data could be collected of</a:t>
            </a:r>
          </a:p>
          <a:p>
            <a:pPr lvl="1"/>
            <a:r>
              <a:rPr lang="en-US" b="1"/>
              <a:t>Attribute</a:t>
            </a:r>
            <a:r>
              <a:rPr lang="en-US"/>
              <a:t> collection describes the entity</a:t>
            </a:r>
          </a:p>
          <a:p>
            <a:r>
              <a:rPr lang="en-US"/>
              <a:t>An </a:t>
            </a:r>
            <a:r>
              <a:rPr lang="en-US" b="1"/>
              <a:t>entity instance </a:t>
            </a:r>
            <a:r>
              <a:rPr lang="en-US"/>
              <a:t>is a specific object in the real world</a:t>
            </a:r>
          </a:p>
          <a:p>
            <a:pPr lvl="1"/>
            <a:r>
              <a:rPr lang="en-US"/>
              <a:t>Contains its attribute values</a:t>
            </a:r>
          </a:p>
          <a:p>
            <a:r>
              <a:rPr lang="en-US"/>
              <a:t>Entity &lt;=&gt; structure</a:t>
            </a:r>
          </a:p>
          <a:p>
            <a:r>
              <a:rPr lang="en-US"/>
              <a:t>Entity instance &lt;=&gt; object</a:t>
            </a:r>
          </a:p>
          <a:p>
            <a:r>
              <a:rPr lang="en-US"/>
              <a:t>Elementary information consists of an instance of an entity, an attribute, and its value</a:t>
            </a:r>
          </a:p>
          <a:p>
            <a:r>
              <a:rPr lang="en-US"/>
              <a:t>Data is recorded information</a:t>
            </a:r>
          </a:p>
          <a:p>
            <a:r>
              <a:rPr lang="en-US"/>
              <a:t>A database is a set of interconnected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 between the entities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967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/>
              <a:t>Relations between the entities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52736"/>
            <a:ext cx="12191999" cy="5400600"/>
          </a:xfrm>
        </p:spPr>
        <p:txBody>
          <a:bodyPr>
            <a:normAutofit/>
          </a:bodyPr>
          <a:lstStyle/>
          <a:p>
            <a:pPr>
              <a:spcAft>
                <a:spcPts val="1100"/>
              </a:spcAft>
            </a:pPr>
            <a:r>
              <a:rPr lang="en-US" dirty="0"/>
              <a:t>Entities can be in a certain relation with each other</a:t>
            </a:r>
          </a:p>
          <a:p>
            <a:pPr lvl="1">
              <a:spcAft>
                <a:spcPts val="1100"/>
              </a:spcAft>
            </a:pPr>
            <a:r>
              <a:rPr lang="en-US" dirty="0"/>
              <a:t>We name relations (Works, Belongs, Drives, Writes, ...)</a:t>
            </a:r>
          </a:p>
          <a:p>
            <a:pPr lvl="1">
              <a:spcAft>
                <a:spcPts val="1100"/>
              </a:spcAft>
            </a:pPr>
            <a:r>
              <a:rPr lang="en-US" dirty="0"/>
              <a:t>For example, "Student enrolled in a course“</a:t>
            </a:r>
          </a:p>
          <a:p>
            <a:pPr>
              <a:spcAft>
                <a:spcPts val="1100"/>
              </a:spcAft>
            </a:pPr>
            <a:r>
              <a:rPr lang="en-US" dirty="0"/>
              <a:t>A relation is established between two or more instances of an entity</a:t>
            </a:r>
          </a:p>
          <a:p>
            <a:pPr lvl="1">
              <a:spcAft>
                <a:spcPts val="1100"/>
              </a:spcAft>
            </a:pPr>
            <a:r>
              <a:rPr lang="en-US" dirty="0"/>
              <a:t>For example, “John Doe enrolled in </a:t>
            </a:r>
            <a:r>
              <a:rPr lang="en-US" dirty="0" err="1"/>
              <a:t>ItD</a:t>
            </a:r>
            <a:r>
              <a:rPr lang="en-US" dirty="0"/>
              <a:t>“</a:t>
            </a:r>
          </a:p>
          <a:p>
            <a:pPr>
              <a:spcAft>
                <a:spcPts val="1100"/>
              </a:spcAft>
            </a:pPr>
            <a:r>
              <a:rPr lang="en-US" dirty="0"/>
              <a:t>Each instance can have an unlimited number of relations with other instances of different entities</a:t>
            </a:r>
          </a:p>
          <a:p>
            <a:pPr lvl="1">
              <a:spcAft>
                <a:spcPts val="1100"/>
              </a:spcAft>
            </a:pPr>
            <a:r>
              <a:rPr lang="en-US" dirty="0"/>
              <a:t>For example, </a:t>
            </a:r>
            <a:br>
              <a:rPr lang="en-US" dirty="0"/>
            </a:br>
            <a:r>
              <a:rPr lang="en-US" dirty="0"/>
              <a:t>“A worker John loads truck“, “A worker Marko is employed by </a:t>
            </a:r>
            <a:r>
              <a:rPr lang="en-US" dirty="0" err="1"/>
              <a:t>BringItAndRun</a:t>
            </a:r>
            <a:r>
              <a:rPr lang="en-US" dirty="0"/>
              <a:t> </a:t>
            </a:r>
            <a:r>
              <a:rPr lang="en-US" dirty="0" err="1"/>
              <a:t>l.l.c.</a:t>
            </a:r>
            <a:r>
              <a:rPr lang="en-US" dirty="0"/>
              <a:t>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1998" cy="11967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/>
              <a:t>Relations between the entities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52736"/>
            <a:ext cx="12191999" cy="5328592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Relations between entities can be represented as a mappings set</a:t>
            </a:r>
          </a:p>
        </p:txBody>
      </p:sp>
      <p:sp>
        <p:nvSpPr>
          <p:cNvPr id="4" name="Oval 3"/>
          <p:cNvSpPr/>
          <p:nvPr/>
        </p:nvSpPr>
        <p:spPr bwMode="auto">
          <a:xfrm>
            <a:off x="2135560" y="2886304"/>
            <a:ext cx="2088232" cy="3096344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en-US" sz="2000" dirty="0">
              <a:latin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15580" y="2389530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ndara" pitchFamily="34" charset="0"/>
              </a:rPr>
              <a:t>Entity </a:t>
            </a:r>
            <a:r>
              <a:rPr lang="hr-HR" b="1" dirty="0">
                <a:latin typeface="Candara" pitchFamily="34" charset="0"/>
              </a:rPr>
              <a:t>Student</a:t>
            </a:r>
          </a:p>
        </p:txBody>
      </p:sp>
      <p:sp>
        <p:nvSpPr>
          <p:cNvPr id="6" name="Oval 5"/>
          <p:cNvSpPr/>
          <p:nvPr/>
        </p:nvSpPr>
        <p:spPr bwMode="auto">
          <a:xfrm>
            <a:off x="6168008" y="2911262"/>
            <a:ext cx="2088232" cy="3096344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hr-HR" sz="2000">
              <a:latin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48028" y="2414488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ndara" pitchFamily="34" charset="0"/>
              </a:rPr>
              <a:t>Entity Course</a:t>
            </a:r>
            <a:endParaRPr lang="hr-HR" b="1" dirty="0">
              <a:latin typeface="Candara" pitchFamily="34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3179675" y="3429000"/>
            <a:ext cx="144000" cy="14400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hr-HR" sz="2000">
              <a:latin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395981" y="3501000"/>
            <a:ext cx="1323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ndara" pitchFamily="34" charset="0"/>
              </a:rPr>
              <a:t>John </a:t>
            </a:r>
            <a:endParaRPr lang="hr-HR" dirty="0">
              <a:latin typeface="Candara" pitchFamily="34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3719736" y="4586994"/>
            <a:ext cx="144000" cy="14400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hr-HR" sz="2000">
              <a:latin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375178" y="4612726"/>
            <a:ext cx="1281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r-HR" dirty="0">
                <a:latin typeface="Candara" pitchFamily="34" charset="0"/>
              </a:rPr>
              <a:t>J</a:t>
            </a:r>
            <a:r>
              <a:rPr lang="en-US" dirty="0" err="1">
                <a:latin typeface="Candara" pitchFamily="34" charset="0"/>
              </a:rPr>
              <a:t>ames</a:t>
            </a:r>
            <a:endParaRPr lang="hr-HR" dirty="0">
              <a:latin typeface="Candara" pitchFamily="34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3107676" y="4001428"/>
            <a:ext cx="144000" cy="14400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hr-HR" sz="2000">
              <a:latin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41417" y="4119954"/>
            <a:ext cx="866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andara" pitchFamily="34" charset="0"/>
              </a:rPr>
              <a:t>Mary</a:t>
            </a:r>
            <a:endParaRPr lang="hr-HR" dirty="0">
              <a:latin typeface="Candara" pitchFamily="34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3338621" y="5085192"/>
            <a:ext cx="144000" cy="14400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hr-HR" sz="2000">
              <a:latin typeface="Arial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508386" y="5218516"/>
            <a:ext cx="98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ndara" pitchFamily="34" charset="0"/>
              </a:rPr>
              <a:t>Linda</a:t>
            </a:r>
            <a:endParaRPr lang="hr-HR" dirty="0">
              <a:latin typeface="Candara" pitchFamily="34" charset="0"/>
            </a:endParaRPr>
          </a:p>
        </p:txBody>
      </p:sp>
      <p:sp>
        <p:nvSpPr>
          <p:cNvPr id="16" name="Oval 15"/>
          <p:cNvSpPr/>
          <p:nvPr/>
        </p:nvSpPr>
        <p:spPr bwMode="auto">
          <a:xfrm>
            <a:off x="6720959" y="3353602"/>
            <a:ext cx="144000" cy="14400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hr-HR" sz="2000">
              <a:latin typeface="Arial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72065" y="3497602"/>
            <a:ext cx="855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ndara" pitchFamily="34" charset="0"/>
              </a:rPr>
              <a:t>Math</a:t>
            </a:r>
            <a:endParaRPr lang="hr-HR" dirty="0">
              <a:latin typeface="Candara" pitchFamily="34" charset="0"/>
            </a:endParaRPr>
          </a:p>
        </p:txBody>
      </p:sp>
      <p:sp>
        <p:nvSpPr>
          <p:cNvPr id="18" name="Oval 17"/>
          <p:cNvSpPr/>
          <p:nvPr/>
        </p:nvSpPr>
        <p:spPr bwMode="auto">
          <a:xfrm>
            <a:off x="6864610" y="4147868"/>
            <a:ext cx="144000" cy="14400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hr-HR" sz="2000">
              <a:latin typeface="Arial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784277" y="4274768"/>
            <a:ext cx="1381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ndara" pitchFamily="34" charset="0"/>
              </a:rPr>
              <a:t>Databases</a:t>
            </a:r>
            <a:endParaRPr lang="hr-HR" dirty="0">
              <a:latin typeface="Candara" pitchFamily="34" charset="0"/>
            </a:endParaRPr>
          </a:p>
        </p:txBody>
      </p:sp>
      <p:sp>
        <p:nvSpPr>
          <p:cNvPr id="20" name="Oval 19"/>
          <p:cNvSpPr/>
          <p:nvPr/>
        </p:nvSpPr>
        <p:spPr bwMode="auto">
          <a:xfrm>
            <a:off x="6720959" y="4941192"/>
            <a:ext cx="144000" cy="14400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hr-HR" sz="2000">
              <a:latin typeface="Arial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92960" y="5085192"/>
            <a:ext cx="1138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ndara" pitchFamily="34" charset="0"/>
              </a:rPr>
              <a:t>Physics</a:t>
            </a:r>
            <a:endParaRPr lang="hr-HR" dirty="0">
              <a:latin typeface="Candara" pitchFamily="34" charset="0"/>
            </a:endParaRPr>
          </a:p>
        </p:txBody>
      </p:sp>
      <p:cxnSp>
        <p:nvCxnSpPr>
          <p:cNvPr id="23" name="Straight Arrow Connector 22"/>
          <p:cNvCxnSpPr>
            <a:stCxn id="8" idx="5"/>
            <a:endCxn id="20" idx="2"/>
          </p:cNvCxnSpPr>
          <p:nvPr/>
        </p:nvCxnSpPr>
        <p:spPr bwMode="auto">
          <a:xfrm>
            <a:off x="3302587" y="3551912"/>
            <a:ext cx="3418372" cy="146128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5" name="Straight Arrow Connector 24"/>
          <p:cNvCxnSpPr>
            <a:stCxn id="8" idx="5"/>
            <a:endCxn id="18" idx="2"/>
          </p:cNvCxnSpPr>
          <p:nvPr/>
        </p:nvCxnSpPr>
        <p:spPr bwMode="auto">
          <a:xfrm>
            <a:off x="3302588" y="3551912"/>
            <a:ext cx="3562023" cy="66795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7" name="Straight Arrow Connector 26"/>
          <p:cNvCxnSpPr>
            <a:stCxn id="8" idx="5"/>
            <a:endCxn id="16" idx="2"/>
          </p:cNvCxnSpPr>
          <p:nvPr/>
        </p:nvCxnSpPr>
        <p:spPr bwMode="auto">
          <a:xfrm flipV="1">
            <a:off x="3302587" y="3425602"/>
            <a:ext cx="3418372" cy="1263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9" name="Straight Arrow Connector 28"/>
          <p:cNvCxnSpPr>
            <a:stCxn id="12" idx="6"/>
            <a:endCxn id="16" idx="2"/>
          </p:cNvCxnSpPr>
          <p:nvPr/>
        </p:nvCxnSpPr>
        <p:spPr bwMode="auto">
          <a:xfrm flipV="1">
            <a:off x="3251677" y="3425602"/>
            <a:ext cx="3469283" cy="64782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1" name="Straight Arrow Connector 30"/>
          <p:cNvCxnSpPr>
            <a:stCxn id="12" idx="6"/>
            <a:endCxn id="20" idx="2"/>
          </p:cNvCxnSpPr>
          <p:nvPr/>
        </p:nvCxnSpPr>
        <p:spPr bwMode="auto">
          <a:xfrm>
            <a:off x="3251677" y="4073428"/>
            <a:ext cx="3469283" cy="9397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3" name="Straight Arrow Connector 32"/>
          <p:cNvCxnSpPr>
            <a:stCxn id="10" idx="7"/>
            <a:endCxn id="20" idx="2"/>
          </p:cNvCxnSpPr>
          <p:nvPr/>
        </p:nvCxnSpPr>
        <p:spPr bwMode="auto">
          <a:xfrm>
            <a:off x="3842649" y="4608082"/>
            <a:ext cx="2878311" cy="4051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5" name="Straight Arrow Connector 34"/>
          <p:cNvCxnSpPr>
            <a:stCxn id="14" idx="6"/>
            <a:endCxn id="20" idx="2"/>
          </p:cNvCxnSpPr>
          <p:nvPr/>
        </p:nvCxnSpPr>
        <p:spPr bwMode="auto">
          <a:xfrm flipV="1">
            <a:off x="3482621" y="5013192"/>
            <a:ext cx="3238338" cy="1440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7" name="Straight Arrow Connector 36"/>
          <p:cNvCxnSpPr>
            <a:stCxn id="14" idx="6"/>
            <a:endCxn id="18" idx="2"/>
          </p:cNvCxnSpPr>
          <p:nvPr/>
        </p:nvCxnSpPr>
        <p:spPr bwMode="auto">
          <a:xfrm flipV="1">
            <a:off x="3482622" y="4219868"/>
            <a:ext cx="3381989" cy="93732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8" name="TextBox 37"/>
          <p:cNvSpPr txBox="1"/>
          <p:nvPr/>
        </p:nvSpPr>
        <p:spPr>
          <a:xfrm>
            <a:off x="4219502" y="2979612"/>
            <a:ext cx="2308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ndara" pitchFamily="34" charset="0"/>
              </a:rPr>
              <a:t>Relation “Enroll”</a:t>
            </a:r>
            <a:endParaRPr lang="hr-HR" b="1" dirty="0"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8074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11967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/>
              <a:t>Relation a</a:t>
            </a:r>
            <a:r>
              <a:rPr lang="hr-HR" dirty="0"/>
              <a:t>t</a:t>
            </a:r>
            <a:r>
              <a:rPr lang="en-US" dirty="0"/>
              <a:t>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81818"/>
            <a:ext cx="12192000" cy="502750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Entities contains attributes</a:t>
            </a:r>
          </a:p>
          <a:p>
            <a:pPr lvl="1"/>
            <a:r>
              <a:rPr lang="en-US" dirty="0"/>
              <a:t>A person contains attributes FirstName, </a:t>
            </a:r>
            <a:r>
              <a:rPr lang="en-US" dirty="0" err="1"/>
              <a:t>LastName</a:t>
            </a:r>
            <a:r>
              <a:rPr lang="en-US" dirty="0"/>
              <a:t>, SSN, </a:t>
            </a:r>
            <a:r>
              <a:rPr lang="en-US" dirty="0" err="1"/>
              <a:t>DateOfBirth</a:t>
            </a:r>
            <a:r>
              <a:rPr lang="en-US" dirty="0"/>
              <a:t>,...</a:t>
            </a:r>
          </a:p>
          <a:p>
            <a:r>
              <a:rPr lang="en-US" dirty="0"/>
              <a:t>Relations between entities may contain attributes too</a:t>
            </a:r>
          </a:p>
          <a:p>
            <a:pPr lvl="1"/>
            <a:r>
              <a:rPr lang="en-US" dirty="0"/>
              <a:t>Relation </a:t>
            </a:r>
            <a:r>
              <a:rPr lang="en-US" b="1" dirty="0"/>
              <a:t>Enroll</a:t>
            </a:r>
            <a:r>
              <a:rPr lang="en-US" dirty="0"/>
              <a:t> between entities </a:t>
            </a:r>
            <a:r>
              <a:rPr lang="en-US" b="1" dirty="0"/>
              <a:t>Student </a:t>
            </a:r>
            <a:r>
              <a:rPr lang="en-US" dirty="0"/>
              <a:t>and </a:t>
            </a:r>
            <a:r>
              <a:rPr lang="en-US" b="1" dirty="0"/>
              <a:t>Course </a:t>
            </a:r>
            <a:r>
              <a:rPr lang="en-US" dirty="0"/>
              <a:t>has an attribute </a:t>
            </a:r>
            <a:r>
              <a:rPr lang="en-US" b="1" dirty="0" err="1"/>
              <a:t>DateOfEnrollment</a:t>
            </a:r>
            <a:endParaRPr lang="en-US" b="1" dirty="0"/>
          </a:p>
          <a:p>
            <a:pPr lvl="1"/>
            <a:r>
              <a:rPr lang="en-US" dirty="0"/>
              <a:t>Relation </a:t>
            </a:r>
            <a:r>
              <a:rPr lang="en-US" b="1" dirty="0"/>
              <a:t>Worked </a:t>
            </a:r>
            <a:r>
              <a:rPr lang="en-US" dirty="0"/>
              <a:t>between entities </a:t>
            </a:r>
            <a:r>
              <a:rPr lang="en-US" b="1" dirty="0"/>
              <a:t>Worker </a:t>
            </a:r>
            <a:r>
              <a:rPr lang="en-US" dirty="0"/>
              <a:t>and </a:t>
            </a:r>
            <a:r>
              <a:rPr lang="en-US" b="1" dirty="0"/>
              <a:t>Task</a:t>
            </a:r>
            <a:r>
              <a:rPr lang="en-US" dirty="0"/>
              <a:t> has an attribute </a:t>
            </a:r>
            <a:r>
              <a:rPr lang="en-US" b="1" dirty="0" err="1"/>
              <a:t>NumberOfWorkingHurs</a:t>
            </a:r>
            <a:endParaRPr lang="en-US" b="1" dirty="0"/>
          </a:p>
          <a:p>
            <a:r>
              <a:rPr lang="en-US" dirty="0"/>
              <a:t>Confusing: relations are also entities</a:t>
            </a:r>
          </a:p>
          <a:p>
            <a:r>
              <a:rPr lang="en-US" dirty="0"/>
              <a:t>It is up to us to decide which entities remain entities, which we will consider as relations (semantic relativism)</a:t>
            </a:r>
          </a:p>
          <a:p>
            <a:r>
              <a:rPr lang="en-US" dirty="0"/>
              <a:t>Example: </a:t>
            </a:r>
            <a:br>
              <a:rPr lang="en-US" dirty="0"/>
            </a:br>
            <a:r>
              <a:rPr lang="en-US" dirty="0"/>
              <a:t>Entity </a:t>
            </a:r>
            <a:r>
              <a:rPr lang="en-US" b="1" dirty="0"/>
              <a:t>Student </a:t>
            </a:r>
            <a:r>
              <a:rPr lang="en-US" dirty="0"/>
              <a:t>has the attribute </a:t>
            </a:r>
            <a:r>
              <a:rPr lang="en-US" b="1" dirty="0" err="1"/>
              <a:t>CountryOfBirth</a:t>
            </a:r>
            <a:r>
              <a:rPr lang="en-US" b="1" dirty="0"/>
              <a:t> </a:t>
            </a:r>
            <a:r>
              <a:rPr lang="en-US" dirty="0"/>
              <a:t>which has the value </a:t>
            </a:r>
            <a:r>
              <a:rPr lang="en-US" b="1" dirty="0"/>
              <a:t>Croatia</a:t>
            </a:r>
          </a:p>
          <a:p>
            <a:r>
              <a:rPr lang="en-US" dirty="0"/>
              <a:t>What if we want to link the area code, flag, and anthem to the state in the database?</a:t>
            </a:r>
          </a:p>
          <a:p>
            <a:r>
              <a:rPr lang="en-US" dirty="0"/>
              <a:t>The </a:t>
            </a:r>
            <a:r>
              <a:rPr lang="en-US" b="1" dirty="0"/>
              <a:t>State </a:t>
            </a:r>
            <a:r>
              <a:rPr lang="en-US" dirty="0"/>
              <a:t>becomes an entity, and the </a:t>
            </a:r>
            <a:r>
              <a:rPr lang="en-US" b="1" dirty="0"/>
              <a:t>Born </a:t>
            </a:r>
            <a:r>
              <a:rPr lang="en-US" dirty="0"/>
              <a:t>becomes the relation</a:t>
            </a:r>
            <a:r>
              <a:rPr lang="hr-HR" dirty="0"/>
              <a:t> </a:t>
            </a:r>
            <a:r>
              <a:rPr lang="en-US" dirty="0"/>
              <a:t>between the </a:t>
            </a:r>
            <a:r>
              <a:rPr lang="en-US" b="1" dirty="0"/>
              <a:t>Student </a:t>
            </a:r>
            <a:r>
              <a:rPr lang="en-US" dirty="0"/>
              <a:t>and the </a:t>
            </a:r>
            <a:r>
              <a:rPr lang="en-US" b="1" dirty="0"/>
              <a:t>State </a:t>
            </a:r>
            <a:r>
              <a:rPr lang="en-US" dirty="0"/>
              <a:t>entities</a:t>
            </a:r>
          </a:p>
          <a:p>
            <a:r>
              <a:rPr lang="en-US" dirty="0"/>
              <a:t>The attribute has been replaced by a relation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11967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/>
              <a:t>Relation classification (1/3)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27592"/>
            <a:ext cx="12191999" cy="486570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We can classify relations between entities in various ways</a:t>
            </a:r>
          </a:p>
          <a:p>
            <a:r>
              <a:rPr lang="en-US" dirty="0"/>
              <a:t>Of particular importance is the classification according to the number of instances of entities that can participate in the </a:t>
            </a:r>
            <a:r>
              <a:rPr lang="en-US" dirty="0" err="1"/>
              <a:t>relatio</a:t>
            </a:r>
            <a:r>
              <a:rPr lang="hr-HR" dirty="0"/>
              <a:t>n</a:t>
            </a:r>
            <a:r>
              <a:rPr lang="en-US" dirty="0"/>
              <a:t>:</a:t>
            </a:r>
          </a:p>
          <a:p>
            <a:endParaRPr lang="en-US" b="1" dirty="0"/>
          </a:p>
          <a:p>
            <a:r>
              <a:rPr lang="en-US" dirty="0"/>
              <a:t>Relation </a:t>
            </a:r>
            <a:r>
              <a:rPr lang="en-US" b="1" dirty="0"/>
              <a:t>One-to-one (1: 1)</a:t>
            </a:r>
          </a:p>
          <a:p>
            <a:pPr lvl="1"/>
            <a:r>
              <a:rPr lang="en-US" dirty="0"/>
              <a:t>One instance from the first set can be mapped to a maximum of one instance from the second set</a:t>
            </a:r>
          </a:p>
          <a:p>
            <a:pPr lvl="1"/>
            <a:r>
              <a:rPr lang="en-US" dirty="0"/>
              <a:t>The reverse is also true</a:t>
            </a:r>
          </a:p>
          <a:p>
            <a:pPr lvl="1"/>
            <a:r>
              <a:rPr lang="en-US" dirty="0"/>
              <a:t>Examples: </a:t>
            </a:r>
          </a:p>
          <a:p>
            <a:pPr lvl="2"/>
            <a:r>
              <a:rPr lang="en-US" dirty="0"/>
              <a:t>Relation </a:t>
            </a:r>
            <a:r>
              <a:rPr lang="en-US" b="1" dirty="0"/>
              <a:t>Belonging </a:t>
            </a:r>
            <a:r>
              <a:rPr lang="en-US" dirty="0"/>
              <a:t>between the entities of the </a:t>
            </a:r>
            <a:r>
              <a:rPr lang="en-US" b="1" dirty="0"/>
              <a:t>State </a:t>
            </a:r>
            <a:r>
              <a:rPr lang="en-US" dirty="0"/>
              <a:t>and the </a:t>
            </a:r>
            <a:r>
              <a:rPr lang="en-US" b="1" dirty="0"/>
              <a:t>Anthem</a:t>
            </a:r>
          </a:p>
          <a:p>
            <a:pPr lvl="2"/>
            <a:r>
              <a:rPr lang="en-US" dirty="0"/>
              <a:t>Relation </a:t>
            </a:r>
            <a:r>
              <a:rPr lang="en-US" b="1" dirty="0"/>
              <a:t>Marriage </a:t>
            </a:r>
            <a:r>
              <a:rPr lang="en-US" dirty="0"/>
              <a:t>between </a:t>
            </a:r>
            <a:r>
              <a:rPr lang="en-US" b="1" dirty="0"/>
              <a:t>Husband </a:t>
            </a:r>
            <a:r>
              <a:rPr lang="en-US" dirty="0"/>
              <a:t>and </a:t>
            </a:r>
            <a:r>
              <a:rPr lang="en-US" b="1" dirty="0"/>
              <a:t>Wife </a:t>
            </a:r>
          </a:p>
          <a:p>
            <a:pPr lvl="2"/>
            <a:r>
              <a:rPr lang="en-US" dirty="0"/>
              <a:t>Relation between John and his SSN (we can also see this as the relation between the Citizens and the SSN)</a:t>
            </a:r>
            <a:endParaRPr lang="en-US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11967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/>
              <a:t>Relation classification (2/3)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52040"/>
            <a:ext cx="12192000" cy="5429288"/>
          </a:xfrm>
        </p:spPr>
        <p:txBody>
          <a:bodyPr/>
          <a:lstStyle/>
          <a:p>
            <a:pPr lvl="1"/>
            <a:endParaRPr lang="en-US" b="1" dirty="0"/>
          </a:p>
          <a:p>
            <a:r>
              <a:rPr lang="en-US" dirty="0"/>
              <a:t>Relation </a:t>
            </a:r>
            <a:r>
              <a:rPr lang="en-US" b="1" dirty="0"/>
              <a:t>One-to-many (1: N)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One instance from the first set can be mapped to any number of instances from the second set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The reverse is not true: one instance from the second set can be mapped to a maximum of one instance from the first set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For example: </a:t>
            </a:r>
          </a:p>
          <a:p>
            <a:pPr lvl="2"/>
            <a:r>
              <a:rPr lang="en-US" dirty="0"/>
              <a:t>Relation </a:t>
            </a:r>
            <a:r>
              <a:rPr lang="en-US" b="1" dirty="0"/>
              <a:t>Belongs</a:t>
            </a:r>
            <a:r>
              <a:rPr lang="en-US" dirty="0"/>
              <a:t> between the entities </a:t>
            </a:r>
            <a:r>
              <a:rPr lang="en-US" b="1" dirty="0"/>
              <a:t>State </a:t>
            </a:r>
            <a:r>
              <a:rPr lang="en-US" dirty="0"/>
              <a:t>and </a:t>
            </a:r>
            <a:r>
              <a:rPr lang="en-US" b="1" dirty="0"/>
              <a:t>City</a:t>
            </a:r>
          </a:p>
          <a:p>
            <a:pPr lvl="2"/>
            <a:r>
              <a:rPr lang="en-US" dirty="0"/>
              <a:t>Relation </a:t>
            </a:r>
            <a:r>
              <a:rPr lang="en-US" b="1" dirty="0"/>
              <a:t>Lecturer </a:t>
            </a:r>
            <a:r>
              <a:rPr lang="en-US" dirty="0"/>
              <a:t>between the entities </a:t>
            </a:r>
            <a:r>
              <a:rPr lang="en-US" b="1" dirty="0" err="1"/>
              <a:t>MainTeacher</a:t>
            </a:r>
            <a:r>
              <a:rPr lang="en-US" dirty="0"/>
              <a:t> and </a:t>
            </a:r>
            <a:r>
              <a:rPr lang="en-US" b="1" dirty="0"/>
              <a:t>Course </a:t>
            </a:r>
          </a:p>
          <a:p>
            <a:pPr lvl="2"/>
            <a:r>
              <a:rPr lang="en-US" dirty="0"/>
              <a:t>Relation </a:t>
            </a:r>
            <a:r>
              <a:rPr lang="en-US" b="1" dirty="0"/>
              <a:t>Belongs </a:t>
            </a:r>
            <a:r>
              <a:rPr lang="en-US" dirty="0"/>
              <a:t>between the entities </a:t>
            </a:r>
            <a:r>
              <a:rPr lang="en-US" b="1" dirty="0"/>
              <a:t>Invoice </a:t>
            </a:r>
            <a:r>
              <a:rPr lang="en-US" dirty="0"/>
              <a:t>and </a:t>
            </a:r>
            <a:r>
              <a:rPr lang="en-US" b="1" dirty="0" err="1"/>
              <a:t>InvoiceItem</a:t>
            </a:r>
            <a:endParaRPr lang="en-US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11967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/>
              <a:t>Relation classification (3/3)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71547"/>
            <a:ext cx="12191999" cy="5286411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Relation </a:t>
            </a:r>
            <a:r>
              <a:rPr lang="en-US" b="1" dirty="0"/>
              <a:t>Many-to-many (M: N)</a:t>
            </a:r>
          </a:p>
          <a:p>
            <a:endParaRPr lang="en-US" dirty="0"/>
          </a:p>
          <a:p>
            <a:pPr lvl="1"/>
            <a:r>
              <a:rPr lang="en-US" dirty="0"/>
              <a:t>One instance from the first set can be mapped to any number of instances from the second set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The reverse is also true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For example:</a:t>
            </a:r>
          </a:p>
          <a:p>
            <a:pPr lvl="2"/>
            <a:r>
              <a:rPr lang="en-US" dirty="0"/>
              <a:t>Relation </a:t>
            </a:r>
            <a:r>
              <a:rPr lang="en-US" b="1" dirty="0"/>
              <a:t>Enrolled </a:t>
            </a:r>
            <a:r>
              <a:rPr lang="en-US" dirty="0"/>
              <a:t>between </a:t>
            </a:r>
            <a:r>
              <a:rPr lang="en-US" b="1" dirty="0"/>
              <a:t>Student </a:t>
            </a:r>
            <a:r>
              <a:rPr lang="en-US" dirty="0"/>
              <a:t>and </a:t>
            </a:r>
            <a:r>
              <a:rPr lang="en-US" b="1" dirty="0"/>
              <a:t>Course</a:t>
            </a:r>
          </a:p>
          <a:p>
            <a:pPr lvl="2"/>
            <a:r>
              <a:rPr lang="en-US" dirty="0"/>
              <a:t>Relations 1: 1, N: 1 and 1: N are special cases of the M: N relation</a:t>
            </a:r>
          </a:p>
          <a:p>
            <a:pPr lvl="2"/>
            <a:r>
              <a:rPr lang="en-US" dirty="0"/>
              <a:t>Examples: The attitude of specialist doctors towards patients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11967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/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1"/>
            <a:ext cx="12192000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What is the relation of “Musician performing a song”?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is the relation of "Member borrowed a DVD"?</a:t>
            </a:r>
          </a:p>
        </p:txBody>
      </p:sp>
    </p:spTree>
    <p:extLst>
      <p:ext uri="{BB962C8B-B14F-4D97-AF65-F5344CB8AC3E}">
        <p14:creationId xmlns:p14="http://schemas.microsoft.com/office/powerpoint/2010/main" val="4039406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11967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/>
              <a:t>Key attributes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24744"/>
            <a:ext cx="12191999" cy="5400600"/>
          </a:xfrm>
        </p:spPr>
        <p:txBody>
          <a:bodyPr>
            <a:normAutofit fontScale="77500" lnSpcReduction="20000"/>
          </a:bodyPr>
          <a:lstStyle/>
          <a:p>
            <a:pPr>
              <a:spcAft>
                <a:spcPts val="900"/>
              </a:spcAft>
            </a:pPr>
            <a:r>
              <a:rPr lang="en-US" dirty="0"/>
              <a:t>How to distinguish two instances within an entity?</a:t>
            </a:r>
          </a:p>
          <a:p>
            <a:pPr>
              <a:spcAft>
                <a:spcPts val="900"/>
              </a:spcAft>
            </a:pPr>
            <a:r>
              <a:rPr lang="en-US" dirty="0"/>
              <a:t>The values of one or more attributes uniquely determine the entity instance - key attribute(s)</a:t>
            </a:r>
          </a:p>
          <a:p>
            <a:pPr lvl="1">
              <a:spcAft>
                <a:spcPts val="900"/>
              </a:spcAft>
            </a:pPr>
            <a:r>
              <a:rPr lang="en-US" dirty="0"/>
              <a:t>Entity </a:t>
            </a:r>
            <a:r>
              <a:rPr lang="en-US" b="1" dirty="0"/>
              <a:t>Account </a:t>
            </a:r>
            <a:r>
              <a:rPr lang="en-US" dirty="0"/>
              <a:t>has the </a:t>
            </a:r>
            <a:r>
              <a:rPr lang="en-US" b="1" dirty="0" err="1"/>
              <a:t>KeyAccountNumber</a:t>
            </a:r>
            <a:r>
              <a:rPr lang="en-US" dirty="0"/>
              <a:t> attribute</a:t>
            </a:r>
          </a:p>
          <a:p>
            <a:pPr lvl="1">
              <a:spcAft>
                <a:spcPts val="900"/>
              </a:spcAft>
            </a:pPr>
            <a:r>
              <a:rPr lang="en-US" dirty="0"/>
              <a:t>Entity </a:t>
            </a:r>
            <a:r>
              <a:rPr lang="en-US" b="1" dirty="0"/>
              <a:t>Diagnosis </a:t>
            </a:r>
            <a:r>
              <a:rPr lang="en-US" dirty="0"/>
              <a:t>has the key attribute consisting of </a:t>
            </a:r>
            <a:r>
              <a:rPr lang="en-US" dirty="0" err="1"/>
              <a:t>DoctorSSN</a:t>
            </a:r>
            <a:r>
              <a:rPr lang="en-US" dirty="0"/>
              <a:t> and </a:t>
            </a:r>
            <a:r>
              <a:rPr lang="en-US" dirty="0" err="1"/>
              <a:t>PatientSSN</a:t>
            </a:r>
            <a:endParaRPr lang="en-US" dirty="0"/>
          </a:p>
          <a:p>
            <a:pPr>
              <a:spcAft>
                <a:spcPts val="900"/>
              </a:spcAft>
            </a:pPr>
            <a:endParaRPr lang="en-US" dirty="0"/>
          </a:p>
          <a:p>
            <a:pPr>
              <a:spcAft>
                <a:spcPts val="900"/>
              </a:spcAft>
            </a:pPr>
            <a:r>
              <a:rPr lang="en-US" dirty="0"/>
              <a:t>Each entity can have multiple attributes that make unique value</a:t>
            </a:r>
          </a:p>
          <a:p>
            <a:pPr lvl="1">
              <a:spcAft>
                <a:spcPts val="900"/>
              </a:spcAft>
            </a:pPr>
            <a:r>
              <a:rPr lang="en-US" dirty="0"/>
              <a:t>Entity Person has SSN, Fingerprint, DNA code,…</a:t>
            </a:r>
          </a:p>
          <a:p>
            <a:pPr lvl="1">
              <a:spcAft>
                <a:spcPts val="900"/>
              </a:spcAft>
            </a:pPr>
            <a:r>
              <a:rPr lang="en-US" dirty="0"/>
              <a:t>Do the combination of the attributes Name, Surname, Father's name, Mother's name, Date of birth and Place of birth make the key attributes?</a:t>
            </a:r>
          </a:p>
          <a:p>
            <a:pPr>
              <a:spcAft>
                <a:spcPts val="900"/>
              </a:spcAft>
            </a:pPr>
            <a:endParaRPr lang="en-US" dirty="0"/>
          </a:p>
          <a:p>
            <a:pPr>
              <a:spcAft>
                <a:spcPts val="900"/>
              </a:spcAft>
            </a:pPr>
            <a:r>
              <a:rPr lang="en-US" dirty="0"/>
              <a:t>For each entity, we must select one or more key attributes in order to distinguish its instances</a:t>
            </a:r>
          </a:p>
          <a:p>
            <a:pPr lvl="1">
              <a:spcAft>
                <a:spcPts val="900"/>
              </a:spcAft>
            </a:pPr>
            <a:r>
              <a:rPr lang="en-US" dirty="0"/>
              <a:t>Preferably, the values of the key attribute do not change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11967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/>
              <a:t>Key attributes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24744"/>
            <a:ext cx="12191999" cy="5499586"/>
          </a:xfrm>
        </p:spPr>
        <p:txBody>
          <a:bodyPr>
            <a:normAutofit/>
          </a:bodyPr>
          <a:lstStyle/>
          <a:p>
            <a:r>
              <a:rPr lang="en-US" dirty="0"/>
              <a:t>Choosing a key attribute is often not trivial</a:t>
            </a:r>
          </a:p>
          <a:p>
            <a:r>
              <a:rPr lang="en-US" dirty="0"/>
              <a:t>What is the key attribute for the entity Person, if we also consider persons who are from different countries? SSN is not a candidate</a:t>
            </a:r>
          </a:p>
          <a:p>
            <a:r>
              <a:rPr lang="en-US" dirty="0"/>
              <a:t>What is the key attribute for the </a:t>
            </a:r>
            <a:r>
              <a:rPr lang="en-US"/>
              <a:t>InvoiceItem</a:t>
            </a:r>
            <a:r>
              <a:rPr lang="en-US" dirty="0"/>
              <a:t> entity?</a:t>
            </a:r>
          </a:p>
          <a:p>
            <a:r>
              <a:rPr lang="en-US" dirty="0"/>
              <a:t>What is the key attribute for the Vehicle entity?</a:t>
            </a:r>
          </a:p>
          <a:p>
            <a:endParaRPr lang="en-US" dirty="0"/>
          </a:p>
          <a:p>
            <a:r>
              <a:rPr lang="en-US" dirty="0"/>
              <a:t>Best practice is to assign a surrogate attribute to each entity</a:t>
            </a:r>
          </a:p>
          <a:p>
            <a:pPr lvl="1"/>
            <a:r>
              <a:rPr lang="en-US" dirty="0"/>
              <a:t>A surrogate attribute does not exist in the real world but has its meaning only in the context of a database</a:t>
            </a:r>
          </a:p>
          <a:p>
            <a:r>
              <a:rPr lang="en-US" dirty="0"/>
              <a:t>The surrogate attribute will be denoted by </a:t>
            </a:r>
            <a:r>
              <a:rPr lang="en-US" dirty="0" err="1"/>
              <a:t>EntityName</a:t>
            </a:r>
            <a:endParaRPr lang="en-US" dirty="0"/>
          </a:p>
          <a:p>
            <a:pPr lvl="1"/>
            <a:r>
              <a:rPr lang="en-US" dirty="0"/>
              <a:t>For example, for the Vehicle entity, we will have the </a:t>
            </a:r>
            <a:r>
              <a:rPr lang="en-US" dirty="0" err="1"/>
              <a:t>IDVehicle</a:t>
            </a:r>
            <a:r>
              <a:rPr lang="en-US" dirty="0"/>
              <a:t> attribute</a:t>
            </a:r>
            <a:endParaRPr lang="en-US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ER MODEL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12687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/>
              <a:t>Modelling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1"/>
            <a:ext cx="12192000" cy="4525963"/>
          </a:xfrm>
        </p:spPr>
        <p:txBody>
          <a:bodyPr>
            <a:normAutofit/>
          </a:bodyPr>
          <a:lstStyle/>
          <a:p>
            <a:r>
              <a:rPr lang="en-US"/>
              <a:t>The fundamental question: how to get a database from user requests?</a:t>
            </a:r>
          </a:p>
          <a:p>
            <a:endParaRPr lang="en-US"/>
          </a:p>
          <a:p>
            <a:r>
              <a:rPr lang="en-US"/>
              <a:t>Equivalent to the question of how to design a relational database schema</a:t>
            </a:r>
          </a:p>
          <a:p>
            <a:pPr lvl="1"/>
            <a:r>
              <a:rPr lang="en-US"/>
              <a:t>We will learn relational schemes later</a:t>
            </a:r>
          </a:p>
          <a:p>
            <a:endParaRPr lang="en-US"/>
          </a:p>
          <a:p>
            <a:r>
              <a:rPr lang="en-US"/>
              <a:t>Design process:</a:t>
            </a:r>
          </a:p>
          <a:p>
            <a:pPr lvl="1"/>
            <a:r>
              <a:rPr lang="en-US"/>
              <a:t>For the most part, it is not formally defined</a:t>
            </a:r>
          </a:p>
          <a:p>
            <a:pPr lvl="1"/>
            <a:r>
              <a:rPr lang="en-US"/>
              <a:t>It is subjective and requires creativity</a:t>
            </a:r>
          </a:p>
          <a:p>
            <a:pPr lvl="1"/>
            <a:r>
              <a:rPr lang="en-US"/>
              <a:t>It gets easier with experience</a:t>
            </a:r>
          </a:p>
          <a:p>
            <a:pPr lvl="1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12687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/>
              <a:t>Forming entities and relations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96752"/>
            <a:ext cx="12192000" cy="4740499"/>
          </a:xfrm>
        </p:spPr>
        <p:txBody>
          <a:bodyPr/>
          <a:lstStyle/>
          <a:p>
            <a:r>
              <a:rPr lang="en-US" dirty="0"/>
              <a:t>A very useful method is called "Entity-Relationship Modeling"</a:t>
            </a:r>
          </a:p>
          <a:p>
            <a:r>
              <a:rPr lang="en-US" dirty="0"/>
              <a:t>Other names: ER design or ER model making</a:t>
            </a:r>
          </a:p>
          <a:p>
            <a:endParaRPr lang="en-US" dirty="0"/>
          </a:p>
          <a:p>
            <a:r>
              <a:rPr lang="en-US" dirty="0"/>
              <a:t>The result of ER design is an ER model represented by one or more ER diagrams</a:t>
            </a:r>
          </a:p>
        </p:txBody>
      </p:sp>
      <p:graphicFrame>
        <p:nvGraphicFramePr>
          <p:cNvPr id="12" name="Diagram 11"/>
          <p:cNvGraphicFramePr/>
          <p:nvPr>
            <p:extLst>
              <p:ext uri="{D42A27DB-BD31-4B8C-83A1-F6EECF244321}">
                <p14:modId xmlns:p14="http://schemas.microsoft.com/office/powerpoint/2010/main" val="1763044484"/>
              </p:ext>
            </p:extLst>
          </p:nvPr>
        </p:nvGraphicFramePr>
        <p:xfrm>
          <a:off x="1775520" y="2996952"/>
          <a:ext cx="8712968" cy="34159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12687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/>
              <a:t>ER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71547"/>
            <a:ext cx="12191999" cy="5429287"/>
          </a:xfrm>
        </p:spPr>
        <p:txBody>
          <a:bodyPr>
            <a:normAutofit/>
          </a:bodyPr>
          <a:lstStyle/>
          <a:p>
            <a:r>
              <a:rPr lang="en-US" dirty="0"/>
              <a:t>The ER model is an abstraction of the real world</a:t>
            </a:r>
          </a:p>
          <a:p>
            <a:r>
              <a:rPr lang="en-US" dirty="0"/>
              <a:t>The ER model represents the intermediate step between user requests and the database (i.e. relation schema or relation</a:t>
            </a:r>
            <a:r>
              <a:rPr lang="hr-HR" dirty="0" err="1"/>
              <a:t>ship</a:t>
            </a:r>
            <a:r>
              <a:rPr lang="en-US" dirty="0"/>
              <a:t> model)</a:t>
            </a:r>
          </a:p>
          <a:p>
            <a:r>
              <a:rPr lang="en-US" dirty="0"/>
              <a:t>The ER model is much more precise than user requirements but less accurate than the relationship model</a:t>
            </a:r>
          </a:p>
          <a:p>
            <a:endParaRPr lang="en-US" dirty="0"/>
          </a:p>
          <a:p>
            <a:r>
              <a:rPr lang="en-US" dirty="0"/>
              <a:t>An issue:</a:t>
            </a:r>
          </a:p>
          <a:p>
            <a:pPr lvl="1"/>
            <a:r>
              <a:rPr lang="en-US" dirty="0"/>
              <a:t>There are well-defined ways to transform an ER model into a relationship model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There are no well-defined ways to transform user requirements into an ER model</a:t>
            </a:r>
          </a:p>
          <a:p>
            <a:r>
              <a:rPr lang="en-US" dirty="0"/>
              <a:t>Most of the work is to make a good ER model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12687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/>
              <a:t>ER diagram elements (1/3)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68760"/>
            <a:ext cx="12192000" cy="5112568"/>
          </a:xfrm>
        </p:spPr>
        <p:txBody>
          <a:bodyPr>
            <a:normAutofit/>
          </a:bodyPr>
          <a:lstStyle/>
          <a:p>
            <a:r>
              <a:rPr lang="en-US" dirty="0"/>
              <a:t>We present ER models in two types of diagrams:</a:t>
            </a:r>
          </a:p>
          <a:p>
            <a:pPr lvl="1"/>
            <a:r>
              <a:rPr lang="en-US" dirty="0"/>
              <a:t>ER diagram</a:t>
            </a:r>
          </a:p>
          <a:p>
            <a:pPr lvl="1"/>
            <a:r>
              <a:rPr lang="en-US" dirty="0"/>
              <a:t>Entity diagram</a:t>
            </a:r>
          </a:p>
          <a:p>
            <a:r>
              <a:rPr lang="en-US" dirty="0"/>
              <a:t>Various versions of diagrams and labels on diagrams</a:t>
            </a:r>
          </a:p>
          <a:p>
            <a:endParaRPr lang="en-US" dirty="0"/>
          </a:p>
          <a:p>
            <a:r>
              <a:rPr lang="en-US" dirty="0"/>
              <a:t>The main elements of the ER diagram:</a:t>
            </a:r>
          </a:p>
          <a:p>
            <a:pPr lvl="1"/>
            <a:r>
              <a:rPr lang="en-US" dirty="0"/>
              <a:t>Rectangles - entities (nouns)</a:t>
            </a:r>
          </a:p>
          <a:p>
            <a:pPr lvl="1"/>
            <a:r>
              <a:rPr lang="en-US" dirty="0"/>
              <a:t>Rhombuses - relations between </a:t>
            </a:r>
            <a:r>
              <a:rPr lang="en-US"/>
              <a:t>entities (verbs</a:t>
            </a:r>
            <a:r>
              <a:rPr lang="en-US" dirty="0"/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12813" y="2765241"/>
            <a:ext cx="1571636" cy="500066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>
                <a:solidFill>
                  <a:schemeClr val="tx1"/>
                </a:solidFill>
                <a:latin typeface="Candara" pitchFamily="34" charset="0"/>
              </a:rPr>
              <a:t>Musician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12813" y="3390387"/>
            <a:ext cx="1571636" cy="500066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>
                <a:solidFill>
                  <a:schemeClr val="tx1"/>
                </a:solidFill>
                <a:latin typeface="Candara" pitchFamily="34" charset="0"/>
              </a:rPr>
              <a:t>Song</a:t>
            </a:r>
          </a:p>
        </p:txBody>
      </p:sp>
      <p:sp>
        <p:nvSpPr>
          <p:cNvPr id="8" name="Flowchart: Decision 7"/>
          <p:cNvSpPr/>
          <p:nvPr/>
        </p:nvSpPr>
        <p:spPr>
          <a:xfrm>
            <a:off x="2367731" y="5108712"/>
            <a:ext cx="2143140" cy="857256"/>
          </a:xfrm>
          <a:prstGeom prst="flowChartDecision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>
                <a:solidFill>
                  <a:schemeClr val="tx1"/>
                </a:solidFill>
                <a:latin typeface="Candara" pitchFamily="34" charset="0"/>
              </a:rPr>
              <a:t>Plays</a:t>
            </a:r>
          </a:p>
        </p:txBody>
      </p:sp>
      <p:sp>
        <p:nvSpPr>
          <p:cNvPr id="9" name="Flowchart: Decision 8"/>
          <p:cNvSpPr/>
          <p:nvPr/>
        </p:nvSpPr>
        <p:spPr>
          <a:xfrm>
            <a:off x="5024430" y="5108712"/>
            <a:ext cx="2143140" cy="856686"/>
          </a:xfrm>
          <a:prstGeom prst="flowChartDecision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Candara" pitchFamily="34" charset="0"/>
              </a:rPr>
              <a:t>Contains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49638" y="4024767"/>
            <a:ext cx="2297986" cy="500066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>
                <a:solidFill>
                  <a:schemeClr val="tx1"/>
                </a:solidFill>
                <a:latin typeface="Candara" pitchFamily="34" charset="0"/>
              </a:rPr>
              <a:t>Account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0FBA36-4C73-4E07-A15F-250047393D94}"/>
              </a:ext>
            </a:extLst>
          </p:cNvPr>
          <p:cNvSpPr/>
          <p:nvPr/>
        </p:nvSpPr>
        <p:spPr>
          <a:xfrm>
            <a:off x="9749638" y="4702981"/>
            <a:ext cx="2297986" cy="500066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>
                <a:solidFill>
                  <a:schemeClr val="tx1"/>
                </a:solidFill>
                <a:latin typeface="Candara" pitchFamily="34" charset="0"/>
              </a:rPr>
              <a:t>AccountItem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12687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/>
              <a:t>ER diagram elements (2/3)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12777"/>
            <a:ext cx="12192000" cy="4713387"/>
          </a:xfrm>
          <a:ln>
            <a:noFill/>
          </a:ln>
        </p:spPr>
        <p:txBody>
          <a:bodyPr/>
          <a:lstStyle/>
          <a:p>
            <a:pPr lvl="1"/>
            <a:r>
              <a:rPr lang="en-US" dirty="0"/>
              <a:t>Lines or arrows connect entities, relations, and attributes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r>
              <a:rPr lang="en-US" dirty="0"/>
              <a:t>The text in the rectangles is the name of the entity</a:t>
            </a:r>
          </a:p>
          <a:p>
            <a:pPr lvl="2"/>
            <a:r>
              <a:rPr lang="en-US" dirty="0"/>
              <a:t>The text in rhombuses is the name of the relations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Indications of the type of relationship to the number of instances are written next to the arrows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2464675" y="5150134"/>
            <a:ext cx="1571636" cy="500066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>
                <a:solidFill>
                  <a:schemeClr val="tx1"/>
                </a:solidFill>
                <a:latin typeface="Candara" pitchFamily="34" charset="0"/>
              </a:rPr>
              <a:t>Person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832304" y="2049546"/>
            <a:ext cx="1571636" cy="500066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>
                <a:solidFill>
                  <a:schemeClr val="tx1"/>
                </a:solidFill>
                <a:latin typeface="Candara" pitchFamily="34" charset="0"/>
              </a:rPr>
              <a:t>Song</a:t>
            </a:r>
          </a:p>
        </p:txBody>
      </p:sp>
      <p:sp>
        <p:nvSpPr>
          <p:cNvPr id="6" name="Flowchart: Decision 5"/>
          <p:cNvSpPr/>
          <p:nvPr/>
        </p:nvSpPr>
        <p:spPr>
          <a:xfrm>
            <a:off x="4839229" y="4918720"/>
            <a:ext cx="2214578" cy="857256"/>
          </a:xfrm>
          <a:prstGeom prst="flowChartDecision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>
                <a:solidFill>
                  <a:schemeClr val="tx1"/>
                </a:solidFill>
                <a:latin typeface="Candara" pitchFamily="34" charset="0"/>
              </a:rPr>
              <a:t>IsBorn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19736" y="2021782"/>
            <a:ext cx="1571636" cy="500066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>
                <a:solidFill>
                  <a:schemeClr val="tx1"/>
                </a:solidFill>
                <a:latin typeface="Candara" pitchFamily="34" charset="0"/>
              </a:rPr>
              <a:t>Musician</a:t>
            </a:r>
          </a:p>
        </p:txBody>
      </p:sp>
      <p:sp>
        <p:nvSpPr>
          <p:cNvPr id="15" name="Flowchart: Decision 14"/>
          <p:cNvSpPr/>
          <p:nvPr/>
        </p:nvSpPr>
        <p:spPr>
          <a:xfrm>
            <a:off x="6023992" y="1873776"/>
            <a:ext cx="2133616" cy="857256"/>
          </a:xfrm>
          <a:prstGeom prst="flowChartDecision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>
                <a:solidFill>
                  <a:schemeClr val="tx1"/>
                </a:solidFill>
                <a:latin typeface="Candara" pitchFamily="34" charset="0"/>
              </a:rPr>
              <a:t>Plays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50480" y="5103632"/>
            <a:ext cx="1571636" cy="500066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>
                <a:solidFill>
                  <a:schemeClr val="tx1"/>
                </a:solidFill>
                <a:latin typeface="Candara" pitchFamily="34" charset="0"/>
              </a:rPr>
              <a:t>City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83196" y="4929198"/>
            <a:ext cx="428628" cy="357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2600" dirty="0">
                <a:solidFill>
                  <a:schemeClr val="tx1"/>
                </a:solidFill>
                <a:latin typeface="Candara" pitchFamily="34" charset="0"/>
              </a:rPr>
              <a:t>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76120" y="4929198"/>
            <a:ext cx="428628" cy="357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2600" dirty="0">
                <a:solidFill>
                  <a:schemeClr val="tx1"/>
                </a:solidFill>
                <a:latin typeface="Candara" pitchFamily="34" charset="0"/>
              </a:rPr>
              <a:t>1</a:t>
            </a:r>
          </a:p>
        </p:txBody>
      </p:sp>
      <p:cxnSp>
        <p:nvCxnSpPr>
          <p:cNvPr id="31" name="Straight Arrow Connector 30"/>
          <p:cNvCxnSpPr/>
          <p:nvPr/>
        </p:nvCxnSpPr>
        <p:spPr bwMode="auto">
          <a:xfrm>
            <a:off x="5303912" y="2305825"/>
            <a:ext cx="688326" cy="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2" name="Straight Arrow Connector 31"/>
          <p:cNvCxnSpPr>
            <a:stCxn id="6" idx="3"/>
            <a:endCxn id="23" idx="1"/>
          </p:cNvCxnSpPr>
          <p:nvPr/>
        </p:nvCxnSpPr>
        <p:spPr bwMode="auto">
          <a:xfrm>
            <a:off x="7053807" y="5347348"/>
            <a:ext cx="796673" cy="631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3" name="Straight Arrow Connector 32"/>
          <p:cNvCxnSpPr>
            <a:stCxn id="4" idx="3"/>
            <a:endCxn id="6" idx="1"/>
          </p:cNvCxnSpPr>
          <p:nvPr/>
        </p:nvCxnSpPr>
        <p:spPr bwMode="auto">
          <a:xfrm flipV="1">
            <a:off x="4036311" y="5347349"/>
            <a:ext cx="802918" cy="52819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4" name="Straight Arrow Connector 33"/>
          <p:cNvCxnSpPr>
            <a:stCxn id="15" idx="3"/>
            <a:endCxn id="5" idx="1"/>
          </p:cNvCxnSpPr>
          <p:nvPr/>
        </p:nvCxnSpPr>
        <p:spPr bwMode="auto">
          <a:xfrm flipV="1">
            <a:off x="8157608" y="2299580"/>
            <a:ext cx="674696" cy="2825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12687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/>
              <a:t>ER diagram elements (3/3)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1"/>
            <a:ext cx="12192000" cy="4525963"/>
          </a:xfrm>
          <a:noFill/>
          <a:ln w="9525">
            <a:solidFill>
              <a:schemeClr val="bg1">
                <a:lumMod val="85000"/>
                <a:alpha val="80000"/>
              </a:schemeClr>
            </a:solidFill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273050" lvl="1">
              <a:buClr>
                <a:schemeClr val="accent1"/>
              </a:buClr>
              <a:buSzPct val="85000"/>
              <a:buFont typeface="Wingdings 2" pitchFamily="18" charset="2"/>
              <a:buChar char=""/>
            </a:pPr>
            <a:endParaRPr lang="en-US" b="1">
              <a:solidFill>
                <a:schemeClr val="tx1"/>
              </a:solidFill>
              <a:latin typeface="Candara" pitchFamily="34" charset="0"/>
            </a:endParaRPr>
          </a:p>
          <a:p>
            <a:pPr marL="273050" lvl="1">
              <a:buClr>
                <a:schemeClr val="accent1"/>
              </a:buClr>
              <a:buSzPct val="85000"/>
              <a:buFont typeface="Wingdings 2" pitchFamily="18" charset="2"/>
              <a:buChar char=""/>
            </a:pPr>
            <a:endParaRPr lang="en-US" b="1">
              <a:latin typeface="Candara" pitchFamily="34" charset="0"/>
            </a:endParaRPr>
          </a:p>
          <a:p>
            <a:pPr marL="273050" lvl="1">
              <a:buClr>
                <a:schemeClr val="accent1"/>
              </a:buClr>
              <a:buSzPct val="85000"/>
              <a:buFont typeface="Wingdings 2" pitchFamily="18" charset="2"/>
              <a:buChar char=""/>
            </a:pPr>
            <a:endParaRPr lang="en-US" b="1">
              <a:solidFill>
                <a:schemeClr val="tx1"/>
              </a:solidFill>
              <a:latin typeface="Candara" pitchFamily="34" charset="0"/>
            </a:endParaRPr>
          </a:p>
          <a:p>
            <a:pPr marL="273050" lvl="1">
              <a:buClr>
                <a:schemeClr val="accent1"/>
              </a:buClr>
              <a:buSzPct val="85000"/>
              <a:buFont typeface="Wingdings 2" pitchFamily="18" charset="2"/>
              <a:buChar char=""/>
            </a:pPr>
            <a:r>
              <a:rPr lang="en-US">
                <a:solidFill>
                  <a:schemeClr val="tx1"/>
                </a:solidFill>
                <a:latin typeface="Candara" pitchFamily="34" charset="0"/>
              </a:rPr>
              <a:t>Attributes are represented by ellipses</a:t>
            </a:r>
          </a:p>
          <a:p>
            <a:pPr marL="273050" lvl="1">
              <a:buClr>
                <a:schemeClr val="accent1"/>
              </a:buClr>
              <a:buSzPct val="85000"/>
              <a:buFont typeface="Wingdings 2" pitchFamily="18" charset="2"/>
              <a:buChar char=""/>
            </a:pPr>
            <a:r>
              <a:rPr lang="en-US">
                <a:solidFill>
                  <a:schemeClr val="tx1"/>
                </a:solidFill>
                <a:latin typeface="Candara" pitchFamily="34" charset="0"/>
              </a:rPr>
              <a:t>Attributes are often displayed in a separate diagram, the so-called </a:t>
            </a:r>
            <a:r>
              <a:rPr lang="en-US" b="1">
                <a:solidFill>
                  <a:schemeClr val="tx1"/>
                </a:solidFill>
                <a:latin typeface="Candara" pitchFamily="34" charset="0"/>
              </a:rPr>
              <a:t>entity diagram</a:t>
            </a:r>
            <a:endParaRPr lang="en-US" sz="2400" b="1">
              <a:latin typeface="Candara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95472" y="1571612"/>
            <a:ext cx="1571636" cy="500066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>
                <a:solidFill>
                  <a:schemeClr val="tx1"/>
                </a:solidFill>
                <a:latin typeface="Candara" pitchFamily="34" charset="0"/>
              </a:rPr>
              <a:t>Member</a:t>
            </a:r>
          </a:p>
        </p:txBody>
      </p:sp>
      <p:sp>
        <p:nvSpPr>
          <p:cNvPr id="5" name="Flowchart: Decision 4"/>
          <p:cNvSpPr/>
          <p:nvPr/>
        </p:nvSpPr>
        <p:spPr>
          <a:xfrm>
            <a:off x="4810116" y="1357298"/>
            <a:ext cx="2149980" cy="1071570"/>
          </a:xfrm>
          <a:prstGeom prst="flowChartDecision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Candara" pitchFamily="34" charset="0"/>
              </a:rPr>
              <a:t>Borrows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3388" y="1571612"/>
            <a:ext cx="1571636" cy="500066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>
                <a:solidFill>
                  <a:schemeClr val="tx1"/>
                </a:solidFill>
                <a:latin typeface="Candara" pitchFamily="34" charset="0"/>
              </a:rPr>
              <a:t>DVD</a:t>
            </a:r>
          </a:p>
        </p:txBody>
      </p:sp>
      <p:sp>
        <p:nvSpPr>
          <p:cNvPr id="9" name="Rectangle 8"/>
          <p:cNvSpPr/>
          <p:nvPr/>
        </p:nvSpPr>
        <p:spPr>
          <a:xfrm>
            <a:off x="3809984" y="1428736"/>
            <a:ext cx="428628" cy="357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2600" dirty="0">
                <a:solidFill>
                  <a:schemeClr val="tx1"/>
                </a:solidFill>
                <a:latin typeface="Candara" pitchFamily="34" charset="0"/>
              </a:rPr>
              <a:t>M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39008" y="1428736"/>
            <a:ext cx="428628" cy="357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2600" dirty="0">
                <a:solidFill>
                  <a:schemeClr val="tx1"/>
                </a:solidFill>
                <a:latin typeface="Candara" pitchFamily="34" charset="0"/>
              </a:rPr>
              <a:t>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09786" y="4307916"/>
            <a:ext cx="1571636" cy="500066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>
                <a:solidFill>
                  <a:schemeClr val="tx1"/>
                </a:solidFill>
                <a:latin typeface="Candara" pitchFamily="34" charset="0"/>
              </a:rPr>
              <a:t>Student</a:t>
            </a:r>
          </a:p>
        </p:txBody>
      </p:sp>
      <p:sp>
        <p:nvSpPr>
          <p:cNvPr id="21" name="Flowchart: Decision 20"/>
          <p:cNvSpPr/>
          <p:nvPr/>
        </p:nvSpPr>
        <p:spPr>
          <a:xfrm>
            <a:off x="4810116" y="4093602"/>
            <a:ext cx="2428892" cy="928694"/>
          </a:xfrm>
          <a:prstGeom prst="flowChartDecision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Candara" pitchFamily="34" charset="0"/>
              </a:rPr>
              <a:t>Enrolled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67702" y="4307916"/>
            <a:ext cx="1571636" cy="500066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>
                <a:solidFill>
                  <a:schemeClr val="tx1"/>
                </a:solidFill>
                <a:latin typeface="Candara" pitchFamily="34" charset="0"/>
              </a:rPr>
              <a:t>Course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24298" y="4165040"/>
            <a:ext cx="428628" cy="357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2600" dirty="0">
                <a:solidFill>
                  <a:schemeClr val="tx1"/>
                </a:solidFill>
                <a:latin typeface="Candara" pitchFamily="34" charset="0"/>
              </a:rPr>
              <a:t>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53322" y="4165040"/>
            <a:ext cx="428628" cy="357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2600" dirty="0">
                <a:solidFill>
                  <a:schemeClr val="tx1"/>
                </a:solidFill>
                <a:latin typeface="Candara" pitchFamily="34" charset="0"/>
              </a:rPr>
              <a:t>N</a:t>
            </a:r>
          </a:p>
        </p:txBody>
      </p:sp>
      <p:sp>
        <p:nvSpPr>
          <p:cNvPr id="31" name="Oval 30"/>
          <p:cNvSpPr/>
          <p:nvPr/>
        </p:nvSpPr>
        <p:spPr>
          <a:xfrm>
            <a:off x="1435395" y="5483222"/>
            <a:ext cx="1731647" cy="642942"/>
          </a:xfrm>
          <a:prstGeom prst="ellipse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Candara" pitchFamily="34" charset="0"/>
              </a:rPr>
              <a:t>FirstName</a:t>
            </a:r>
          </a:p>
        </p:txBody>
      </p:sp>
      <p:sp>
        <p:nvSpPr>
          <p:cNvPr id="32" name="Oval 31"/>
          <p:cNvSpPr/>
          <p:nvPr/>
        </p:nvSpPr>
        <p:spPr>
          <a:xfrm>
            <a:off x="3309918" y="5522362"/>
            <a:ext cx="1928826" cy="642942"/>
          </a:xfrm>
          <a:prstGeom prst="ellipse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Candara" pitchFamily="34" charset="0"/>
              </a:rPr>
              <a:t>LastName</a:t>
            </a:r>
          </a:p>
        </p:txBody>
      </p:sp>
      <p:cxnSp>
        <p:nvCxnSpPr>
          <p:cNvPr id="33" name="Straight Arrow Connector 32"/>
          <p:cNvCxnSpPr>
            <a:cxnSpLocks/>
            <a:stCxn id="20" idx="2"/>
            <a:endCxn id="31" idx="0"/>
          </p:cNvCxnSpPr>
          <p:nvPr/>
        </p:nvCxnSpPr>
        <p:spPr>
          <a:xfrm flipH="1">
            <a:off x="2301219" y="4807982"/>
            <a:ext cx="794385" cy="67524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8" name="Straight Arrow Connector 37"/>
          <p:cNvCxnSpPr>
            <a:stCxn id="20" idx="2"/>
            <a:endCxn id="32" idx="0"/>
          </p:cNvCxnSpPr>
          <p:nvPr/>
        </p:nvCxnSpPr>
        <p:spPr>
          <a:xfrm rot="16200000" flipH="1">
            <a:off x="3327777" y="4575809"/>
            <a:ext cx="714380" cy="117872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1" name="Oval 40"/>
          <p:cNvSpPr/>
          <p:nvPr/>
        </p:nvSpPr>
        <p:spPr>
          <a:xfrm>
            <a:off x="5524496" y="5308048"/>
            <a:ext cx="1857388" cy="785818"/>
          </a:xfrm>
          <a:prstGeom prst="ellipse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Candara" pitchFamily="34" charset="0"/>
              </a:rPr>
              <a:t>EnrollmentDate</a:t>
            </a:r>
          </a:p>
        </p:txBody>
      </p:sp>
      <p:cxnSp>
        <p:nvCxnSpPr>
          <p:cNvPr id="42" name="Straight Arrow Connector 41"/>
          <p:cNvCxnSpPr>
            <a:stCxn id="21" idx="2"/>
            <a:endCxn id="41" idx="0"/>
          </p:cNvCxnSpPr>
          <p:nvPr/>
        </p:nvCxnSpPr>
        <p:spPr>
          <a:xfrm rot="16200000" flipH="1">
            <a:off x="6096000" y="4950858"/>
            <a:ext cx="285752" cy="42862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" name="Oval 42"/>
          <p:cNvSpPr/>
          <p:nvPr/>
        </p:nvSpPr>
        <p:spPr>
          <a:xfrm>
            <a:off x="8310578" y="5308048"/>
            <a:ext cx="1714512" cy="500066"/>
          </a:xfrm>
          <a:prstGeom prst="ellipse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Candara" pitchFamily="34" charset="0"/>
              </a:rPr>
              <a:t>CourseTitle</a:t>
            </a:r>
          </a:p>
        </p:txBody>
      </p:sp>
      <p:cxnSp>
        <p:nvCxnSpPr>
          <p:cNvPr id="44" name="Straight Arrow Connector 43"/>
          <p:cNvCxnSpPr>
            <a:stCxn id="23" idx="2"/>
            <a:endCxn id="43" idx="0"/>
          </p:cNvCxnSpPr>
          <p:nvPr/>
        </p:nvCxnSpPr>
        <p:spPr>
          <a:xfrm rot="16200000" flipH="1">
            <a:off x="8810644" y="4950858"/>
            <a:ext cx="500066" cy="21431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0" name="Straight Arrow Connector 39"/>
          <p:cNvCxnSpPr>
            <a:stCxn id="4" idx="3"/>
            <a:endCxn id="5" idx="1"/>
          </p:cNvCxnSpPr>
          <p:nvPr/>
        </p:nvCxnSpPr>
        <p:spPr bwMode="auto">
          <a:xfrm>
            <a:off x="3667108" y="1821645"/>
            <a:ext cx="1143008" cy="7143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5" name="Straight Arrow Connector 44"/>
          <p:cNvCxnSpPr>
            <a:stCxn id="5" idx="3"/>
            <a:endCxn id="7" idx="1"/>
          </p:cNvCxnSpPr>
          <p:nvPr/>
        </p:nvCxnSpPr>
        <p:spPr bwMode="auto">
          <a:xfrm flipV="1">
            <a:off x="6960096" y="1821645"/>
            <a:ext cx="993292" cy="7143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6" name="Straight Arrow Connector 45"/>
          <p:cNvCxnSpPr>
            <a:stCxn id="20" idx="3"/>
            <a:endCxn id="21" idx="1"/>
          </p:cNvCxnSpPr>
          <p:nvPr/>
        </p:nvCxnSpPr>
        <p:spPr bwMode="auto">
          <a:xfrm>
            <a:off x="3881422" y="4557949"/>
            <a:ext cx="928694" cy="158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7" name="Straight Arrow Connector 46"/>
          <p:cNvCxnSpPr>
            <a:stCxn id="21" idx="3"/>
            <a:endCxn id="23" idx="1"/>
          </p:cNvCxnSpPr>
          <p:nvPr/>
        </p:nvCxnSpPr>
        <p:spPr bwMode="auto">
          <a:xfrm>
            <a:off x="7239008" y="4557949"/>
            <a:ext cx="928694" cy="158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12687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/>
              <a:t>ER diagram example (1/3)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1"/>
            <a:ext cx="12192000" cy="4525963"/>
          </a:xfrm>
        </p:spPr>
        <p:txBody>
          <a:bodyPr>
            <a:normAutofit/>
          </a:bodyPr>
          <a:lstStyle/>
          <a:p>
            <a:r>
              <a:rPr lang="en-US"/>
              <a:t>Business environment: College</a:t>
            </a:r>
          </a:p>
          <a:p>
            <a:endParaRPr lang="en-US"/>
          </a:p>
          <a:p>
            <a:r>
              <a:rPr lang="en-US"/>
              <a:t>User requirements:</a:t>
            </a:r>
          </a:p>
          <a:p>
            <a:pPr lvl="1"/>
            <a:r>
              <a:rPr lang="en-US"/>
              <a:t>The college consists of several departments</a:t>
            </a:r>
          </a:p>
          <a:p>
            <a:pPr lvl="1"/>
            <a:r>
              <a:rPr lang="en-US"/>
              <a:t>Each department has its own head, and the head of the department must be a teacher</a:t>
            </a:r>
          </a:p>
          <a:p>
            <a:pPr lvl="1"/>
            <a:r>
              <a:rPr lang="en-US"/>
              <a:t>Teachers are assigned to departments</a:t>
            </a:r>
          </a:p>
          <a:p>
            <a:pPr lvl="1"/>
            <a:r>
              <a:rPr lang="en-US"/>
              <a:t>Teachers teach courses, and the course is always taught by only one teacher</a:t>
            </a:r>
          </a:p>
          <a:p>
            <a:pPr lvl="1"/>
            <a:r>
              <a:rPr lang="en-US"/>
              <a:t>Departments offer students multiple courses</a:t>
            </a:r>
          </a:p>
          <a:p>
            <a:pPr lvl="1"/>
            <a:r>
              <a:rPr lang="en-US"/>
              <a:t>Students enroll in courses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12687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/>
              <a:t>ER diagram example (2/3)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27592"/>
            <a:ext cx="12191999" cy="4865704"/>
          </a:xfrm>
        </p:spPr>
        <p:txBody>
          <a:bodyPr>
            <a:normAutofit/>
          </a:bodyPr>
          <a:lstStyle/>
          <a:p>
            <a:r>
              <a:rPr lang="en-US" dirty="0"/>
              <a:t>Entities and attributes (key underlined):</a:t>
            </a:r>
          </a:p>
          <a:p>
            <a:pPr lvl="1"/>
            <a:r>
              <a:rPr lang="en-US" dirty="0"/>
              <a:t>Institution (</a:t>
            </a:r>
            <a:r>
              <a:rPr lang="en-US" u="sng" dirty="0" err="1"/>
              <a:t>IDInstitution</a:t>
            </a:r>
            <a:r>
              <a:rPr lang="en-US" dirty="0"/>
              <a:t>, Name, Address) </a:t>
            </a:r>
          </a:p>
          <a:p>
            <a:pPr lvl="1"/>
            <a:r>
              <a:rPr lang="en-US" dirty="0"/>
              <a:t>Department (</a:t>
            </a:r>
            <a:r>
              <a:rPr lang="en-US" u="sng" dirty="0" err="1"/>
              <a:t>IDDepartment</a:t>
            </a:r>
            <a:r>
              <a:rPr lang="en-US" dirty="0"/>
              <a:t>, Name) </a:t>
            </a:r>
          </a:p>
          <a:p>
            <a:pPr lvl="1"/>
            <a:r>
              <a:rPr lang="en-US" dirty="0"/>
              <a:t>Teacher (</a:t>
            </a:r>
            <a:r>
              <a:rPr lang="en-US" u="sng" dirty="0" err="1"/>
              <a:t>IDTeacher</a:t>
            </a:r>
            <a:r>
              <a:rPr lang="en-US" dirty="0"/>
              <a:t>, OIB, Name, Surname, Phone number) </a:t>
            </a:r>
          </a:p>
          <a:p>
            <a:pPr lvl="1"/>
            <a:r>
              <a:rPr lang="en-US" dirty="0"/>
              <a:t>Course (</a:t>
            </a:r>
            <a:r>
              <a:rPr lang="en-US" u="sng" dirty="0" err="1"/>
              <a:t>IDCourse</a:t>
            </a:r>
            <a:r>
              <a:rPr lang="en-US" dirty="0"/>
              <a:t>, Name, ECTS) </a:t>
            </a:r>
          </a:p>
          <a:p>
            <a:pPr lvl="1"/>
            <a:r>
              <a:rPr lang="en-US" dirty="0"/>
              <a:t>Student (</a:t>
            </a:r>
            <a:r>
              <a:rPr lang="en-US" u="sng" dirty="0" err="1"/>
              <a:t>IDStudent</a:t>
            </a:r>
            <a:r>
              <a:rPr lang="en-US" dirty="0"/>
              <a:t>, JMBAG, Name, Surname, Date of birth)</a:t>
            </a:r>
          </a:p>
          <a:p>
            <a:r>
              <a:rPr lang="en-US" dirty="0"/>
              <a:t>Relations:</a:t>
            </a:r>
          </a:p>
          <a:p>
            <a:pPr lvl="1"/>
            <a:r>
              <a:rPr lang="en-US" dirty="0"/>
              <a:t>Consists, Has Leader, Assigned, Teaches, Offers, Enrolls</a:t>
            </a:r>
          </a:p>
          <a:p>
            <a:r>
              <a:rPr lang="en-US" dirty="0"/>
              <a:t>Design decision: </a:t>
            </a:r>
          </a:p>
          <a:p>
            <a:pPr lvl="1"/>
            <a:r>
              <a:rPr lang="en-US" dirty="0"/>
              <a:t>There is no need for the Institution entity because the database is for one institution</a:t>
            </a:r>
          </a:p>
          <a:p>
            <a:r>
              <a:rPr lang="en-US" dirty="0"/>
              <a:t>We draw an ER diagram and an entity diagram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10182" y="1142984"/>
            <a:ext cx="1714512" cy="500066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Candara" pitchFamily="34" charset="0"/>
              </a:rPr>
              <a:t>Department</a:t>
            </a:r>
          </a:p>
        </p:txBody>
      </p:sp>
      <p:sp>
        <p:nvSpPr>
          <p:cNvPr id="4" name="Flowchart: Decision 3"/>
          <p:cNvSpPr/>
          <p:nvPr/>
        </p:nvSpPr>
        <p:spPr>
          <a:xfrm>
            <a:off x="3309918" y="2143116"/>
            <a:ext cx="1785950" cy="714380"/>
          </a:xfrm>
          <a:prstGeom prst="flowChartDecision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Candara" pitchFamily="34" charset="0"/>
              </a:rPr>
              <a:t>Offers</a:t>
            </a:r>
          </a:p>
        </p:txBody>
      </p:sp>
      <p:sp>
        <p:nvSpPr>
          <p:cNvPr id="5" name="Flowchart: Decision 4"/>
          <p:cNvSpPr/>
          <p:nvPr/>
        </p:nvSpPr>
        <p:spPr>
          <a:xfrm>
            <a:off x="5167306" y="2276872"/>
            <a:ext cx="2584878" cy="1008112"/>
          </a:xfrm>
          <a:prstGeom prst="flowChartDecision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Candara" pitchFamily="34" charset="0"/>
              </a:rPr>
              <a:t>Has leader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544272" y="4077072"/>
            <a:ext cx="1571636" cy="500066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Candara" pitchFamily="34" charset="0"/>
              </a:rPr>
              <a:t>Teacher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024166" y="3857628"/>
            <a:ext cx="1571636" cy="500066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Candara" pitchFamily="34" charset="0"/>
              </a:rPr>
              <a:t>Course</a:t>
            </a:r>
          </a:p>
        </p:txBody>
      </p:sp>
      <p:sp>
        <p:nvSpPr>
          <p:cNvPr id="8" name="Rectangle 7"/>
          <p:cNvSpPr/>
          <p:nvPr/>
        </p:nvSpPr>
        <p:spPr>
          <a:xfrm>
            <a:off x="6524628" y="5715016"/>
            <a:ext cx="1571636" cy="500066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Candara" pitchFamily="34" charset="0"/>
              </a:rPr>
              <a:t>Student</a:t>
            </a:r>
          </a:p>
        </p:txBody>
      </p:sp>
      <p:sp>
        <p:nvSpPr>
          <p:cNvPr id="9" name="Flowchart: Decision 8"/>
          <p:cNvSpPr/>
          <p:nvPr/>
        </p:nvSpPr>
        <p:spPr>
          <a:xfrm>
            <a:off x="7499648" y="1700808"/>
            <a:ext cx="2988840" cy="792088"/>
          </a:xfrm>
          <a:prstGeom prst="flowChartDecision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Candara" pitchFamily="34" charset="0"/>
              </a:rPr>
              <a:t>Assigned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42852"/>
            <a:ext cx="12192000" cy="500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4400" b="1">
                <a:latin typeface="Arial" charset="0"/>
                <a:cs typeface="Arial" charset="0"/>
              </a:rPr>
              <a:t>ER diagram example (3/3)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5760" y="3431850"/>
            <a:ext cx="428628" cy="357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2600" dirty="0">
                <a:solidFill>
                  <a:schemeClr val="tx1"/>
                </a:solidFill>
                <a:latin typeface="Candara" pitchFamily="34" charset="0"/>
              </a:rPr>
              <a:t>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75284" y="1556792"/>
            <a:ext cx="428628" cy="357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2600" dirty="0">
                <a:solidFill>
                  <a:schemeClr val="tx1"/>
                </a:solidFill>
                <a:latin typeface="Candara" pitchFamily="34" charset="0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0016" y="1628800"/>
            <a:ext cx="428628" cy="357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2600" dirty="0">
                <a:solidFill>
                  <a:schemeClr val="tx1"/>
                </a:solidFill>
                <a:latin typeface="Candara" pitchFamily="34" charset="0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03276" y="3786190"/>
            <a:ext cx="428628" cy="357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2600" dirty="0">
                <a:solidFill>
                  <a:schemeClr val="tx1"/>
                </a:solidFill>
                <a:latin typeface="Candara" pitchFamily="34" charset="0"/>
              </a:rPr>
              <a:t>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48128" y="1556792"/>
            <a:ext cx="428628" cy="357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2600" dirty="0">
                <a:solidFill>
                  <a:schemeClr val="tx1"/>
                </a:solidFill>
                <a:latin typeface="Candara" pitchFamily="34" charset="0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36360" y="3501008"/>
            <a:ext cx="428628" cy="357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2600" dirty="0">
                <a:solidFill>
                  <a:schemeClr val="tx1"/>
                </a:solidFill>
                <a:latin typeface="Candara" pitchFamily="34" charset="0"/>
              </a:rPr>
              <a:t>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3636" y="3356992"/>
            <a:ext cx="428628" cy="357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2600" dirty="0">
                <a:solidFill>
                  <a:schemeClr val="tx1"/>
                </a:solidFill>
                <a:latin typeface="Candara" pitchFamily="34" charset="0"/>
              </a:rPr>
              <a:t>1</a:t>
            </a:r>
          </a:p>
        </p:txBody>
      </p:sp>
      <p:sp>
        <p:nvSpPr>
          <p:cNvPr id="53" name="Flowchart: Decision 52"/>
          <p:cNvSpPr/>
          <p:nvPr/>
        </p:nvSpPr>
        <p:spPr>
          <a:xfrm>
            <a:off x="5231904" y="3861048"/>
            <a:ext cx="2376264" cy="720080"/>
          </a:xfrm>
          <a:prstGeom prst="flowChartDecision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Candara" pitchFamily="34" charset="0"/>
              </a:rPr>
              <a:t>Teaches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27612" y="4295946"/>
            <a:ext cx="428628" cy="357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2600" dirty="0">
                <a:solidFill>
                  <a:schemeClr val="tx1"/>
                </a:solidFill>
                <a:latin typeface="Candara" pitchFamily="34" charset="0"/>
              </a:rPr>
              <a:t>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431704" y="4509120"/>
            <a:ext cx="428628" cy="357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2600" dirty="0">
                <a:solidFill>
                  <a:schemeClr val="tx1"/>
                </a:solidFill>
                <a:latin typeface="Candara" pitchFamily="34" charset="0"/>
              </a:rPr>
              <a:t>N</a:t>
            </a:r>
          </a:p>
        </p:txBody>
      </p:sp>
      <p:sp>
        <p:nvSpPr>
          <p:cNvPr id="67" name="Flowchart: Decision 66"/>
          <p:cNvSpPr/>
          <p:nvPr/>
        </p:nvSpPr>
        <p:spPr>
          <a:xfrm>
            <a:off x="3024166" y="5143512"/>
            <a:ext cx="2571768" cy="857256"/>
          </a:xfrm>
          <a:prstGeom prst="flowChartDecision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Candara" pitchFamily="34" charset="0"/>
              </a:rPr>
              <a:t>Enrolls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24562" y="5357826"/>
            <a:ext cx="428628" cy="357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2600" dirty="0">
                <a:solidFill>
                  <a:schemeClr val="tx1"/>
                </a:solidFill>
                <a:latin typeface="Candara" pitchFamily="34" charset="0"/>
              </a:rPr>
              <a:t>M</a:t>
            </a:r>
          </a:p>
        </p:txBody>
      </p:sp>
      <p:cxnSp>
        <p:nvCxnSpPr>
          <p:cNvPr id="32" name="Straight Arrow Connector 31"/>
          <p:cNvCxnSpPr>
            <a:stCxn id="2" idx="1"/>
            <a:endCxn id="4" idx="0"/>
          </p:cNvCxnSpPr>
          <p:nvPr/>
        </p:nvCxnSpPr>
        <p:spPr bwMode="auto">
          <a:xfrm rot="10800000" flipV="1">
            <a:off x="4202895" y="1393017"/>
            <a:ext cx="1107289" cy="750099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5" name="Straight Arrow Connector 34"/>
          <p:cNvCxnSpPr>
            <a:stCxn id="4" idx="2"/>
            <a:endCxn id="7" idx="0"/>
          </p:cNvCxnSpPr>
          <p:nvPr/>
        </p:nvCxnSpPr>
        <p:spPr bwMode="auto">
          <a:xfrm rot="5400000">
            <a:off x="3506373" y="3161109"/>
            <a:ext cx="1000132" cy="392909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6" name="Straight Arrow Connector 35"/>
          <p:cNvCxnSpPr>
            <a:stCxn id="6" idx="0"/>
            <a:endCxn id="9" idx="2"/>
          </p:cNvCxnSpPr>
          <p:nvPr/>
        </p:nvCxnSpPr>
        <p:spPr bwMode="auto">
          <a:xfrm rot="16200000" flipV="1">
            <a:off x="8369991" y="3116973"/>
            <a:ext cx="1584176" cy="336022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8" name="Straight Arrow Connector 37"/>
          <p:cNvCxnSpPr>
            <a:stCxn id="9" idx="1"/>
            <a:endCxn id="2" idx="3"/>
          </p:cNvCxnSpPr>
          <p:nvPr/>
        </p:nvCxnSpPr>
        <p:spPr bwMode="auto">
          <a:xfrm rot="10800000">
            <a:off x="7024694" y="1393019"/>
            <a:ext cx="474954" cy="703835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9" name="Straight Arrow Connector 38"/>
          <p:cNvCxnSpPr>
            <a:stCxn id="53" idx="1"/>
            <a:endCxn id="7" idx="3"/>
          </p:cNvCxnSpPr>
          <p:nvPr/>
        </p:nvCxnSpPr>
        <p:spPr bwMode="auto">
          <a:xfrm rot="10800000">
            <a:off x="4595802" y="4107663"/>
            <a:ext cx="636102" cy="11342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1" name="Straight Arrow Connector 40"/>
          <p:cNvCxnSpPr>
            <a:stCxn id="2" idx="2"/>
            <a:endCxn id="5" idx="0"/>
          </p:cNvCxnSpPr>
          <p:nvPr/>
        </p:nvCxnSpPr>
        <p:spPr bwMode="auto">
          <a:xfrm rot="16200000" flipH="1">
            <a:off x="5996680" y="1813808"/>
            <a:ext cx="633822" cy="29230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2" name="Straight Arrow Connector 41"/>
          <p:cNvCxnSpPr>
            <a:stCxn id="5" idx="2"/>
            <a:endCxn id="6" idx="0"/>
          </p:cNvCxnSpPr>
          <p:nvPr/>
        </p:nvCxnSpPr>
        <p:spPr bwMode="auto">
          <a:xfrm rot="16200000" flipH="1">
            <a:off x="7498873" y="2245856"/>
            <a:ext cx="792088" cy="2870345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9" name="Straight Arrow Connector 58"/>
          <p:cNvCxnSpPr>
            <a:stCxn id="6" idx="1"/>
            <a:endCxn id="53" idx="3"/>
          </p:cNvCxnSpPr>
          <p:nvPr/>
        </p:nvCxnSpPr>
        <p:spPr bwMode="auto">
          <a:xfrm rot="10800000">
            <a:off x="7608168" y="4221090"/>
            <a:ext cx="936104" cy="10601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2" name="Straight Arrow Connector 71"/>
          <p:cNvCxnSpPr>
            <a:stCxn id="67" idx="0"/>
            <a:endCxn id="7" idx="2"/>
          </p:cNvCxnSpPr>
          <p:nvPr/>
        </p:nvCxnSpPr>
        <p:spPr bwMode="auto">
          <a:xfrm rot="16200000" flipV="1">
            <a:off x="3667108" y="4500570"/>
            <a:ext cx="785818" cy="500066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4" name="Straight Arrow Connector 73"/>
          <p:cNvCxnSpPr>
            <a:stCxn id="8" idx="1"/>
            <a:endCxn id="67" idx="3"/>
          </p:cNvCxnSpPr>
          <p:nvPr/>
        </p:nvCxnSpPr>
        <p:spPr bwMode="auto">
          <a:xfrm rot="10800000">
            <a:off x="5595934" y="5572142"/>
            <a:ext cx="928694" cy="392909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09" name="Flowchart: Decision 108"/>
          <p:cNvSpPr/>
          <p:nvPr/>
        </p:nvSpPr>
        <p:spPr>
          <a:xfrm>
            <a:off x="1919536" y="980728"/>
            <a:ext cx="2304256" cy="1152128"/>
          </a:xfrm>
          <a:prstGeom prst="flowChartDecision">
            <a:avLst/>
          </a:prstGeom>
          <a:noFill/>
          <a:ln w="25400" cmpd="sng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Candara" pitchFamily="34" charset="0"/>
              </a:rPr>
              <a:t>Consists of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09720" y="2857496"/>
            <a:ext cx="1571636" cy="500066"/>
          </a:xfrm>
          <a:prstGeom prst="rect">
            <a:avLst/>
          </a:prstGeom>
          <a:noFill/>
          <a:ln w="25400" cmpd="sng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Candara" pitchFamily="34" charset="0"/>
              </a:rPr>
              <a:t>Institution</a:t>
            </a:r>
          </a:p>
        </p:txBody>
      </p:sp>
      <p:cxnSp>
        <p:nvCxnSpPr>
          <p:cNvPr id="114" name="Straight Arrow Connector 113"/>
          <p:cNvCxnSpPr>
            <a:stCxn id="110" idx="0"/>
            <a:endCxn id="109" idx="2"/>
          </p:cNvCxnSpPr>
          <p:nvPr/>
        </p:nvCxnSpPr>
        <p:spPr bwMode="auto">
          <a:xfrm rot="5400000" flipH="1" flipV="1">
            <a:off x="2471281" y="2257113"/>
            <a:ext cx="724640" cy="476126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ysDot"/>
            <a:round/>
            <a:headEnd type="none" w="med" len="med"/>
            <a:tailEnd type="arrow"/>
          </a:ln>
          <a:effectLst/>
        </p:spPr>
      </p:cxnSp>
      <p:cxnSp>
        <p:nvCxnSpPr>
          <p:cNvPr id="115" name="Straight Arrow Connector 114"/>
          <p:cNvCxnSpPr>
            <a:stCxn id="109" idx="3"/>
            <a:endCxn id="2" idx="1"/>
          </p:cNvCxnSpPr>
          <p:nvPr/>
        </p:nvCxnSpPr>
        <p:spPr bwMode="auto">
          <a:xfrm flipV="1">
            <a:off x="4223792" y="1393018"/>
            <a:ext cx="1086390" cy="163775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ysDot"/>
            <a:round/>
            <a:headEnd type="none" w="med" len="med"/>
            <a:tailEnd type="arrow"/>
          </a:ln>
          <a:effectLst/>
        </p:spPr>
      </p:cxnSp>
      <p:sp>
        <p:nvSpPr>
          <p:cNvPr id="120" name="Rectangle 119"/>
          <p:cNvSpPr/>
          <p:nvPr/>
        </p:nvSpPr>
        <p:spPr>
          <a:xfrm>
            <a:off x="2567608" y="2060848"/>
            <a:ext cx="428628" cy="357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2600" dirty="0">
                <a:solidFill>
                  <a:schemeClr val="tx1"/>
                </a:solidFill>
                <a:latin typeface="Candara" pitchFamily="34" charset="0"/>
              </a:rPr>
              <a:t>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595802" y="1000108"/>
            <a:ext cx="428628" cy="357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2600" dirty="0">
                <a:solidFill>
                  <a:schemeClr val="tx1"/>
                </a:solidFill>
                <a:latin typeface="Candara" pitchFamily="34" charset="0"/>
              </a:rPr>
              <a:t>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247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/>
              <a:t>More complex relations between entities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1"/>
            <a:ext cx="12192000" cy="4525963"/>
          </a:xfrm>
        </p:spPr>
        <p:txBody>
          <a:bodyPr/>
          <a:lstStyle/>
          <a:p>
            <a:r>
              <a:rPr lang="en-US" dirty="0"/>
              <a:t>In addition to the above basic relations, there are also more complex types of relations:</a:t>
            </a:r>
          </a:p>
          <a:p>
            <a:pPr lvl="1"/>
            <a:r>
              <a:rPr lang="en-US" dirty="0"/>
              <a:t>Involved relations (involutes)</a:t>
            </a:r>
          </a:p>
          <a:p>
            <a:pPr lvl="1"/>
            <a:r>
              <a:rPr lang="en-US" dirty="0"/>
              <a:t>Subsets</a:t>
            </a:r>
          </a:p>
          <a:p>
            <a:endParaRPr lang="en-US" dirty="0"/>
          </a:p>
          <a:p>
            <a:r>
              <a:rPr lang="en-US" dirty="0"/>
              <a:t>Involved relations</a:t>
            </a:r>
          </a:p>
          <a:p>
            <a:pPr lvl="1"/>
            <a:r>
              <a:rPr lang="en-US" dirty="0"/>
              <a:t>Instances of the same entity participate in the relation</a:t>
            </a:r>
          </a:p>
          <a:p>
            <a:pPr lvl="1"/>
            <a:r>
              <a:rPr lang="en-US" dirty="0"/>
              <a:t>The type of relation can again be 1: 1, 1: N, N: 1, M: 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11247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/>
              <a:t>Involved relation</a:t>
            </a:r>
            <a:r>
              <a:rPr lang="hr-HR" dirty="0"/>
              <a:t>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68761"/>
            <a:ext cx="12192000" cy="4857403"/>
          </a:xfrm>
        </p:spPr>
        <p:txBody>
          <a:bodyPr/>
          <a:lstStyle/>
          <a:p>
            <a:pPr lvl="1"/>
            <a:r>
              <a:rPr lang="en-US"/>
              <a:t>Example: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452662" y="1798348"/>
            <a:ext cx="1571636" cy="500066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Candara" pitchFamily="34" charset="0"/>
              </a:rPr>
              <a:t>Person</a:t>
            </a:r>
          </a:p>
        </p:txBody>
      </p:sp>
      <p:sp>
        <p:nvSpPr>
          <p:cNvPr id="6" name="Flowchart: Decision 5"/>
          <p:cNvSpPr/>
          <p:nvPr/>
        </p:nvSpPr>
        <p:spPr>
          <a:xfrm>
            <a:off x="5810248" y="1225704"/>
            <a:ext cx="2229968" cy="1224136"/>
          </a:xfrm>
          <a:prstGeom prst="flowChartDecision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Candara" pitchFamily="34" charset="0"/>
              </a:rPr>
              <a:t>Married to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95868" y="2233816"/>
            <a:ext cx="428628" cy="357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2600" dirty="0">
                <a:solidFill>
                  <a:schemeClr val="tx1"/>
                </a:solidFill>
                <a:latin typeface="Candara" pitchFamily="34" charset="0"/>
              </a:rP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95868" y="1297712"/>
            <a:ext cx="428628" cy="357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2600" dirty="0">
                <a:solidFill>
                  <a:schemeClr val="tx1"/>
                </a:solidFill>
                <a:latin typeface="Candara" pitchFamily="34" charset="0"/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2302" y="3322870"/>
            <a:ext cx="1714512" cy="500066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Candara" pitchFamily="34" charset="0"/>
              </a:rPr>
              <a:t>Employee</a:t>
            </a:r>
          </a:p>
        </p:txBody>
      </p:sp>
      <p:sp>
        <p:nvSpPr>
          <p:cNvPr id="27" name="Flowchart: Decision 26"/>
          <p:cNvSpPr/>
          <p:nvPr/>
        </p:nvSpPr>
        <p:spPr>
          <a:xfrm>
            <a:off x="5911326" y="2956560"/>
            <a:ext cx="2992986" cy="1224136"/>
          </a:xfrm>
          <a:prstGeom prst="flowChartDecision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Candara" pitchFamily="34" charset="0"/>
              </a:rPr>
              <a:t>Is manager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87888" y="3748648"/>
            <a:ext cx="428628" cy="357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2600" dirty="0">
                <a:solidFill>
                  <a:schemeClr val="tx1"/>
                </a:solidFill>
                <a:latin typeface="Candara" pitchFamily="34" charset="0"/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52662" y="5033024"/>
            <a:ext cx="1571636" cy="500066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Candara" pitchFamily="34" charset="0"/>
              </a:rPr>
              <a:t>Person</a:t>
            </a:r>
          </a:p>
        </p:txBody>
      </p:sp>
      <p:sp>
        <p:nvSpPr>
          <p:cNvPr id="32" name="Flowchart: Decision 31"/>
          <p:cNvSpPr/>
          <p:nvPr/>
        </p:nvSpPr>
        <p:spPr>
          <a:xfrm>
            <a:off x="5738810" y="4616936"/>
            <a:ext cx="3021486" cy="1296144"/>
          </a:xfrm>
          <a:prstGeom prst="flowChartDecision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Candara" pitchFamily="34" charset="0"/>
              </a:rPr>
              <a:t>Is friend with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81554" y="5483882"/>
            <a:ext cx="428628" cy="357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2600" dirty="0">
                <a:solidFill>
                  <a:schemeClr val="tx1"/>
                </a:solidFill>
                <a:latin typeface="Candara" pitchFamily="34" charset="0"/>
              </a:rPr>
              <a:t>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159896" y="2959410"/>
            <a:ext cx="428628" cy="357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2600" dirty="0">
                <a:solidFill>
                  <a:schemeClr val="tx1"/>
                </a:solidFill>
                <a:latin typeface="Candara" pitchFamily="34" charset="0"/>
              </a:rPr>
              <a:t>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881554" y="4688944"/>
            <a:ext cx="428628" cy="357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2600" dirty="0">
                <a:solidFill>
                  <a:schemeClr val="tx1"/>
                </a:solidFill>
                <a:latin typeface="Candara" pitchFamily="34" charset="0"/>
              </a:rPr>
              <a:t>N</a:t>
            </a:r>
          </a:p>
        </p:txBody>
      </p:sp>
      <p:cxnSp>
        <p:nvCxnSpPr>
          <p:cNvPr id="22" name="Straight Arrow Connector 21"/>
          <p:cNvCxnSpPr>
            <a:stCxn id="4" idx="3"/>
            <a:endCxn id="6" idx="2"/>
          </p:cNvCxnSpPr>
          <p:nvPr/>
        </p:nvCxnSpPr>
        <p:spPr bwMode="auto">
          <a:xfrm>
            <a:off x="4024298" y="2048382"/>
            <a:ext cx="2900934" cy="401459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Straight Arrow Connector 22"/>
          <p:cNvCxnSpPr>
            <a:stCxn id="6" idx="0"/>
            <a:endCxn id="4" idx="3"/>
          </p:cNvCxnSpPr>
          <p:nvPr/>
        </p:nvCxnSpPr>
        <p:spPr bwMode="auto">
          <a:xfrm rot="16200000" flipH="1" flipV="1">
            <a:off x="5063427" y="186575"/>
            <a:ext cx="822677" cy="290093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4" name="Straight Arrow Connector 23"/>
          <p:cNvCxnSpPr>
            <a:stCxn id="31" idx="3"/>
            <a:endCxn id="32" idx="2"/>
          </p:cNvCxnSpPr>
          <p:nvPr/>
        </p:nvCxnSpPr>
        <p:spPr bwMode="auto">
          <a:xfrm>
            <a:off x="4024299" y="5283058"/>
            <a:ext cx="3225255" cy="63002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6" name="Straight Arrow Connector 35"/>
          <p:cNvCxnSpPr>
            <a:stCxn id="32" idx="0"/>
            <a:endCxn id="31" idx="3"/>
          </p:cNvCxnSpPr>
          <p:nvPr/>
        </p:nvCxnSpPr>
        <p:spPr bwMode="auto">
          <a:xfrm rot="16200000" flipH="1" flipV="1">
            <a:off x="5303866" y="3337369"/>
            <a:ext cx="666121" cy="3225255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7" name="Straight Arrow Connector 36"/>
          <p:cNvCxnSpPr>
            <a:stCxn id="27" idx="0"/>
            <a:endCxn id="26" idx="3"/>
          </p:cNvCxnSpPr>
          <p:nvPr/>
        </p:nvCxnSpPr>
        <p:spPr bwMode="auto">
          <a:xfrm rot="16200000" flipH="1" flipV="1">
            <a:off x="5494146" y="1659229"/>
            <a:ext cx="616343" cy="3211005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8" name="Straight Arrow Connector 37"/>
          <p:cNvCxnSpPr>
            <a:stCxn id="26" idx="3"/>
            <a:endCxn id="27" idx="2"/>
          </p:cNvCxnSpPr>
          <p:nvPr/>
        </p:nvCxnSpPr>
        <p:spPr bwMode="auto">
          <a:xfrm>
            <a:off x="4196815" y="3572904"/>
            <a:ext cx="3211005" cy="60779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11247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/>
              <a:t>Subsets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40768"/>
            <a:ext cx="12191999" cy="4997240"/>
          </a:xfrm>
        </p:spPr>
        <p:txBody>
          <a:bodyPr>
            <a:normAutofit/>
          </a:bodyPr>
          <a:lstStyle/>
          <a:p>
            <a:r>
              <a:rPr lang="en-US" dirty="0"/>
              <a:t>Entity B is a subset of entity A if each instance of entity B is also an instance of entity 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Such a relation is described by a special 1: 1 relation called "Is".</a:t>
            </a:r>
          </a:p>
          <a:p>
            <a:pPr lvl="1"/>
            <a:r>
              <a:rPr lang="en-US" dirty="0"/>
              <a:t>For example, A = Person, B = Student</a:t>
            </a:r>
          </a:p>
          <a:p>
            <a:pPr lvl="1"/>
            <a:r>
              <a:rPr lang="en-US" dirty="0"/>
              <a:t>Every student is a person, but not every person has to be a student</a:t>
            </a:r>
          </a:p>
        </p:txBody>
      </p:sp>
      <p:sp>
        <p:nvSpPr>
          <p:cNvPr id="4" name="Oval 3"/>
          <p:cNvSpPr/>
          <p:nvPr/>
        </p:nvSpPr>
        <p:spPr>
          <a:xfrm>
            <a:off x="4524364" y="2432858"/>
            <a:ext cx="2071702" cy="1500198"/>
          </a:xfrm>
          <a:prstGeom prst="ellipse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1512000" bIns="396000" rtlCol="0" anchor="ctr"/>
          <a:lstStyle/>
          <a:p>
            <a:pPr algn="ctr"/>
            <a:r>
              <a:rPr lang="hr-HR" sz="2400" dirty="0">
                <a:solidFill>
                  <a:schemeClr val="tx1"/>
                </a:solidFill>
                <a:latin typeface="Candara" pitchFamily="34" charset="0"/>
              </a:rPr>
              <a:t>A</a:t>
            </a:r>
          </a:p>
        </p:txBody>
      </p:sp>
      <p:sp>
        <p:nvSpPr>
          <p:cNvPr id="5" name="Oval 4"/>
          <p:cNvSpPr/>
          <p:nvPr/>
        </p:nvSpPr>
        <p:spPr>
          <a:xfrm>
            <a:off x="5167306" y="2859776"/>
            <a:ext cx="1204922" cy="857256"/>
          </a:xfrm>
          <a:prstGeom prst="ellipse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2400" dirty="0">
                <a:solidFill>
                  <a:schemeClr val="tx1"/>
                </a:solidFill>
                <a:latin typeface="Candara" pitchFamily="34" charset="0"/>
              </a:rPr>
              <a:t>B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11247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/>
              <a:t>Subsets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hr-HR" dirty="0"/>
              <a:t> </a:t>
            </a:r>
            <a:endParaRPr lang="hr-HR" kern="1200" dirty="0"/>
          </a:p>
        </p:txBody>
      </p:sp>
      <p:sp>
        <p:nvSpPr>
          <p:cNvPr id="4" name="Rectangle 3"/>
          <p:cNvSpPr/>
          <p:nvPr/>
        </p:nvSpPr>
        <p:spPr>
          <a:xfrm>
            <a:off x="4595802" y="1357298"/>
            <a:ext cx="1571636" cy="500066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Candara" pitchFamily="34" charset="0"/>
              </a:rPr>
              <a:t>Person</a:t>
            </a:r>
          </a:p>
        </p:txBody>
      </p:sp>
      <p:sp>
        <p:nvSpPr>
          <p:cNvPr id="5" name="Flowchart: Decision 4"/>
          <p:cNvSpPr/>
          <p:nvPr/>
        </p:nvSpPr>
        <p:spPr>
          <a:xfrm>
            <a:off x="3452794" y="2500306"/>
            <a:ext cx="1143008" cy="642942"/>
          </a:xfrm>
          <a:prstGeom prst="flowChartDecision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Candara" pitchFamily="34" charset="0"/>
              </a:rPr>
              <a:t>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4298" y="3286124"/>
            <a:ext cx="428628" cy="357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2600" dirty="0">
                <a:solidFill>
                  <a:schemeClr val="tx1"/>
                </a:solidFill>
                <a:latin typeface="Candara" pitchFamily="34" charset="0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7240" y="2071678"/>
            <a:ext cx="428628" cy="357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2600" dirty="0">
                <a:solidFill>
                  <a:schemeClr val="tx1"/>
                </a:solidFill>
                <a:latin typeface="Candara" pitchFamily="34" charset="0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67042" y="3857628"/>
            <a:ext cx="1571636" cy="500066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Candara" pitchFamily="34" charset="0"/>
              </a:rPr>
              <a:t>Student</a:t>
            </a:r>
          </a:p>
        </p:txBody>
      </p:sp>
      <p:sp>
        <p:nvSpPr>
          <p:cNvPr id="25" name="Flowchart: Decision 24"/>
          <p:cNvSpPr/>
          <p:nvPr/>
        </p:nvSpPr>
        <p:spPr>
          <a:xfrm>
            <a:off x="6238876" y="2214554"/>
            <a:ext cx="1143008" cy="642942"/>
          </a:xfrm>
          <a:prstGeom prst="flowChartDecision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Candara" pitchFamily="34" charset="0"/>
              </a:rPr>
              <a:t>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8876" y="3286124"/>
            <a:ext cx="1571636" cy="500066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Candara" pitchFamily="34" charset="0"/>
              </a:rPr>
              <a:t>Teacher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19936" y="4941168"/>
            <a:ext cx="428628" cy="357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2600" dirty="0">
                <a:solidFill>
                  <a:schemeClr val="tx1"/>
                </a:solidFill>
                <a:latin typeface="Candara" pitchFamily="34" charset="0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96132" y="4000504"/>
            <a:ext cx="428628" cy="357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2600" dirty="0">
                <a:solidFill>
                  <a:schemeClr val="tx1"/>
                </a:solidFill>
                <a:latin typeface="Candara" pitchFamily="34" charset="0"/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81818" y="2786058"/>
            <a:ext cx="428628" cy="357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2600" dirty="0">
                <a:solidFill>
                  <a:schemeClr val="tx1"/>
                </a:solidFill>
                <a:latin typeface="Candara" pitchFamily="34" charset="0"/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53124" y="1928802"/>
            <a:ext cx="428628" cy="357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2600" dirty="0">
                <a:solidFill>
                  <a:schemeClr val="tx1"/>
                </a:solidFill>
                <a:latin typeface="Candara" pitchFamily="34" charset="0"/>
              </a:rPr>
              <a:t>1</a:t>
            </a:r>
          </a:p>
        </p:txBody>
      </p:sp>
      <p:sp>
        <p:nvSpPr>
          <p:cNvPr id="40" name="Flowchart: Decision 39"/>
          <p:cNvSpPr/>
          <p:nvPr/>
        </p:nvSpPr>
        <p:spPr>
          <a:xfrm>
            <a:off x="6453190" y="4286256"/>
            <a:ext cx="1143008" cy="642942"/>
          </a:xfrm>
          <a:prstGeom prst="flowChartDecision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Candara" pitchFamily="34" charset="0"/>
              </a:rPr>
              <a:t>Is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36160" y="5517232"/>
            <a:ext cx="1571636" cy="500066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Candara" pitchFamily="34" charset="0"/>
              </a:rPr>
              <a:t>Assistent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15880" y="5517232"/>
            <a:ext cx="1571636" cy="500066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andara" pitchFamily="34" charset="0"/>
              </a:rPr>
              <a:t>Professor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40216" y="4941168"/>
            <a:ext cx="428628" cy="357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2600" dirty="0">
                <a:solidFill>
                  <a:schemeClr val="tx1"/>
                </a:solidFill>
                <a:latin typeface="Candara" pitchFamily="34" charset="0"/>
              </a:rPr>
              <a:t>1</a:t>
            </a:r>
          </a:p>
        </p:txBody>
      </p:sp>
      <p:cxnSp>
        <p:nvCxnSpPr>
          <p:cNvPr id="35" name="Straight Arrow Connector 34"/>
          <p:cNvCxnSpPr>
            <a:stCxn id="50" idx="0"/>
            <a:endCxn id="40" idx="1"/>
          </p:cNvCxnSpPr>
          <p:nvPr/>
        </p:nvCxnSpPr>
        <p:spPr bwMode="auto">
          <a:xfrm rot="5400000" flipH="1" flipV="1">
            <a:off x="5672693" y="4736734"/>
            <a:ext cx="909505" cy="651492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8" name="Straight Arrow Connector 37"/>
          <p:cNvCxnSpPr>
            <a:stCxn id="26" idx="0"/>
            <a:endCxn id="25" idx="2"/>
          </p:cNvCxnSpPr>
          <p:nvPr/>
        </p:nvCxnSpPr>
        <p:spPr bwMode="auto">
          <a:xfrm rot="16200000" flipV="1">
            <a:off x="6703223" y="2964653"/>
            <a:ext cx="428628" cy="21431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9" name="Straight Arrow Connector 38"/>
          <p:cNvCxnSpPr>
            <a:stCxn id="40" idx="0"/>
            <a:endCxn id="26" idx="2"/>
          </p:cNvCxnSpPr>
          <p:nvPr/>
        </p:nvCxnSpPr>
        <p:spPr bwMode="auto">
          <a:xfrm rot="5400000" flipH="1" flipV="1">
            <a:off x="6774661" y="4036223"/>
            <a:ext cx="500066" cy="158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1" name="Straight Arrow Connector 40"/>
          <p:cNvCxnSpPr>
            <a:stCxn id="48" idx="0"/>
            <a:endCxn id="40" idx="3"/>
          </p:cNvCxnSpPr>
          <p:nvPr/>
        </p:nvCxnSpPr>
        <p:spPr bwMode="auto">
          <a:xfrm rot="16200000" flipV="1">
            <a:off x="7504337" y="4699590"/>
            <a:ext cx="909505" cy="72578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5" name="Straight Arrow Connector 54"/>
          <p:cNvCxnSpPr>
            <a:stCxn id="25" idx="1"/>
            <a:endCxn id="4" idx="2"/>
          </p:cNvCxnSpPr>
          <p:nvPr/>
        </p:nvCxnSpPr>
        <p:spPr bwMode="auto">
          <a:xfrm rot="10800000">
            <a:off x="5381620" y="1857366"/>
            <a:ext cx="857256" cy="67866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9" name="Straight Arrow Connector 58"/>
          <p:cNvCxnSpPr>
            <a:stCxn id="5" idx="0"/>
            <a:endCxn id="4" idx="2"/>
          </p:cNvCxnSpPr>
          <p:nvPr/>
        </p:nvCxnSpPr>
        <p:spPr bwMode="auto">
          <a:xfrm rot="5400000" flipH="1" flipV="1">
            <a:off x="4381488" y="1500174"/>
            <a:ext cx="642942" cy="1357322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0" name="Straight Arrow Connector 59"/>
          <p:cNvCxnSpPr>
            <a:stCxn id="19" idx="0"/>
            <a:endCxn id="5" idx="2"/>
          </p:cNvCxnSpPr>
          <p:nvPr/>
        </p:nvCxnSpPr>
        <p:spPr bwMode="auto">
          <a:xfrm rot="5400000" flipH="1" flipV="1">
            <a:off x="3631389" y="3464719"/>
            <a:ext cx="714380" cy="7143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lgebra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CF41AD"/>
      </a:accent1>
      <a:accent2>
        <a:srgbClr val="F7921D"/>
      </a:accent2>
      <a:accent3>
        <a:srgbClr val="E5E5E5"/>
      </a:accent3>
      <a:accent4>
        <a:srgbClr val="B71373"/>
      </a:accent4>
      <a:accent5>
        <a:srgbClr val="FF8529"/>
      </a:accent5>
      <a:accent6>
        <a:srgbClr val="E83773"/>
      </a:accent6>
      <a:hlink>
        <a:srgbClr val="414141"/>
      </a:hlink>
      <a:folHlink>
        <a:srgbClr val="C1316E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549</TotalTime>
  <Words>2100</Words>
  <Application>Microsoft Office PowerPoint</Application>
  <PresentationFormat>Widescreen</PresentationFormat>
  <Paragraphs>344</Paragraphs>
  <Slides>26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Candara</vt:lpstr>
      <vt:lpstr>Wingdings 2</vt:lpstr>
      <vt:lpstr>Office Theme</vt:lpstr>
      <vt:lpstr>INTRODUCTION TO DATABASES</vt:lpstr>
      <vt:lpstr>Repetition</vt:lpstr>
      <vt:lpstr>Relations between the entities</vt:lpstr>
      <vt:lpstr>Relations between the entities (1/2)</vt:lpstr>
      <vt:lpstr>Relations between the entities (2/2)</vt:lpstr>
      <vt:lpstr>Relation attributes</vt:lpstr>
      <vt:lpstr>Relation classification (1/3)</vt:lpstr>
      <vt:lpstr>Relation classification (2/3)</vt:lpstr>
      <vt:lpstr>Relation classification (3/3)</vt:lpstr>
      <vt:lpstr>Examples</vt:lpstr>
      <vt:lpstr>Key attributes (1/2)</vt:lpstr>
      <vt:lpstr>Key attributes (2/2)</vt:lpstr>
      <vt:lpstr>ER MODEL</vt:lpstr>
      <vt:lpstr>Modelling database</vt:lpstr>
      <vt:lpstr>Forming entities and relations</vt:lpstr>
      <vt:lpstr>ER model</vt:lpstr>
      <vt:lpstr>ER diagram elements (1/3)</vt:lpstr>
      <vt:lpstr>ER diagram elements (2/3)</vt:lpstr>
      <vt:lpstr>ER diagram elements (3/3)</vt:lpstr>
      <vt:lpstr>ER diagram example (1/3)</vt:lpstr>
      <vt:lpstr>ER diagram example (2/3)</vt:lpstr>
      <vt:lpstr>PowerPoint Presentation</vt:lpstr>
      <vt:lpstr>More complex relations between entities</vt:lpstr>
      <vt:lpstr>Involved relations</vt:lpstr>
      <vt:lpstr>Subsets (1/2)</vt:lpstr>
      <vt:lpstr>Subsets (2/2)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zana mrsa</dc:creator>
  <cp:lastModifiedBy>Mario Fabijanić</cp:lastModifiedBy>
  <cp:revision>113</cp:revision>
  <dcterms:created xsi:type="dcterms:W3CDTF">2018-01-24T13:33:55Z</dcterms:created>
  <dcterms:modified xsi:type="dcterms:W3CDTF">2023-02-27T08:10:30Z</dcterms:modified>
</cp:coreProperties>
</file>