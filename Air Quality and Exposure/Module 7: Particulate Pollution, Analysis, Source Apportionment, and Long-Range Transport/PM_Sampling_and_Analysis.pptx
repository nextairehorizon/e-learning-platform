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3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os Manousakas" userId="472fbd7d13858be9" providerId="LiveId" clId="{18BF0762-94E8-4A6B-A634-3860A1919F74}"/>
    <pc:docChg chg="undo custSel modSld">
      <pc:chgData name="Manos Manousakas" userId="472fbd7d13858be9" providerId="LiveId" clId="{18BF0762-94E8-4A6B-A634-3860A1919F74}" dt="2026-04-28T13:31:37.046" v="56" actId="478"/>
      <pc:docMkLst>
        <pc:docMk/>
      </pc:docMkLst>
      <pc:sldChg chg="modSp mod">
        <pc:chgData name="Manos Manousakas" userId="472fbd7d13858be9" providerId="LiveId" clId="{18BF0762-94E8-4A6B-A634-3860A1919F74}" dt="2026-04-28T13:24:31.607" v="2" actId="1076"/>
        <pc:sldMkLst>
          <pc:docMk/>
          <pc:sldMk cId="0" sldId="261"/>
        </pc:sldMkLst>
        <pc:spChg chg="mod">
          <ac:chgData name="Manos Manousakas" userId="472fbd7d13858be9" providerId="LiveId" clId="{18BF0762-94E8-4A6B-A634-3860A1919F74}" dt="2026-04-28T13:24:26.433" v="0" actId="1076"/>
          <ac:spMkLst>
            <pc:docMk/>
            <pc:sldMk cId="0" sldId="261"/>
            <ac:spMk id="169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8T13:24:31.607" v="2" actId="1076"/>
          <ac:spMkLst>
            <pc:docMk/>
            <pc:sldMk cId="0" sldId="261"/>
            <ac:spMk id="170" creationId="{00000000-0000-0000-0000-000000000000}"/>
          </ac:spMkLst>
        </pc:spChg>
      </pc:sldChg>
      <pc:sldChg chg="modSp mod">
        <pc:chgData name="Manos Manousakas" userId="472fbd7d13858be9" providerId="LiveId" clId="{18BF0762-94E8-4A6B-A634-3860A1919F74}" dt="2026-04-28T13:25:42.511" v="4" actId="255"/>
        <pc:sldMkLst>
          <pc:docMk/>
          <pc:sldMk cId="0" sldId="266"/>
        </pc:sldMkLst>
        <pc:spChg chg="mod">
          <ac:chgData name="Manos Manousakas" userId="472fbd7d13858be9" providerId="LiveId" clId="{18BF0762-94E8-4A6B-A634-3860A1919F74}" dt="2026-04-28T13:25:42.511" v="4" actId="255"/>
          <ac:spMkLst>
            <pc:docMk/>
            <pc:sldMk cId="0" sldId="266"/>
            <ac:spMk id="294" creationId="{00000000-0000-0000-0000-000000000000}"/>
          </ac:spMkLst>
        </pc:spChg>
      </pc:sldChg>
      <pc:sldChg chg="modSp mod">
        <pc:chgData name="Manos Manousakas" userId="472fbd7d13858be9" providerId="LiveId" clId="{18BF0762-94E8-4A6B-A634-3860A1919F74}" dt="2026-04-28T13:28:25.674" v="5" actId="20577"/>
        <pc:sldMkLst>
          <pc:docMk/>
          <pc:sldMk cId="0" sldId="280"/>
        </pc:sldMkLst>
        <pc:spChg chg="mod">
          <ac:chgData name="Manos Manousakas" userId="472fbd7d13858be9" providerId="LiveId" clId="{18BF0762-94E8-4A6B-A634-3860A1919F74}" dt="2026-04-28T13:28:25.674" v="5" actId="20577"/>
          <ac:spMkLst>
            <pc:docMk/>
            <pc:sldMk cId="0" sldId="280"/>
            <ac:spMk id="586" creationId="{00000000-0000-0000-0000-000000000000}"/>
          </ac:spMkLst>
        </pc:spChg>
      </pc:sldChg>
      <pc:sldChg chg="modSp mod">
        <pc:chgData name="Manos Manousakas" userId="472fbd7d13858be9" providerId="LiveId" clId="{18BF0762-94E8-4A6B-A634-3860A1919F74}" dt="2026-04-28T13:29:32.864" v="11" actId="255"/>
        <pc:sldMkLst>
          <pc:docMk/>
          <pc:sldMk cId="0" sldId="287"/>
        </pc:sldMkLst>
        <pc:spChg chg="mod">
          <ac:chgData name="Manos Manousakas" userId="472fbd7d13858be9" providerId="LiveId" clId="{18BF0762-94E8-4A6B-A634-3860A1919F74}" dt="2026-04-28T13:29:32.864" v="11" actId="255"/>
          <ac:spMkLst>
            <pc:docMk/>
            <pc:sldMk cId="0" sldId="287"/>
            <ac:spMk id="721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8T13:29:30.177" v="10" actId="255"/>
          <ac:spMkLst>
            <pc:docMk/>
            <pc:sldMk cId="0" sldId="287"/>
            <ac:spMk id="725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8T13:29:23.514" v="9" actId="27636"/>
          <ac:spMkLst>
            <pc:docMk/>
            <pc:sldMk cId="0" sldId="287"/>
            <ac:spMk id="731" creationId="{00000000-0000-0000-0000-000000000000}"/>
          </ac:spMkLst>
        </pc:spChg>
      </pc:sldChg>
      <pc:sldChg chg="delSp modSp mod">
        <pc:chgData name="Manos Manousakas" userId="472fbd7d13858be9" providerId="LiveId" clId="{18BF0762-94E8-4A6B-A634-3860A1919F74}" dt="2026-04-28T13:31:37.046" v="56" actId="478"/>
        <pc:sldMkLst>
          <pc:docMk/>
          <pc:sldMk cId="0" sldId="291"/>
        </pc:sldMkLst>
        <pc:spChg chg="del">
          <ac:chgData name="Manos Manousakas" userId="472fbd7d13858be9" providerId="LiveId" clId="{18BF0762-94E8-4A6B-A634-3860A1919F74}" dt="2026-04-28T13:31:37.046" v="56" actId="478"/>
          <ac:spMkLst>
            <pc:docMk/>
            <pc:sldMk cId="0" sldId="291"/>
            <ac:spMk id="809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8T13:31:31.732" v="55" actId="255"/>
          <ac:spMkLst>
            <pc:docMk/>
            <pc:sldMk cId="0" sldId="291"/>
            <ac:spMk id="811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8T13:31:06.631" v="52" actId="255"/>
          <ac:spMkLst>
            <pc:docMk/>
            <pc:sldMk cId="0" sldId="291"/>
            <ac:spMk id="813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8T13:31:03.534" v="51" actId="255"/>
          <ac:spMkLst>
            <pc:docMk/>
            <pc:sldMk cId="0" sldId="291"/>
            <ac:spMk id="815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8T13:31:00.768" v="50" actId="255"/>
          <ac:spMkLst>
            <pc:docMk/>
            <pc:sldMk cId="0" sldId="291"/>
            <ac:spMk id="817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8T13:30:58.275" v="49" actId="255"/>
          <ac:spMkLst>
            <pc:docMk/>
            <pc:sldMk cId="0" sldId="291"/>
            <ac:spMk id="819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8T13:30:55.628" v="48" actId="255"/>
          <ac:spMkLst>
            <pc:docMk/>
            <pc:sldMk cId="0" sldId="291"/>
            <ac:spMk id="821" creationId="{00000000-0000-0000-0000-000000000000}"/>
          </ac:spMkLst>
        </pc:spChg>
        <pc:spChg chg="mod">
          <ac:chgData name="Manos Manousakas" userId="472fbd7d13858be9" providerId="LiveId" clId="{18BF0762-94E8-4A6B-A634-3860A1919F74}" dt="2026-04-28T13:30:52.797" v="47" actId="255"/>
          <ac:spMkLst>
            <pc:docMk/>
            <pc:sldMk cId="0" sldId="291"/>
            <ac:spMk id="823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8T13:30:48.879" v="46" actId="478"/>
          <ac:spMkLst>
            <pc:docMk/>
            <pc:sldMk cId="0" sldId="291"/>
            <ac:spMk id="824" creationId="{00000000-0000-0000-0000-000000000000}"/>
          </ac:spMkLst>
        </pc:spChg>
        <pc:spChg chg="del">
          <ac:chgData name="Manos Manousakas" userId="472fbd7d13858be9" providerId="LiveId" clId="{18BF0762-94E8-4A6B-A634-3860A1919F74}" dt="2026-04-28T13:30:48.028" v="45" actId="478"/>
          <ac:spMkLst>
            <pc:docMk/>
            <pc:sldMk cId="0" sldId="291"/>
            <ac:spMk id="82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3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4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82C4E27-D97D-4CB1-8797-DE0C1AFACEE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B1E406-30E1-42CC-AD5A-2A2D9F2461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612AF6-C9FA-41D0-AE44-2ABB8E4ACA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37747EA-E772-4FF2-A22F-CF9A13944E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9619DD-6B29-4048-BEE4-4321EF641A3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8776FF-64EA-4C4A-BF06-E9C234FD737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6B332D-13D7-47A3-A7A3-0D103C716C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E25C9C-C434-4F94-A2CC-6D36202EEE2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2D3E6E-52EF-4BF7-973E-F59D6B6C89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254D0F-4EAB-4337-9C85-1E3CAF3055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7008CE-838B-4FD1-8D39-15DCAED703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9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59A941-6336-4F6B-9D2C-4918C77C5C5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28E5A4C-4DA6-4908-A738-6F3669103E8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5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EB5025-2EA9-459F-84C5-46FD5F82F4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8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17E6795-1BA5-4AA2-B63C-B8BD048DF4B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81D914-36C5-4F61-9C4B-BEE65E4603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DB7610-D93E-4874-B6A2-29EF2DAD35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F0E8583-9B1E-408B-A71E-856BD4CF70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00B7C2-C3CF-4BEA-AD31-C6899AFA6A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9C82CA-28CA-4359-AD0D-6C3E54DE16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4D72CF-2617-4CA3-8452-23E37B0B97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89C700-791F-48B1-B1C3-7C207B28B2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E0FB1D6-3C7A-4552-B0F4-2EECADB553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8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623494-0843-498A-B4AB-05866D38B2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568B98-850C-4C56-A91F-7C1F5F40C1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1D5F70-37F0-4074-8732-87CD969338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5C37B2-17F9-4FB4-9E0E-ABDD1410E7C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31A47A-4CA4-4DDE-9DD8-449B2E989D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F32519-1531-4C7E-85B7-982F15CECD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6E4FC5-BB98-4984-9551-3F7F2932028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4C970E1-10C4-4921-AC00-02B8D3E3ABB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284635-1CCF-4242-AF4A-07D16B7838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D40A80-B04F-4B00-8D93-9FD16F5C2B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5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A26D37-9BB9-437E-86BD-F7EF4ACDAD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C54C55-8988-423E-BED8-D8C86A14284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0B922B-52A1-4081-808E-BA54D1375B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4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093634-C3AB-459E-9D4E-A461A28CA37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M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563C00C6-6D7A-4468-B494-1DA12FCB737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12191400" cy="164160"/>
          </a:xfrm>
          <a:prstGeom prst="rect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" name="Shape 1"/>
          <p:cNvSpPr/>
          <p:nvPr/>
        </p:nvSpPr>
        <p:spPr>
          <a:xfrm>
            <a:off x="502920" y="6473880"/>
            <a:ext cx="11155680" cy="360"/>
          </a:xfrm>
          <a:prstGeom prst="line">
            <a:avLst/>
          </a:prstGeom>
          <a:ln w="936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Text 2"/>
          <p:cNvSpPr/>
          <p:nvPr/>
        </p:nvSpPr>
        <p:spPr>
          <a:xfrm>
            <a:off x="502920" y="6546960"/>
            <a:ext cx="6400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8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PM Sampling and PM Analysis</a:t>
            </a:r>
            <a:endParaRPr lang="en-US" sz="6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Num" idx="1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DC97065-1899-42B5-A3FC-616582924512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‹#›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9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1"/>
          <p:cNvSpPr/>
          <p:nvPr/>
        </p:nvSpPr>
        <p:spPr>
          <a:xfrm>
            <a:off x="7498080" y="-1097280"/>
            <a:ext cx="5120280" cy="512028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145A73">
                <a:alpha val="7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8046720" y="-502920"/>
            <a:ext cx="4023000" cy="4023000"/>
          </a:xfrm>
          <a:prstGeom prst="arc">
            <a:avLst>
              <a:gd name="adj1" fmla="val 16200000"/>
              <a:gd name="adj2" fmla="val 0"/>
            </a:avLst>
          </a:prstGeom>
          <a:noFill/>
          <a:ln w="25560">
            <a:solidFill>
              <a:srgbClr val="087E8B">
                <a:alpha val="55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7772400" y="1234440"/>
            <a:ext cx="145800" cy="145800"/>
          </a:xfrm>
          <a:prstGeom prst="ellipse">
            <a:avLst/>
          </a:prstGeom>
          <a:solidFill>
            <a:srgbClr val="087E8B">
              <a:alpha val="80000"/>
            </a:srgbClr>
          </a:solidFill>
          <a:ln w="12600">
            <a:solidFill>
              <a:srgbClr val="087E8B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8595360" y="1508760"/>
            <a:ext cx="100080" cy="1000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600">
            <a:solidFill>
              <a:srgbClr val="F59E0B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9601200" y="1280160"/>
            <a:ext cx="200880" cy="200880"/>
          </a:xfrm>
          <a:prstGeom prst="ellipse">
            <a:avLst/>
          </a:prstGeom>
          <a:solidFill>
            <a:srgbClr val="2A6F97">
              <a:alpha val="80000"/>
            </a:srgbClr>
          </a:solidFill>
          <a:ln w="12600">
            <a:solidFill>
              <a:srgbClr val="2A6F97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6"/>
          <p:cNvSpPr/>
          <p:nvPr/>
        </p:nvSpPr>
        <p:spPr>
          <a:xfrm>
            <a:off x="8229600" y="2148840"/>
            <a:ext cx="255600" cy="255600"/>
          </a:xfrm>
          <a:prstGeom prst="ellipse">
            <a:avLst/>
          </a:prstGeom>
          <a:solidFill>
            <a:srgbClr val="D95D39">
              <a:alpha val="80000"/>
            </a:srgbClr>
          </a:solidFill>
          <a:ln w="12600">
            <a:solidFill>
              <a:srgbClr val="D95D39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7"/>
          <p:cNvSpPr/>
          <p:nvPr/>
        </p:nvSpPr>
        <p:spPr>
          <a:xfrm>
            <a:off x="9098280" y="2286000"/>
            <a:ext cx="72720" cy="72720"/>
          </a:xfrm>
          <a:prstGeom prst="ellipse">
            <a:avLst/>
          </a:prstGeom>
          <a:solidFill>
            <a:srgbClr val="3A7D44">
              <a:alpha val="80000"/>
            </a:srgbClr>
          </a:solidFill>
          <a:ln w="12600">
            <a:solidFill>
              <a:srgbClr val="3A7D44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8"/>
          <p:cNvSpPr/>
          <p:nvPr/>
        </p:nvSpPr>
        <p:spPr>
          <a:xfrm>
            <a:off x="10012680" y="2103120"/>
            <a:ext cx="127800" cy="127800"/>
          </a:xfrm>
          <a:prstGeom prst="ellipse">
            <a:avLst/>
          </a:prstGeom>
          <a:solidFill>
            <a:srgbClr val="7057A3">
              <a:alpha val="80000"/>
            </a:srgbClr>
          </a:solidFill>
          <a:ln w="12600">
            <a:solidFill>
              <a:srgbClr val="7057A3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9"/>
          <p:cNvSpPr/>
          <p:nvPr/>
        </p:nvSpPr>
        <p:spPr>
          <a:xfrm>
            <a:off x="7818120" y="2971800"/>
            <a:ext cx="82080" cy="820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600">
            <a:solidFill>
              <a:srgbClr val="F59E0B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0"/>
          <p:cNvSpPr/>
          <p:nvPr/>
        </p:nvSpPr>
        <p:spPr>
          <a:xfrm>
            <a:off x="8595360" y="3200400"/>
            <a:ext cx="182520" cy="182520"/>
          </a:xfrm>
          <a:prstGeom prst="ellipse">
            <a:avLst/>
          </a:prstGeom>
          <a:solidFill>
            <a:srgbClr val="087E8B">
              <a:alpha val="80000"/>
            </a:srgbClr>
          </a:solidFill>
          <a:ln w="12600">
            <a:solidFill>
              <a:srgbClr val="087E8B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1"/>
          <p:cNvSpPr/>
          <p:nvPr/>
        </p:nvSpPr>
        <p:spPr>
          <a:xfrm>
            <a:off x="9509760" y="2971800"/>
            <a:ext cx="91080" cy="91080"/>
          </a:xfrm>
          <a:prstGeom prst="ellipse">
            <a:avLst/>
          </a:prstGeom>
          <a:solidFill>
            <a:srgbClr val="2A6F97">
              <a:alpha val="80000"/>
            </a:srgbClr>
          </a:solidFill>
          <a:ln w="12600">
            <a:solidFill>
              <a:srgbClr val="2A6F97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2"/>
          <p:cNvSpPr/>
          <p:nvPr/>
        </p:nvSpPr>
        <p:spPr>
          <a:xfrm>
            <a:off x="10149840" y="3474720"/>
            <a:ext cx="273960" cy="273960"/>
          </a:xfrm>
          <a:prstGeom prst="ellipse">
            <a:avLst/>
          </a:prstGeom>
          <a:solidFill>
            <a:srgbClr val="3A7D44">
              <a:alpha val="80000"/>
            </a:srgbClr>
          </a:solidFill>
          <a:ln w="12600">
            <a:solidFill>
              <a:srgbClr val="3A7D44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8229600" y="3749040"/>
            <a:ext cx="109440" cy="109440"/>
          </a:xfrm>
          <a:prstGeom prst="ellipse">
            <a:avLst/>
          </a:prstGeom>
          <a:solidFill>
            <a:srgbClr val="D95D39">
              <a:alpha val="80000"/>
            </a:srgbClr>
          </a:solidFill>
          <a:ln w="12600">
            <a:solidFill>
              <a:srgbClr val="D95D39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731520" y="1188720"/>
            <a:ext cx="713196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Particulate Matter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Sampling and Analysis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749880" y="2788920"/>
            <a:ext cx="7040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CFE7EF"/>
                </a:solidFill>
                <a:effectLst/>
                <a:uFillTx/>
                <a:latin typeface="Aptos"/>
              </a:rPr>
              <a:t>PM sampling, gravimetry and chemical analysis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6"/>
          <p:cNvSpPr/>
          <p:nvPr/>
        </p:nvSpPr>
        <p:spPr>
          <a:xfrm>
            <a:off x="749520" y="3309840"/>
            <a:ext cx="2286000" cy="360"/>
          </a:xfrm>
          <a:prstGeom prst="line">
            <a:avLst/>
          </a:prstGeom>
          <a:ln w="3816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7"/>
          <p:cNvSpPr/>
          <p:nvPr/>
        </p:nvSpPr>
        <p:spPr>
          <a:xfrm>
            <a:off x="749880" y="3657600"/>
            <a:ext cx="4754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Manos Manousakas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8"/>
          <p:cNvSpPr/>
          <p:nvPr/>
        </p:nvSpPr>
        <p:spPr>
          <a:xfrm>
            <a:off x="749880" y="4005000"/>
            <a:ext cx="5028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DECF1"/>
                </a:solidFill>
                <a:effectLst/>
                <a:uFillTx/>
                <a:latin typeface="Aptos"/>
              </a:rPr>
              <a:t>NCSR “Demokritos”, Greece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749880" y="6263640"/>
            <a:ext cx="32914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 dirty="0" err="1">
                <a:solidFill>
                  <a:srgbClr val="BBD3DC"/>
                </a:solidFill>
                <a:effectLst/>
                <a:uFillTx/>
                <a:latin typeface="Aptos"/>
              </a:rPr>
              <a:t>NextAIRE</a:t>
            </a:r>
            <a:endParaRPr lang="en-US" sz="8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Scope of the presentation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OVERVIEW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685800" y="960120"/>
            <a:ext cx="10698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This deck covers how to collect representative PM samples and how to convert them into reliable mass and chemical-composition data.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685800" y="1691640"/>
            <a:ext cx="352008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5"/>
          <p:cNvSpPr/>
          <p:nvPr/>
        </p:nvSpPr>
        <p:spPr>
          <a:xfrm>
            <a:off x="914400" y="1920240"/>
            <a:ext cx="438480" cy="4384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914400" y="20206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1463040" y="192024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Sampling design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914400" y="246888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Choose PM fraction, locations, duration, filter media and field QA/QC based on the scientific or regulatory question.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9"/>
          <p:cNvSpPr/>
          <p:nvPr/>
        </p:nvSpPr>
        <p:spPr>
          <a:xfrm>
            <a:off x="4343400" y="1691640"/>
            <a:ext cx="352008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0"/>
          <p:cNvSpPr/>
          <p:nvPr/>
        </p:nvSpPr>
        <p:spPr>
          <a:xfrm>
            <a:off x="4572000" y="1920240"/>
            <a:ext cx="438480" cy="438480"/>
          </a:xfrm>
          <a:prstGeom prst="ellipse">
            <a:avLst/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4572000" y="20206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2"/>
          <p:cNvSpPr/>
          <p:nvPr/>
        </p:nvSpPr>
        <p:spPr>
          <a:xfrm>
            <a:off x="5120640" y="192024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Mass concentration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3"/>
          <p:cNvSpPr/>
          <p:nvPr/>
        </p:nvSpPr>
        <p:spPr>
          <a:xfrm>
            <a:off x="4572000" y="246888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Measure PM mass using controlled filter conditioning, gravimetric weighing, flow checks and blank correction.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4"/>
          <p:cNvSpPr/>
          <p:nvPr/>
        </p:nvSpPr>
        <p:spPr>
          <a:xfrm>
            <a:off x="8001000" y="1691640"/>
            <a:ext cx="352008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5"/>
          <p:cNvSpPr/>
          <p:nvPr/>
        </p:nvSpPr>
        <p:spPr>
          <a:xfrm>
            <a:off x="8229600" y="1920240"/>
            <a:ext cx="438480" cy="4384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8229600" y="20206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8778240" y="192024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Chemical analysis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8229600" y="2468880"/>
            <a:ext cx="30628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Analyze filters for elements, ions, carbonaceous material, organics and optical properties using complementary methods.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9"/>
          <p:cNvSpPr/>
          <p:nvPr/>
        </p:nvSpPr>
        <p:spPr>
          <a:xfrm>
            <a:off x="2606040" y="4069080"/>
            <a:ext cx="352008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0"/>
          <p:cNvSpPr/>
          <p:nvPr/>
        </p:nvSpPr>
        <p:spPr>
          <a:xfrm>
            <a:off x="2834640" y="4297680"/>
            <a:ext cx="438480" cy="438480"/>
          </a:xfrm>
          <a:prstGeom prst="ellipse">
            <a:avLst/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1"/>
          <p:cNvSpPr/>
          <p:nvPr/>
        </p:nvSpPr>
        <p:spPr>
          <a:xfrm>
            <a:off x="2834640" y="43981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2"/>
          <p:cNvSpPr/>
          <p:nvPr/>
        </p:nvSpPr>
        <p:spPr>
          <a:xfrm>
            <a:off x="3383280" y="429768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Data quality &amp; mass closure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3"/>
          <p:cNvSpPr/>
          <p:nvPr/>
        </p:nvSpPr>
        <p:spPr>
          <a:xfrm>
            <a:off x="2834640" y="484632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Validate the dataset, quantify uncertainties, identify artifacts and reconstruct measured PM mass from major components.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4"/>
          <p:cNvSpPr/>
          <p:nvPr/>
        </p:nvSpPr>
        <p:spPr>
          <a:xfrm>
            <a:off x="6263640" y="4069080"/>
            <a:ext cx="352008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5"/>
          <p:cNvSpPr/>
          <p:nvPr/>
        </p:nvSpPr>
        <p:spPr>
          <a:xfrm>
            <a:off x="6492240" y="4297680"/>
            <a:ext cx="438480" cy="438480"/>
          </a:xfrm>
          <a:prstGeom prst="ellipse">
            <a:avLst/>
          </a:prstGeom>
          <a:solidFill>
            <a:srgbClr val="7057A3"/>
          </a:solidFill>
          <a:ln w="12600">
            <a:solidFill>
              <a:srgbClr val="7057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6"/>
          <p:cNvSpPr/>
          <p:nvPr/>
        </p:nvSpPr>
        <p:spPr>
          <a:xfrm>
            <a:off x="6492240" y="43981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7"/>
          <p:cNvSpPr/>
          <p:nvPr/>
        </p:nvSpPr>
        <p:spPr>
          <a:xfrm>
            <a:off x="7040880" y="4297680"/>
            <a:ext cx="2514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Reporting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8"/>
          <p:cNvSpPr/>
          <p:nvPr/>
        </p:nvSpPr>
        <p:spPr>
          <a:xfrm>
            <a:off x="6492240" y="4846320"/>
            <a:ext cx="3062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Report data transparently: sampling conditions, analytical methods, detection limits, uncertainties and comparability.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sldNum" idx="5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58AF2D7-9668-4987-94F0-B5CD2E8480BA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2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Why PM measurements matter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CONTEXT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3"/>
          <p:cNvSpPr/>
          <p:nvPr/>
        </p:nvSpPr>
        <p:spPr>
          <a:xfrm>
            <a:off x="640080" y="960120"/>
            <a:ext cx="3428640" cy="4297320"/>
          </a:xfrm>
          <a:prstGeom prst="roundRect">
            <a:avLst>
              <a:gd name="adj" fmla="val 2133"/>
            </a:avLst>
          </a:prstGeom>
          <a:solidFill>
            <a:srgbClr val="F3F8FB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"/>
          <p:cNvSpPr/>
          <p:nvPr/>
        </p:nvSpPr>
        <p:spPr>
          <a:xfrm>
            <a:off x="868680" y="12344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Health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5"/>
          <p:cNvSpPr/>
          <p:nvPr/>
        </p:nvSpPr>
        <p:spPr>
          <a:xfrm>
            <a:off x="868680" y="1837800"/>
            <a:ext cx="100080" cy="100080"/>
          </a:xfrm>
          <a:prstGeom prst="ellipse">
            <a:avLst/>
          </a:prstGeom>
          <a:solidFill>
            <a:srgbClr val="D95D39"/>
          </a:solidFill>
          <a:ln w="12600">
            <a:solidFill>
              <a:srgbClr val="D95D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1078920" y="1783080"/>
            <a:ext cx="2624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Inhalable particles reach the respiratory tract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868680" y="2313360"/>
            <a:ext cx="100080" cy="100080"/>
          </a:xfrm>
          <a:prstGeom prst="ellipse">
            <a:avLst/>
          </a:prstGeom>
          <a:solidFill>
            <a:srgbClr val="D95D39"/>
          </a:solidFill>
          <a:ln w="12600">
            <a:solidFill>
              <a:srgbClr val="D95D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8"/>
          <p:cNvSpPr/>
          <p:nvPr/>
        </p:nvSpPr>
        <p:spPr>
          <a:xfrm>
            <a:off x="1078920" y="2258640"/>
            <a:ext cx="2624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Fine particles can penetrate deeply into the lungs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9"/>
          <p:cNvSpPr/>
          <p:nvPr/>
        </p:nvSpPr>
        <p:spPr>
          <a:xfrm>
            <a:off x="868680" y="2788920"/>
            <a:ext cx="100080" cy="100080"/>
          </a:xfrm>
          <a:prstGeom prst="ellipse">
            <a:avLst/>
          </a:prstGeom>
          <a:solidFill>
            <a:srgbClr val="D95D39"/>
          </a:solidFill>
          <a:ln w="12600">
            <a:solidFill>
              <a:srgbClr val="D95D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1078920" y="2734200"/>
            <a:ext cx="2624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Composition matters: metals, carbonaceous material and organics can influence toxicity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1"/>
          <p:cNvSpPr/>
          <p:nvPr/>
        </p:nvSpPr>
        <p:spPr>
          <a:xfrm>
            <a:off x="4389120" y="960120"/>
            <a:ext cx="3428640" cy="4297320"/>
          </a:xfrm>
          <a:prstGeom prst="roundRect">
            <a:avLst>
              <a:gd name="adj" fmla="val 2133"/>
            </a:avLst>
          </a:prstGeom>
          <a:solidFill>
            <a:srgbClr val="F3F8FB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2"/>
          <p:cNvSpPr/>
          <p:nvPr/>
        </p:nvSpPr>
        <p:spPr>
          <a:xfrm>
            <a:off x="4617720" y="12344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Climate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3"/>
          <p:cNvSpPr/>
          <p:nvPr/>
        </p:nvSpPr>
        <p:spPr>
          <a:xfrm>
            <a:off x="4617720" y="1837800"/>
            <a:ext cx="100080" cy="1000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4827960" y="1783080"/>
            <a:ext cx="2624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Scattering and absorbing aerosols alter radiation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5"/>
          <p:cNvSpPr/>
          <p:nvPr/>
        </p:nvSpPr>
        <p:spPr>
          <a:xfrm>
            <a:off x="4617720" y="2313360"/>
            <a:ext cx="100080" cy="1000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6"/>
          <p:cNvSpPr/>
          <p:nvPr/>
        </p:nvSpPr>
        <p:spPr>
          <a:xfrm>
            <a:off x="4827960" y="2258640"/>
            <a:ext cx="2624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Particles act as cloud condensation or ice nuclei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7"/>
          <p:cNvSpPr/>
          <p:nvPr/>
        </p:nvSpPr>
        <p:spPr>
          <a:xfrm>
            <a:off x="4617720" y="2788920"/>
            <a:ext cx="100080" cy="1000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8"/>
          <p:cNvSpPr/>
          <p:nvPr/>
        </p:nvSpPr>
        <p:spPr>
          <a:xfrm>
            <a:off x="4827960" y="2734200"/>
            <a:ext cx="2624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Black carbon absorbs light and warms the atmosphere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9"/>
          <p:cNvSpPr/>
          <p:nvPr/>
        </p:nvSpPr>
        <p:spPr>
          <a:xfrm>
            <a:off x="8138160" y="960120"/>
            <a:ext cx="3428640" cy="4297320"/>
          </a:xfrm>
          <a:prstGeom prst="roundRect">
            <a:avLst>
              <a:gd name="adj" fmla="val 2133"/>
            </a:avLst>
          </a:prstGeom>
          <a:solidFill>
            <a:srgbClr val="F3F8FB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0"/>
          <p:cNvSpPr/>
          <p:nvPr/>
        </p:nvSpPr>
        <p:spPr>
          <a:xfrm>
            <a:off x="8366760" y="123444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Air-quality management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1"/>
          <p:cNvSpPr/>
          <p:nvPr/>
        </p:nvSpPr>
        <p:spPr>
          <a:xfrm>
            <a:off x="8366760" y="183780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2"/>
          <p:cNvSpPr/>
          <p:nvPr/>
        </p:nvSpPr>
        <p:spPr>
          <a:xfrm>
            <a:off x="8577000" y="1783080"/>
            <a:ext cx="2624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Mass concentration tells us how much PM is present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3"/>
          <p:cNvSpPr/>
          <p:nvPr/>
        </p:nvSpPr>
        <p:spPr>
          <a:xfrm>
            <a:off x="8366760" y="231336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4"/>
          <p:cNvSpPr/>
          <p:nvPr/>
        </p:nvSpPr>
        <p:spPr>
          <a:xfrm>
            <a:off x="8577000" y="2258640"/>
            <a:ext cx="2624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Chemical analysis tells us what it is made of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5"/>
          <p:cNvSpPr/>
          <p:nvPr/>
        </p:nvSpPr>
        <p:spPr>
          <a:xfrm>
            <a:off x="8366760" y="278892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6"/>
          <p:cNvSpPr/>
          <p:nvPr/>
        </p:nvSpPr>
        <p:spPr>
          <a:xfrm>
            <a:off x="8577000" y="2734200"/>
            <a:ext cx="26240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Reliable data underpin standards, trends and mitigation plans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27"/>
          <p:cNvSpPr/>
          <p:nvPr/>
        </p:nvSpPr>
        <p:spPr>
          <a:xfrm>
            <a:off x="1325880" y="5559480"/>
            <a:ext cx="9509400" cy="566640"/>
          </a:xfrm>
          <a:prstGeom prst="roundRect">
            <a:avLst>
              <a:gd name="adj" fmla="val 8065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8"/>
          <p:cNvSpPr/>
          <p:nvPr/>
        </p:nvSpPr>
        <p:spPr>
          <a:xfrm>
            <a:off x="1490400" y="5706000"/>
            <a:ext cx="9180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Key point: sampling and analysis quality determines how much confidence we can place in PM trends, exceedances, health assessment and control measures.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sldNum" idx="6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308103F-78F8-474E-A4DF-A04CEF9E5E01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3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Current PM benchmarks used in air-quality assessment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CONTEXT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"/>
          <p:cNvSpPr/>
          <p:nvPr/>
        </p:nvSpPr>
        <p:spPr>
          <a:xfrm>
            <a:off x="640080" y="932760"/>
            <a:ext cx="10881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Reference and guideline values are becoming more stringent, which increases the need for robust sampling, calibration and uncertainty control.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0" name="Table 0"/>
          <p:cNvGraphicFramePr/>
          <p:nvPr/>
        </p:nvGraphicFramePr>
        <p:xfrm>
          <a:off x="640080" y="1508760"/>
          <a:ext cx="10927080" cy="2011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Framework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PM2.5 annual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PM2.5 24-hour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PM10 annual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PM10 24-hour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Use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WHO AQG 2021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5 µg/m³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15 µg/m³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15 µg/m³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45 µg/m³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Health-based guideline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EU revised directive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10 µg/m³ by 2030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20 µg/m³ by 2030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45 µg/m³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Legal limit values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US EPA NAAQS 2024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9.0 µg/m³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35 µg/m³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—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150 µg/m³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National standards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1" name="Shape 4"/>
          <p:cNvSpPr/>
          <p:nvPr/>
        </p:nvSpPr>
        <p:spPr>
          <a:xfrm>
            <a:off x="868680" y="3977640"/>
            <a:ext cx="5120280" cy="1142640"/>
          </a:xfrm>
          <a:prstGeom prst="roundRect">
            <a:avLst>
              <a:gd name="adj" fmla="val 4000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1033200" y="4123800"/>
            <a:ext cx="4791240" cy="8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For training purposes, compare measured concentrations with the framework relevant to your study area. Always check the applicable national transposition, averaging time and data-capture requirements.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6263640" y="3977640"/>
            <a:ext cx="5120280" cy="1142640"/>
          </a:xfrm>
          <a:prstGeom prst="roundRect">
            <a:avLst>
              <a:gd name="adj" fmla="val 4000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7"/>
          <p:cNvSpPr/>
          <p:nvPr/>
        </p:nvSpPr>
        <p:spPr>
          <a:xfrm>
            <a:off x="6428160" y="4123800"/>
            <a:ext cx="4791240" cy="84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The lower the benchmark, the more important it becomes to document blanks, flow uncertainty, weighing repeatability and chemical-method detection limits.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7772400" y="6245280"/>
            <a:ext cx="38858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7A8790"/>
                </a:solidFill>
                <a:effectLst/>
                <a:uFillTx/>
                <a:latin typeface="Aptos"/>
              </a:rPr>
              <a:t>Sources: WHO AQG 2021; European Commission AAQD 2024; US EPA PM NAAQS 2024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sldNum" idx="7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123C5AF-F04F-4AC6-B957-F8FB972FE59F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4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What are aerosols and particulate matter?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BASICS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731520" y="960120"/>
            <a:ext cx="7497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Aerosols are liquid or solid particles suspended in a gas. In ambient air, we commonly refer to these particles as particulate matter (PM).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4"/>
          <p:cNvSpPr/>
          <p:nvPr/>
        </p:nvSpPr>
        <p:spPr>
          <a:xfrm>
            <a:off x="8321040" y="1005840"/>
            <a:ext cx="145800" cy="145800"/>
          </a:xfrm>
          <a:prstGeom prst="ellipse">
            <a:avLst/>
          </a:prstGeom>
          <a:solidFill>
            <a:srgbClr val="087E8B">
              <a:alpha val="80000"/>
            </a:srgbClr>
          </a:solidFill>
          <a:ln w="12600">
            <a:solidFill>
              <a:srgbClr val="087E8B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9144000" y="1280160"/>
            <a:ext cx="100080" cy="1000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600">
            <a:solidFill>
              <a:srgbClr val="F59E0B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10149840" y="1051560"/>
            <a:ext cx="200880" cy="200880"/>
          </a:xfrm>
          <a:prstGeom prst="ellipse">
            <a:avLst/>
          </a:prstGeom>
          <a:solidFill>
            <a:srgbClr val="2A6F97">
              <a:alpha val="80000"/>
            </a:srgbClr>
          </a:solidFill>
          <a:ln w="12600">
            <a:solidFill>
              <a:srgbClr val="2A6F97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8778240" y="1920240"/>
            <a:ext cx="255600" cy="255600"/>
          </a:xfrm>
          <a:prstGeom prst="ellipse">
            <a:avLst/>
          </a:prstGeom>
          <a:solidFill>
            <a:srgbClr val="D95D39">
              <a:alpha val="80000"/>
            </a:srgbClr>
          </a:solidFill>
          <a:ln w="12600">
            <a:solidFill>
              <a:srgbClr val="D95D39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8"/>
          <p:cNvSpPr/>
          <p:nvPr/>
        </p:nvSpPr>
        <p:spPr>
          <a:xfrm>
            <a:off x="9646920" y="2057400"/>
            <a:ext cx="72720" cy="72720"/>
          </a:xfrm>
          <a:prstGeom prst="ellipse">
            <a:avLst/>
          </a:prstGeom>
          <a:solidFill>
            <a:srgbClr val="3A7D44">
              <a:alpha val="80000"/>
            </a:srgbClr>
          </a:solidFill>
          <a:ln w="12600">
            <a:solidFill>
              <a:srgbClr val="3A7D44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9"/>
          <p:cNvSpPr/>
          <p:nvPr/>
        </p:nvSpPr>
        <p:spPr>
          <a:xfrm>
            <a:off x="10561320" y="1874520"/>
            <a:ext cx="127800" cy="127800"/>
          </a:xfrm>
          <a:prstGeom prst="ellipse">
            <a:avLst/>
          </a:prstGeom>
          <a:solidFill>
            <a:srgbClr val="7057A3">
              <a:alpha val="80000"/>
            </a:srgbClr>
          </a:solidFill>
          <a:ln w="12600">
            <a:solidFill>
              <a:srgbClr val="7057A3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8366760" y="2743200"/>
            <a:ext cx="82080" cy="82080"/>
          </a:xfrm>
          <a:prstGeom prst="ellipse">
            <a:avLst/>
          </a:prstGeom>
          <a:solidFill>
            <a:srgbClr val="F59E0B">
              <a:alpha val="80000"/>
            </a:srgbClr>
          </a:solidFill>
          <a:ln w="12600">
            <a:solidFill>
              <a:srgbClr val="F59E0B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3320" rIns="90000" bIns="13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9144000" y="2971800"/>
            <a:ext cx="182520" cy="182520"/>
          </a:xfrm>
          <a:prstGeom prst="ellipse">
            <a:avLst/>
          </a:prstGeom>
          <a:solidFill>
            <a:srgbClr val="087E8B">
              <a:alpha val="80000"/>
            </a:srgbClr>
          </a:solidFill>
          <a:ln w="12600">
            <a:solidFill>
              <a:srgbClr val="087E8B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2"/>
          <p:cNvSpPr/>
          <p:nvPr/>
        </p:nvSpPr>
        <p:spPr>
          <a:xfrm>
            <a:off x="10058400" y="2743200"/>
            <a:ext cx="91080" cy="91080"/>
          </a:xfrm>
          <a:prstGeom prst="ellipse">
            <a:avLst/>
          </a:prstGeom>
          <a:solidFill>
            <a:srgbClr val="2A6F97">
              <a:alpha val="80000"/>
            </a:srgbClr>
          </a:solidFill>
          <a:ln w="12600">
            <a:solidFill>
              <a:srgbClr val="2A6F97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440" rIns="90000" bIns="194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3"/>
          <p:cNvSpPr/>
          <p:nvPr/>
        </p:nvSpPr>
        <p:spPr>
          <a:xfrm>
            <a:off x="10698480" y="3246120"/>
            <a:ext cx="273960" cy="273960"/>
          </a:xfrm>
          <a:prstGeom prst="ellipse">
            <a:avLst/>
          </a:prstGeom>
          <a:solidFill>
            <a:srgbClr val="3A7D44">
              <a:alpha val="80000"/>
            </a:srgbClr>
          </a:solidFill>
          <a:ln w="12600">
            <a:solidFill>
              <a:srgbClr val="3A7D44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4"/>
          <p:cNvSpPr/>
          <p:nvPr/>
        </p:nvSpPr>
        <p:spPr>
          <a:xfrm>
            <a:off x="8778240" y="3520440"/>
            <a:ext cx="109440" cy="109440"/>
          </a:xfrm>
          <a:prstGeom prst="ellipse">
            <a:avLst/>
          </a:prstGeom>
          <a:solidFill>
            <a:srgbClr val="D95D39">
              <a:alpha val="80000"/>
            </a:srgbClr>
          </a:solidFill>
          <a:ln w="12600">
            <a:solidFill>
              <a:srgbClr val="D95D39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2760" rIns="90000" bIns="3276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5"/>
          <p:cNvSpPr/>
          <p:nvPr/>
        </p:nvSpPr>
        <p:spPr>
          <a:xfrm>
            <a:off x="731520" y="1874520"/>
            <a:ext cx="342864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6"/>
          <p:cNvSpPr/>
          <p:nvPr/>
        </p:nvSpPr>
        <p:spPr>
          <a:xfrm>
            <a:off x="960120" y="2103120"/>
            <a:ext cx="438480" cy="4384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960120" y="22035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8"/>
          <p:cNvSpPr/>
          <p:nvPr/>
        </p:nvSpPr>
        <p:spPr>
          <a:xfrm>
            <a:off x="1508760" y="210312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Dust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960120" y="2651760"/>
            <a:ext cx="2971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Solid particles formed by mechanical disintegration of parent material: soil, road dust, construction dust, mineral dust.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0"/>
          <p:cNvSpPr/>
          <p:nvPr/>
        </p:nvSpPr>
        <p:spPr>
          <a:xfrm>
            <a:off x="4389120" y="1874520"/>
            <a:ext cx="342864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1"/>
          <p:cNvSpPr/>
          <p:nvPr/>
        </p:nvSpPr>
        <p:spPr>
          <a:xfrm>
            <a:off x="4617720" y="2103120"/>
            <a:ext cx="438480" cy="438480"/>
          </a:xfrm>
          <a:prstGeom prst="ellipse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22"/>
          <p:cNvSpPr/>
          <p:nvPr/>
        </p:nvSpPr>
        <p:spPr>
          <a:xfrm>
            <a:off x="4617720" y="22035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3"/>
          <p:cNvSpPr/>
          <p:nvPr/>
        </p:nvSpPr>
        <p:spPr>
          <a:xfrm>
            <a:off x="5166360" y="210312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Smoke and soot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4617720" y="2651760"/>
            <a:ext cx="2971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Combustion aerosols from fossil fuel, biomass burning and industrial processes. Often carbon-rich and light absorbing.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25"/>
          <p:cNvSpPr/>
          <p:nvPr/>
        </p:nvSpPr>
        <p:spPr>
          <a:xfrm>
            <a:off x="8046720" y="1874520"/>
            <a:ext cx="342864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6"/>
          <p:cNvSpPr/>
          <p:nvPr/>
        </p:nvSpPr>
        <p:spPr>
          <a:xfrm>
            <a:off x="8275320" y="2103120"/>
            <a:ext cx="438480" cy="4384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7"/>
          <p:cNvSpPr/>
          <p:nvPr/>
        </p:nvSpPr>
        <p:spPr>
          <a:xfrm>
            <a:off x="8275320" y="22035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8"/>
          <p:cNvSpPr/>
          <p:nvPr/>
        </p:nvSpPr>
        <p:spPr>
          <a:xfrm>
            <a:off x="8823960" y="210312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Mist and droplets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9"/>
          <p:cNvSpPr/>
          <p:nvPr/>
        </p:nvSpPr>
        <p:spPr>
          <a:xfrm>
            <a:off x="8275320" y="2651760"/>
            <a:ext cx="2971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Liquid aerosol formed by condensation, atomization or hygroscopic growth of salts and inorganic aerosols.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0"/>
          <p:cNvSpPr/>
          <p:nvPr/>
        </p:nvSpPr>
        <p:spPr>
          <a:xfrm>
            <a:off x="1371600" y="4800600"/>
            <a:ext cx="9509400" cy="639720"/>
          </a:xfrm>
          <a:prstGeom prst="roundRect">
            <a:avLst>
              <a:gd name="adj" fmla="val 7143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1"/>
          <p:cNvSpPr/>
          <p:nvPr/>
        </p:nvSpPr>
        <p:spPr>
          <a:xfrm>
            <a:off x="1536120" y="4946760"/>
            <a:ext cx="91803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Ambient PM is a mixture: primary emitted particles plus secondary particles formed in the atmosphere from gases such as SO₂, NOx, NH₃ and VOCs.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sldNum" idx="8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DD73C68-3875-4D6C-9C4C-BBAD6585547D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5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PM is characterized by aerodynamic size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BASICS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3"/>
          <p:cNvSpPr/>
          <p:nvPr/>
        </p:nvSpPr>
        <p:spPr>
          <a:xfrm>
            <a:off x="685800" y="960120"/>
            <a:ext cx="106981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Size determines where particles deposit, how they are sampled, and which chemical processes dominate.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4"/>
          <p:cNvSpPr/>
          <p:nvPr/>
        </p:nvSpPr>
        <p:spPr>
          <a:xfrm>
            <a:off x="960120" y="3886200"/>
            <a:ext cx="9966960" cy="360"/>
          </a:xfrm>
          <a:prstGeom prst="line">
            <a:avLst/>
          </a:prstGeom>
          <a:ln w="2556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5"/>
          <p:cNvSpPr/>
          <p:nvPr/>
        </p:nvSpPr>
        <p:spPr>
          <a:xfrm>
            <a:off x="1097280" y="3767040"/>
            <a:ext cx="360" cy="246960"/>
          </a:xfrm>
          <a:prstGeom prst="line">
            <a:avLst/>
          </a:prstGeom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6"/>
          <p:cNvSpPr/>
          <p:nvPr/>
        </p:nvSpPr>
        <p:spPr>
          <a:xfrm>
            <a:off x="777240" y="408744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0.001 µm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7"/>
          <p:cNvSpPr/>
          <p:nvPr/>
        </p:nvSpPr>
        <p:spPr>
          <a:xfrm>
            <a:off x="2880360" y="3767040"/>
            <a:ext cx="360" cy="246960"/>
          </a:xfrm>
          <a:prstGeom prst="line">
            <a:avLst/>
          </a:prstGeom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8"/>
          <p:cNvSpPr/>
          <p:nvPr/>
        </p:nvSpPr>
        <p:spPr>
          <a:xfrm>
            <a:off x="2560320" y="408744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0.01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9"/>
          <p:cNvSpPr/>
          <p:nvPr/>
        </p:nvSpPr>
        <p:spPr>
          <a:xfrm>
            <a:off x="4663440" y="3767040"/>
            <a:ext cx="360" cy="246960"/>
          </a:xfrm>
          <a:prstGeom prst="line">
            <a:avLst/>
          </a:prstGeom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4343400" y="408744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0.1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1"/>
          <p:cNvSpPr/>
          <p:nvPr/>
        </p:nvSpPr>
        <p:spPr>
          <a:xfrm>
            <a:off x="6446520" y="3767040"/>
            <a:ext cx="360" cy="246960"/>
          </a:xfrm>
          <a:prstGeom prst="line">
            <a:avLst/>
          </a:prstGeom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2"/>
          <p:cNvSpPr/>
          <p:nvPr/>
        </p:nvSpPr>
        <p:spPr>
          <a:xfrm>
            <a:off x="6126480" y="408744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1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3"/>
          <p:cNvSpPr/>
          <p:nvPr/>
        </p:nvSpPr>
        <p:spPr>
          <a:xfrm>
            <a:off x="8229600" y="3767040"/>
            <a:ext cx="360" cy="246960"/>
          </a:xfrm>
          <a:prstGeom prst="line">
            <a:avLst/>
          </a:prstGeom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4"/>
          <p:cNvSpPr/>
          <p:nvPr/>
        </p:nvSpPr>
        <p:spPr>
          <a:xfrm>
            <a:off x="7909560" y="408744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10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5"/>
          <p:cNvSpPr/>
          <p:nvPr/>
        </p:nvSpPr>
        <p:spPr>
          <a:xfrm>
            <a:off x="10058400" y="3767040"/>
            <a:ext cx="360" cy="246960"/>
          </a:xfrm>
          <a:prstGeom prst="line">
            <a:avLst/>
          </a:prstGeom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6"/>
          <p:cNvSpPr/>
          <p:nvPr/>
        </p:nvSpPr>
        <p:spPr>
          <a:xfrm>
            <a:off x="9738360" y="4087440"/>
            <a:ext cx="7311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100 µm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17"/>
          <p:cNvSpPr/>
          <p:nvPr/>
        </p:nvSpPr>
        <p:spPr>
          <a:xfrm>
            <a:off x="1097280" y="1920240"/>
            <a:ext cx="3565800" cy="347040"/>
          </a:xfrm>
          <a:prstGeom prst="roundRect">
            <a:avLst>
              <a:gd name="adj" fmla="val 21053"/>
            </a:avLst>
          </a:prstGeom>
          <a:solidFill>
            <a:srgbClr val="7057A3"/>
          </a:solidFill>
          <a:ln w="12600">
            <a:solidFill>
              <a:srgbClr val="7057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8"/>
          <p:cNvSpPr/>
          <p:nvPr/>
        </p:nvSpPr>
        <p:spPr>
          <a:xfrm>
            <a:off x="1097280" y="2020680"/>
            <a:ext cx="356580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Ultrafine / nuclei mode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9"/>
          <p:cNvSpPr/>
          <p:nvPr/>
        </p:nvSpPr>
        <p:spPr>
          <a:xfrm>
            <a:off x="4663440" y="2606040"/>
            <a:ext cx="1828440" cy="347040"/>
          </a:xfrm>
          <a:prstGeom prst="roundRect">
            <a:avLst>
              <a:gd name="adj" fmla="val 21053"/>
            </a:avLst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0"/>
          <p:cNvSpPr/>
          <p:nvPr/>
        </p:nvSpPr>
        <p:spPr>
          <a:xfrm>
            <a:off x="4663440" y="2706480"/>
            <a:ext cx="18284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Accumulation mode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1"/>
          <p:cNvSpPr/>
          <p:nvPr/>
        </p:nvSpPr>
        <p:spPr>
          <a:xfrm>
            <a:off x="1097280" y="3291840"/>
            <a:ext cx="5988960" cy="347040"/>
          </a:xfrm>
          <a:prstGeom prst="roundRect">
            <a:avLst>
              <a:gd name="adj" fmla="val 21053"/>
            </a:avLst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2"/>
          <p:cNvSpPr/>
          <p:nvPr/>
        </p:nvSpPr>
        <p:spPr>
          <a:xfrm>
            <a:off x="1097280" y="3392280"/>
            <a:ext cx="5988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Fine PM / PM2.5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3"/>
          <p:cNvSpPr/>
          <p:nvPr/>
        </p:nvSpPr>
        <p:spPr>
          <a:xfrm>
            <a:off x="7086600" y="1920240"/>
            <a:ext cx="2057040" cy="347040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4"/>
          <p:cNvSpPr/>
          <p:nvPr/>
        </p:nvSpPr>
        <p:spPr>
          <a:xfrm>
            <a:off x="7086600" y="2020680"/>
            <a:ext cx="20570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Coarse PM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5"/>
          <p:cNvSpPr/>
          <p:nvPr/>
        </p:nvSpPr>
        <p:spPr>
          <a:xfrm>
            <a:off x="1097280" y="4846320"/>
            <a:ext cx="7131960" cy="347040"/>
          </a:xfrm>
          <a:prstGeom prst="roundRect">
            <a:avLst>
              <a:gd name="adj" fmla="val 21053"/>
            </a:avLst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6"/>
          <p:cNvSpPr/>
          <p:nvPr/>
        </p:nvSpPr>
        <p:spPr>
          <a:xfrm>
            <a:off x="1097280" y="4946760"/>
            <a:ext cx="7131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PM10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7"/>
          <p:cNvSpPr/>
          <p:nvPr/>
        </p:nvSpPr>
        <p:spPr>
          <a:xfrm>
            <a:off x="1097280" y="5394960"/>
            <a:ext cx="9143640" cy="347040"/>
          </a:xfrm>
          <a:prstGeom prst="roundRect">
            <a:avLst>
              <a:gd name="adj" fmla="val 21053"/>
            </a:avLst>
          </a:prstGeom>
          <a:solidFill>
            <a:srgbClr val="4B5563"/>
          </a:solidFill>
          <a:ln w="12600">
            <a:solidFill>
              <a:srgbClr val="4B55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28"/>
          <p:cNvSpPr/>
          <p:nvPr/>
        </p:nvSpPr>
        <p:spPr>
          <a:xfrm>
            <a:off x="1097280" y="5495400"/>
            <a:ext cx="914364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TSP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29"/>
          <p:cNvSpPr/>
          <p:nvPr/>
        </p:nvSpPr>
        <p:spPr>
          <a:xfrm>
            <a:off x="7790328" y="2514600"/>
            <a:ext cx="3931560" cy="776880"/>
          </a:xfrm>
          <a:prstGeom prst="roundRect">
            <a:avLst>
              <a:gd name="adj" fmla="val 5882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0"/>
          <p:cNvSpPr/>
          <p:nvPr/>
        </p:nvSpPr>
        <p:spPr>
          <a:xfrm>
            <a:off x="8055720" y="2660940"/>
            <a:ext cx="3602520" cy="48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Aptos"/>
              </a:rPr>
              <a:t>Aerodynamic diameter is not simply geometric size: it describes how a particle behaves in air and through size-selective inlets.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sldNum" idx="9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825B70D-3014-4009-BB63-A6A4BA54CC23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6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Why size-selective sampling is essential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BASICS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"/>
          <p:cNvSpPr/>
          <p:nvPr/>
        </p:nvSpPr>
        <p:spPr>
          <a:xfrm>
            <a:off x="685800" y="960120"/>
            <a:ext cx="10698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Different size fractions represent different exposure pathways and sources, so PM10, PM2.5, PM1 and ultrafine-particle measurements answer different questions.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731520" y="1737360"/>
            <a:ext cx="3337200" cy="1965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"/>
          <p:cNvSpPr/>
          <p:nvPr/>
        </p:nvSpPr>
        <p:spPr>
          <a:xfrm>
            <a:off x="960120" y="1965960"/>
            <a:ext cx="438480" cy="438480"/>
          </a:xfrm>
          <a:prstGeom prst="ellipse">
            <a:avLst/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6"/>
          <p:cNvSpPr/>
          <p:nvPr/>
        </p:nvSpPr>
        <p:spPr>
          <a:xfrm>
            <a:off x="960120" y="206640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1508760" y="196596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PM10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960120" y="2514600"/>
            <a:ext cx="28800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Inhalable fraction. Includes coarse particles such as crustal material, sea salt, road dust and some biological particles.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9"/>
          <p:cNvSpPr/>
          <p:nvPr/>
        </p:nvSpPr>
        <p:spPr>
          <a:xfrm>
            <a:off x="4434840" y="1737360"/>
            <a:ext cx="3337200" cy="1965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0"/>
          <p:cNvSpPr/>
          <p:nvPr/>
        </p:nvSpPr>
        <p:spPr>
          <a:xfrm>
            <a:off x="4663440" y="1965960"/>
            <a:ext cx="438480" cy="438480"/>
          </a:xfrm>
          <a:prstGeom prst="ellipse">
            <a:avLst/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1"/>
          <p:cNvSpPr/>
          <p:nvPr/>
        </p:nvSpPr>
        <p:spPr>
          <a:xfrm>
            <a:off x="4663440" y="206640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5212080" y="196596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PM2.5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4663440" y="2514600"/>
            <a:ext cx="28800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Fine particles. Often enriched in combustion products, secondary inorganic aerosol, organic aerosol and long-range transported material.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4"/>
          <p:cNvSpPr/>
          <p:nvPr/>
        </p:nvSpPr>
        <p:spPr>
          <a:xfrm>
            <a:off x="8138160" y="1737360"/>
            <a:ext cx="3337200" cy="1965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5"/>
          <p:cNvSpPr/>
          <p:nvPr/>
        </p:nvSpPr>
        <p:spPr>
          <a:xfrm>
            <a:off x="8366760" y="1965960"/>
            <a:ext cx="438480" cy="438480"/>
          </a:xfrm>
          <a:prstGeom prst="ellipse">
            <a:avLst/>
          </a:prstGeom>
          <a:solidFill>
            <a:srgbClr val="7057A3"/>
          </a:solidFill>
          <a:ln w="12600">
            <a:solidFill>
              <a:srgbClr val="7057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8366760" y="206640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7"/>
          <p:cNvSpPr/>
          <p:nvPr/>
        </p:nvSpPr>
        <p:spPr>
          <a:xfrm>
            <a:off x="8915400" y="1965960"/>
            <a:ext cx="2331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Ultrafine particles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8"/>
          <p:cNvSpPr/>
          <p:nvPr/>
        </p:nvSpPr>
        <p:spPr>
          <a:xfrm>
            <a:off x="8366760" y="2514600"/>
            <a:ext cx="28800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Very small particles, often reported by number concentration rather than mass; relevant for fresh emissions and nucleation processes.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9"/>
          <p:cNvSpPr/>
          <p:nvPr/>
        </p:nvSpPr>
        <p:spPr>
          <a:xfrm>
            <a:off x="1097280" y="4709160"/>
            <a:ext cx="10012320" cy="685440"/>
          </a:xfrm>
          <a:prstGeom prst="roundRect">
            <a:avLst>
              <a:gd name="adj" fmla="val 6667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0"/>
          <p:cNvSpPr/>
          <p:nvPr/>
        </p:nvSpPr>
        <p:spPr>
          <a:xfrm>
            <a:off x="1261800" y="4855320"/>
            <a:ext cx="9683280" cy="39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Select the size fraction before selecting the sampler, filter and analysis. A mismatch between scientific objective and inlet choice is difficult to correct later.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sldNum" idx="10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3B67640-BD81-4579-AA29-43996B3D1FD2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7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Primary and secondary PM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BASICS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"/>
          <p:cNvSpPr/>
          <p:nvPr/>
        </p:nvSpPr>
        <p:spPr>
          <a:xfrm>
            <a:off x="731520" y="1188720"/>
            <a:ext cx="521172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4"/>
          <p:cNvSpPr/>
          <p:nvPr/>
        </p:nvSpPr>
        <p:spPr>
          <a:xfrm>
            <a:off x="960120" y="1417320"/>
            <a:ext cx="438480" cy="4384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5"/>
          <p:cNvSpPr/>
          <p:nvPr/>
        </p:nvSpPr>
        <p:spPr>
          <a:xfrm>
            <a:off x="960120" y="15177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6"/>
          <p:cNvSpPr/>
          <p:nvPr/>
        </p:nvSpPr>
        <p:spPr>
          <a:xfrm>
            <a:off x="1508760" y="1417320"/>
            <a:ext cx="4205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Primary PM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7"/>
          <p:cNvSpPr/>
          <p:nvPr/>
        </p:nvSpPr>
        <p:spPr>
          <a:xfrm>
            <a:off x="960120" y="1965960"/>
            <a:ext cx="47545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Particles emitted directly into the atmosphere. Examples: soot, mineral dust, sea spray, brake and tyre wear, fly ash, primary organic aerosol.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8"/>
          <p:cNvSpPr/>
          <p:nvPr/>
        </p:nvSpPr>
        <p:spPr>
          <a:xfrm>
            <a:off x="6263640" y="1188720"/>
            <a:ext cx="521172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9"/>
          <p:cNvSpPr/>
          <p:nvPr/>
        </p:nvSpPr>
        <p:spPr>
          <a:xfrm>
            <a:off x="6492240" y="1417320"/>
            <a:ext cx="438480" cy="4384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0"/>
          <p:cNvSpPr/>
          <p:nvPr/>
        </p:nvSpPr>
        <p:spPr>
          <a:xfrm>
            <a:off x="6492240" y="15177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1"/>
          <p:cNvSpPr/>
          <p:nvPr/>
        </p:nvSpPr>
        <p:spPr>
          <a:xfrm>
            <a:off x="7040880" y="1417320"/>
            <a:ext cx="4205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Secondary PM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2"/>
          <p:cNvSpPr/>
          <p:nvPr/>
        </p:nvSpPr>
        <p:spPr>
          <a:xfrm>
            <a:off x="6492240" y="1965960"/>
            <a:ext cx="475452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Particles formed in the atmosphere from gas-phase precursors through chemical reactions and gas-to-particle conversion.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13"/>
          <p:cNvSpPr/>
          <p:nvPr/>
        </p:nvSpPr>
        <p:spPr>
          <a:xfrm>
            <a:off x="2103120" y="4069080"/>
            <a:ext cx="7955280" cy="360"/>
          </a:xfrm>
          <a:prstGeom prst="line">
            <a:avLst/>
          </a:prstGeom>
          <a:ln w="25560">
            <a:solidFill>
              <a:srgbClr val="0B395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4"/>
          <p:cNvSpPr/>
          <p:nvPr/>
        </p:nvSpPr>
        <p:spPr>
          <a:xfrm>
            <a:off x="1188720" y="3840480"/>
            <a:ext cx="639720" cy="347040"/>
          </a:xfrm>
          <a:prstGeom prst="roundRect">
            <a:avLst>
              <a:gd name="adj" fmla="val 21053"/>
            </a:avLst>
          </a:prstGeom>
          <a:solidFill>
            <a:srgbClr val="4B5563"/>
          </a:solidFill>
          <a:ln w="12600">
            <a:solidFill>
              <a:srgbClr val="4B55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5"/>
          <p:cNvSpPr/>
          <p:nvPr/>
        </p:nvSpPr>
        <p:spPr>
          <a:xfrm>
            <a:off x="1188720" y="3931920"/>
            <a:ext cx="6397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SO₂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6"/>
          <p:cNvSpPr/>
          <p:nvPr/>
        </p:nvSpPr>
        <p:spPr>
          <a:xfrm>
            <a:off x="2057400" y="3840480"/>
            <a:ext cx="639720" cy="347040"/>
          </a:xfrm>
          <a:prstGeom prst="roundRect">
            <a:avLst>
              <a:gd name="adj" fmla="val 21053"/>
            </a:avLst>
          </a:prstGeom>
          <a:solidFill>
            <a:srgbClr val="4B5563"/>
          </a:solidFill>
          <a:ln w="12600">
            <a:solidFill>
              <a:srgbClr val="4B55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7"/>
          <p:cNvSpPr/>
          <p:nvPr/>
        </p:nvSpPr>
        <p:spPr>
          <a:xfrm>
            <a:off x="2057400" y="3931920"/>
            <a:ext cx="6397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NOx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8"/>
          <p:cNvSpPr/>
          <p:nvPr/>
        </p:nvSpPr>
        <p:spPr>
          <a:xfrm>
            <a:off x="2926080" y="3840480"/>
            <a:ext cx="639720" cy="347040"/>
          </a:xfrm>
          <a:prstGeom prst="roundRect">
            <a:avLst>
              <a:gd name="adj" fmla="val 21053"/>
            </a:avLst>
          </a:prstGeom>
          <a:solidFill>
            <a:srgbClr val="4B5563"/>
          </a:solidFill>
          <a:ln w="12600">
            <a:solidFill>
              <a:srgbClr val="4B55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9"/>
          <p:cNvSpPr/>
          <p:nvPr/>
        </p:nvSpPr>
        <p:spPr>
          <a:xfrm>
            <a:off x="2926080" y="3931920"/>
            <a:ext cx="63972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NH₃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20"/>
          <p:cNvSpPr/>
          <p:nvPr/>
        </p:nvSpPr>
        <p:spPr>
          <a:xfrm>
            <a:off x="3794760" y="3840480"/>
            <a:ext cx="731160" cy="347040"/>
          </a:xfrm>
          <a:prstGeom prst="roundRect">
            <a:avLst>
              <a:gd name="adj" fmla="val 21053"/>
            </a:avLst>
          </a:prstGeom>
          <a:solidFill>
            <a:srgbClr val="4B5563"/>
          </a:solidFill>
          <a:ln w="12600">
            <a:solidFill>
              <a:srgbClr val="4B55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1"/>
          <p:cNvSpPr/>
          <p:nvPr/>
        </p:nvSpPr>
        <p:spPr>
          <a:xfrm>
            <a:off x="3794760" y="393192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VOCs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2"/>
          <p:cNvSpPr/>
          <p:nvPr/>
        </p:nvSpPr>
        <p:spPr>
          <a:xfrm>
            <a:off x="4754880" y="3776400"/>
            <a:ext cx="2605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oxidation + neutralization + condensation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23"/>
          <p:cNvSpPr/>
          <p:nvPr/>
        </p:nvSpPr>
        <p:spPr>
          <a:xfrm>
            <a:off x="7498080" y="3840480"/>
            <a:ext cx="731160" cy="347040"/>
          </a:xfrm>
          <a:prstGeom prst="roundRect">
            <a:avLst>
              <a:gd name="adj" fmla="val 21053"/>
            </a:avLst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4"/>
          <p:cNvSpPr/>
          <p:nvPr/>
        </p:nvSpPr>
        <p:spPr>
          <a:xfrm>
            <a:off x="7498080" y="393192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SO₄²⁻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5"/>
          <p:cNvSpPr/>
          <p:nvPr/>
        </p:nvSpPr>
        <p:spPr>
          <a:xfrm>
            <a:off x="8412480" y="3840480"/>
            <a:ext cx="731160" cy="347040"/>
          </a:xfrm>
          <a:prstGeom prst="roundRect">
            <a:avLst>
              <a:gd name="adj" fmla="val 21053"/>
            </a:avLst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6"/>
          <p:cNvSpPr/>
          <p:nvPr/>
        </p:nvSpPr>
        <p:spPr>
          <a:xfrm>
            <a:off x="8412480" y="393192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NO₃⁻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7"/>
          <p:cNvSpPr/>
          <p:nvPr/>
        </p:nvSpPr>
        <p:spPr>
          <a:xfrm>
            <a:off x="9326880" y="3840480"/>
            <a:ext cx="731160" cy="347040"/>
          </a:xfrm>
          <a:prstGeom prst="roundRect">
            <a:avLst>
              <a:gd name="adj" fmla="val 21053"/>
            </a:avLst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8"/>
          <p:cNvSpPr/>
          <p:nvPr/>
        </p:nvSpPr>
        <p:spPr>
          <a:xfrm>
            <a:off x="9326880" y="393192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NH₄⁺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9"/>
          <p:cNvSpPr/>
          <p:nvPr/>
        </p:nvSpPr>
        <p:spPr>
          <a:xfrm>
            <a:off x="10241280" y="3840480"/>
            <a:ext cx="731160" cy="347040"/>
          </a:xfrm>
          <a:prstGeom prst="roundRect">
            <a:avLst>
              <a:gd name="adj" fmla="val 21053"/>
            </a:avLst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30"/>
          <p:cNvSpPr/>
          <p:nvPr/>
        </p:nvSpPr>
        <p:spPr>
          <a:xfrm>
            <a:off x="10241280" y="3931920"/>
            <a:ext cx="73116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SOA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31"/>
          <p:cNvSpPr/>
          <p:nvPr/>
        </p:nvSpPr>
        <p:spPr>
          <a:xfrm>
            <a:off x="1143000" y="5349240"/>
            <a:ext cx="9875160" cy="566640"/>
          </a:xfrm>
          <a:prstGeom prst="roundRect">
            <a:avLst>
              <a:gd name="adj" fmla="val 8065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2"/>
          <p:cNvSpPr/>
          <p:nvPr/>
        </p:nvSpPr>
        <p:spPr>
          <a:xfrm>
            <a:off x="1307520" y="5495400"/>
            <a:ext cx="9546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Analysis must preserve both primary and secondary components: volatile nitrate, ammonium and semi-volatile organic compounds can be affected by sampling conditions.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1"/>
          <p:cNvSpPr>
            <a:spLocks noGrp="1"/>
          </p:cNvSpPr>
          <p:nvPr>
            <p:ph type="sldNum" idx="11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E2D97B1-8095-4FE9-A3E7-BC1BD3BD584A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8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What PM is made of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BASICS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3"/>
          <p:cNvSpPr/>
          <p:nvPr/>
        </p:nvSpPr>
        <p:spPr>
          <a:xfrm>
            <a:off x="685800" y="96012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 complete PM dataset usually requires multiple filters and/or multiple analytical techniques because no single method captures all components.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4"/>
          <p:cNvSpPr/>
          <p:nvPr/>
        </p:nvSpPr>
        <p:spPr>
          <a:xfrm>
            <a:off x="731520" y="1600200"/>
            <a:ext cx="3245760" cy="1142640"/>
          </a:xfrm>
          <a:prstGeom prst="roundRect">
            <a:avLst>
              <a:gd name="adj" fmla="val 4800"/>
            </a:avLst>
          </a:prstGeom>
          <a:solidFill>
            <a:srgbClr val="2A6F97">
              <a:alpha val="95000"/>
            </a:srgbClr>
          </a:solidFill>
          <a:ln w="12600">
            <a:solidFill>
              <a:srgbClr val="2A6F97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5"/>
          <p:cNvSpPr/>
          <p:nvPr/>
        </p:nvSpPr>
        <p:spPr>
          <a:xfrm>
            <a:off x="896040" y="18014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Secondary inorganics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6"/>
          <p:cNvSpPr/>
          <p:nvPr/>
        </p:nvSpPr>
        <p:spPr>
          <a:xfrm>
            <a:off x="896040" y="220356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SO₄²⁻, NO₃⁻, NH₄⁺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7"/>
          <p:cNvSpPr/>
          <p:nvPr/>
        </p:nvSpPr>
        <p:spPr>
          <a:xfrm>
            <a:off x="4434840" y="1600200"/>
            <a:ext cx="3245760" cy="1142640"/>
          </a:xfrm>
          <a:prstGeom prst="roundRect">
            <a:avLst>
              <a:gd name="adj" fmla="val 4800"/>
            </a:avLst>
          </a:prstGeom>
          <a:solidFill>
            <a:srgbClr val="0B3954">
              <a:alpha val="95000"/>
            </a:srgbClr>
          </a:solidFill>
          <a:ln w="12600">
            <a:solidFill>
              <a:srgbClr val="0B3954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8"/>
          <p:cNvSpPr/>
          <p:nvPr/>
        </p:nvSpPr>
        <p:spPr>
          <a:xfrm>
            <a:off x="4599360" y="18014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Carbonaceous matter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9"/>
          <p:cNvSpPr/>
          <p:nvPr/>
        </p:nvSpPr>
        <p:spPr>
          <a:xfrm>
            <a:off x="4599360" y="220356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OC, EC, BC, organics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0"/>
          <p:cNvSpPr/>
          <p:nvPr/>
        </p:nvSpPr>
        <p:spPr>
          <a:xfrm>
            <a:off x="8138160" y="1600200"/>
            <a:ext cx="3245760" cy="1142640"/>
          </a:xfrm>
          <a:prstGeom prst="roundRect">
            <a:avLst>
              <a:gd name="adj" fmla="val 4800"/>
            </a:avLst>
          </a:prstGeom>
          <a:solidFill>
            <a:srgbClr val="087E8B">
              <a:alpha val="95000"/>
            </a:srgbClr>
          </a:solidFill>
          <a:ln w="12600">
            <a:solidFill>
              <a:srgbClr val="087E8B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1"/>
          <p:cNvSpPr/>
          <p:nvPr/>
        </p:nvSpPr>
        <p:spPr>
          <a:xfrm>
            <a:off x="8302680" y="180144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Sea salt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2"/>
          <p:cNvSpPr/>
          <p:nvPr/>
        </p:nvSpPr>
        <p:spPr>
          <a:xfrm>
            <a:off x="8302680" y="220356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Na⁺, Cl⁻, Mg²⁺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3"/>
          <p:cNvSpPr/>
          <p:nvPr/>
        </p:nvSpPr>
        <p:spPr>
          <a:xfrm>
            <a:off x="731520" y="3246120"/>
            <a:ext cx="3245760" cy="1142640"/>
          </a:xfrm>
          <a:prstGeom prst="roundRect">
            <a:avLst>
              <a:gd name="adj" fmla="val 4800"/>
            </a:avLst>
          </a:prstGeom>
          <a:solidFill>
            <a:srgbClr val="F59E0B">
              <a:alpha val="95000"/>
            </a:srgbClr>
          </a:solidFill>
          <a:ln w="12600">
            <a:solidFill>
              <a:srgbClr val="F59E0B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4"/>
          <p:cNvSpPr/>
          <p:nvPr/>
        </p:nvSpPr>
        <p:spPr>
          <a:xfrm>
            <a:off x="896040" y="344736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Mineral dust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5"/>
          <p:cNvSpPr/>
          <p:nvPr/>
        </p:nvSpPr>
        <p:spPr>
          <a:xfrm>
            <a:off x="896040" y="38494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Al, Si, Ca, Ti, Fe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6"/>
          <p:cNvSpPr/>
          <p:nvPr/>
        </p:nvSpPr>
        <p:spPr>
          <a:xfrm>
            <a:off x="4434840" y="3246120"/>
            <a:ext cx="3245760" cy="1142640"/>
          </a:xfrm>
          <a:prstGeom prst="roundRect">
            <a:avLst>
              <a:gd name="adj" fmla="val 4800"/>
            </a:avLst>
          </a:prstGeom>
          <a:solidFill>
            <a:srgbClr val="D95D39">
              <a:alpha val="95000"/>
            </a:srgbClr>
          </a:solidFill>
          <a:ln w="12600">
            <a:solidFill>
              <a:srgbClr val="D95D39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7"/>
          <p:cNvSpPr/>
          <p:nvPr/>
        </p:nvSpPr>
        <p:spPr>
          <a:xfrm>
            <a:off x="4599360" y="344736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Trace metals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8"/>
          <p:cNvSpPr/>
          <p:nvPr/>
        </p:nvSpPr>
        <p:spPr>
          <a:xfrm>
            <a:off x="4599360" y="38494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V, Ni, Cu, Zn, Pb, As, Cd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9"/>
          <p:cNvSpPr/>
          <p:nvPr/>
        </p:nvSpPr>
        <p:spPr>
          <a:xfrm>
            <a:off x="8138160" y="3246120"/>
            <a:ext cx="3245760" cy="1142640"/>
          </a:xfrm>
          <a:prstGeom prst="roundRect">
            <a:avLst>
              <a:gd name="adj" fmla="val 4800"/>
            </a:avLst>
          </a:prstGeom>
          <a:solidFill>
            <a:srgbClr val="7057A3">
              <a:alpha val="95000"/>
            </a:srgbClr>
          </a:solidFill>
          <a:ln w="12600">
            <a:solidFill>
              <a:srgbClr val="7057A3">
                <a:alpha val="9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0"/>
          <p:cNvSpPr/>
          <p:nvPr/>
        </p:nvSpPr>
        <p:spPr>
          <a:xfrm>
            <a:off x="8302680" y="344736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Water / other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1"/>
          <p:cNvSpPr/>
          <p:nvPr/>
        </p:nvSpPr>
        <p:spPr>
          <a:xfrm>
            <a:off x="8302680" y="3849480"/>
            <a:ext cx="28342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particle-bound water, unmeasured mass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22"/>
          <p:cNvSpPr/>
          <p:nvPr/>
        </p:nvSpPr>
        <p:spPr>
          <a:xfrm>
            <a:off x="1463040" y="5257800"/>
            <a:ext cx="9143640" cy="594000"/>
          </a:xfrm>
          <a:prstGeom prst="roundRect">
            <a:avLst>
              <a:gd name="adj" fmla="val 7692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3"/>
          <p:cNvSpPr/>
          <p:nvPr/>
        </p:nvSpPr>
        <p:spPr>
          <a:xfrm>
            <a:off x="1627560" y="5403960"/>
            <a:ext cx="881460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Practical implication: choose filter material according to target analytes, not only according to PM mass measurement.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sldNum" idx="12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5017731-F07E-4F84-91AE-1B15B7635279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9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End-to-end workflow for PM sampling and analysis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SAMPLING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"/>
          <p:cNvSpPr/>
          <p:nvPr/>
        </p:nvSpPr>
        <p:spPr>
          <a:xfrm>
            <a:off x="731520" y="1600200"/>
            <a:ext cx="1938240" cy="2422800"/>
          </a:xfrm>
          <a:prstGeom prst="roundRect">
            <a:avLst>
              <a:gd name="adj" fmla="val 3774"/>
            </a:avLst>
          </a:prstGeom>
          <a:solidFill>
            <a:srgbClr val="F3F8FB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4"/>
          <p:cNvSpPr/>
          <p:nvPr/>
        </p:nvSpPr>
        <p:spPr>
          <a:xfrm>
            <a:off x="1444680" y="1234440"/>
            <a:ext cx="502560" cy="50256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5"/>
          <p:cNvSpPr/>
          <p:nvPr/>
        </p:nvSpPr>
        <p:spPr>
          <a:xfrm>
            <a:off x="1444680" y="135324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896040" y="1920240"/>
            <a:ext cx="1599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Define objective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896040" y="246888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Compliance, exposure, chemical speciation, trend, episode or research campaign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8"/>
          <p:cNvSpPr/>
          <p:nvPr/>
        </p:nvSpPr>
        <p:spPr>
          <a:xfrm>
            <a:off x="2688480" y="2423160"/>
            <a:ext cx="273960" cy="411120"/>
          </a:xfrm>
          <a:prstGeom prst="chevron">
            <a:avLst>
              <a:gd name="adj" fmla="val 50000"/>
            </a:avLst>
          </a:prstGeom>
          <a:solidFill>
            <a:srgbClr val="CAD9E1"/>
          </a:solidFill>
          <a:ln w="12600">
            <a:solidFill>
              <a:srgbClr val="CAD9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2999160" y="1600200"/>
            <a:ext cx="1938240" cy="24228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3712320" y="1234440"/>
            <a:ext cx="502560" cy="502560"/>
          </a:xfrm>
          <a:prstGeom prst="ellipse">
            <a:avLst/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3712320" y="135324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3163680" y="1920240"/>
            <a:ext cx="1599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Design sampling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3"/>
          <p:cNvSpPr/>
          <p:nvPr/>
        </p:nvSpPr>
        <p:spPr>
          <a:xfrm>
            <a:off x="3163680" y="246888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Site, PM fraction, duration, frequency, filters, instruments and blanks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4"/>
          <p:cNvSpPr/>
          <p:nvPr/>
        </p:nvSpPr>
        <p:spPr>
          <a:xfrm>
            <a:off x="4956120" y="2423160"/>
            <a:ext cx="273960" cy="411120"/>
          </a:xfrm>
          <a:prstGeom prst="chevron">
            <a:avLst>
              <a:gd name="adj" fmla="val 50000"/>
            </a:avLst>
          </a:prstGeom>
          <a:solidFill>
            <a:srgbClr val="CAD9E1"/>
          </a:solidFill>
          <a:ln w="12600">
            <a:solidFill>
              <a:srgbClr val="CAD9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5"/>
          <p:cNvSpPr/>
          <p:nvPr/>
        </p:nvSpPr>
        <p:spPr>
          <a:xfrm>
            <a:off x="5266800" y="1600200"/>
            <a:ext cx="1938240" cy="2422800"/>
          </a:xfrm>
          <a:prstGeom prst="roundRect">
            <a:avLst>
              <a:gd name="adj" fmla="val 3774"/>
            </a:avLst>
          </a:prstGeom>
          <a:solidFill>
            <a:srgbClr val="F3F8FB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6"/>
          <p:cNvSpPr/>
          <p:nvPr/>
        </p:nvSpPr>
        <p:spPr>
          <a:xfrm>
            <a:off x="5980320" y="1234440"/>
            <a:ext cx="502560" cy="50256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7"/>
          <p:cNvSpPr/>
          <p:nvPr/>
        </p:nvSpPr>
        <p:spPr>
          <a:xfrm>
            <a:off x="5980320" y="135324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5431680" y="1920240"/>
            <a:ext cx="1599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Collect samples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5431680" y="246888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Calibrated flow, documented metadata, controlled handling and storage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20"/>
          <p:cNvSpPr/>
          <p:nvPr/>
        </p:nvSpPr>
        <p:spPr>
          <a:xfrm>
            <a:off x="7223760" y="2423160"/>
            <a:ext cx="273960" cy="411120"/>
          </a:xfrm>
          <a:prstGeom prst="chevron">
            <a:avLst>
              <a:gd name="adj" fmla="val 50000"/>
            </a:avLst>
          </a:prstGeom>
          <a:solidFill>
            <a:srgbClr val="CAD9E1"/>
          </a:solidFill>
          <a:ln w="12600">
            <a:solidFill>
              <a:srgbClr val="CAD9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1"/>
          <p:cNvSpPr/>
          <p:nvPr/>
        </p:nvSpPr>
        <p:spPr>
          <a:xfrm>
            <a:off x="7534800" y="1600200"/>
            <a:ext cx="1938240" cy="24228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2"/>
          <p:cNvSpPr/>
          <p:nvPr/>
        </p:nvSpPr>
        <p:spPr>
          <a:xfrm>
            <a:off x="8247960" y="1234440"/>
            <a:ext cx="502560" cy="502560"/>
          </a:xfrm>
          <a:prstGeom prst="ellipse">
            <a:avLst/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8247960" y="135324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4"/>
          <p:cNvSpPr/>
          <p:nvPr/>
        </p:nvSpPr>
        <p:spPr>
          <a:xfrm>
            <a:off x="7699320" y="1920240"/>
            <a:ext cx="1599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Analyze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5"/>
          <p:cNvSpPr/>
          <p:nvPr/>
        </p:nvSpPr>
        <p:spPr>
          <a:xfrm>
            <a:off x="7699320" y="246888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Gravimetry, elements, ions, EC/OC, organics and optical properties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6"/>
          <p:cNvSpPr/>
          <p:nvPr/>
        </p:nvSpPr>
        <p:spPr>
          <a:xfrm>
            <a:off x="9491400" y="2423160"/>
            <a:ext cx="273960" cy="411120"/>
          </a:xfrm>
          <a:prstGeom prst="chevron">
            <a:avLst>
              <a:gd name="adj" fmla="val 50000"/>
            </a:avLst>
          </a:prstGeom>
          <a:solidFill>
            <a:srgbClr val="CAD9E1"/>
          </a:solidFill>
          <a:ln w="12600">
            <a:solidFill>
              <a:srgbClr val="CAD9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7"/>
          <p:cNvSpPr/>
          <p:nvPr/>
        </p:nvSpPr>
        <p:spPr>
          <a:xfrm>
            <a:off x="9802440" y="1600200"/>
            <a:ext cx="1938240" cy="2422800"/>
          </a:xfrm>
          <a:prstGeom prst="roundRect">
            <a:avLst>
              <a:gd name="adj" fmla="val 3774"/>
            </a:avLst>
          </a:prstGeom>
          <a:solidFill>
            <a:srgbClr val="F3F8FB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28"/>
          <p:cNvSpPr/>
          <p:nvPr/>
        </p:nvSpPr>
        <p:spPr>
          <a:xfrm>
            <a:off x="10515600" y="1234440"/>
            <a:ext cx="502560" cy="502560"/>
          </a:xfrm>
          <a:prstGeom prst="ellipse">
            <a:avLst/>
          </a:prstGeom>
          <a:solidFill>
            <a:srgbClr val="7057A3"/>
          </a:solidFill>
          <a:ln w="12600">
            <a:solidFill>
              <a:srgbClr val="7057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9"/>
          <p:cNvSpPr/>
          <p:nvPr/>
        </p:nvSpPr>
        <p:spPr>
          <a:xfrm>
            <a:off x="10515600" y="1353240"/>
            <a:ext cx="502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0"/>
          <p:cNvSpPr/>
          <p:nvPr/>
        </p:nvSpPr>
        <p:spPr>
          <a:xfrm>
            <a:off x="9966960" y="1920240"/>
            <a:ext cx="159984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Validate &amp; report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1"/>
          <p:cNvSpPr/>
          <p:nvPr/>
        </p:nvSpPr>
        <p:spPr>
          <a:xfrm>
            <a:off x="9966960" y="2468880"/>
            <a:ext cx="15998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8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Uncertainty, mass closure, flags, limits, comparability and interpretation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32"/>
          <p:cNvSpPr/>
          <p:nvPr/>
        </p:nvSpPr>
        <p:spPr>
          <a:xfrm>
            <a:off x="1280160" y="4983480"/>
            <a:ext cx="9692280" cy="594000"/>
          </a:xfrm>
          <a:prstGeom prst="roundRect">
            <a:avLst>
              <a:gd name="adj" fmla="val 7692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33"/>
          <p:cNvSpPr/>
          <p:nvPr/>
        </p:nvSpPr>
        <p:spPr>
          <a:xfrm>
            <a:off x="1444680" y="5129640"/>
            <a:ext cx="93632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Every step should be planned before the campaign begins. Analytical choices cannot fully compensate for poorly documented sampling.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1"/>
          <p:cNvSpPr>
            <a:spLocks noGrp="1"/>
          </p:cNvSpPr>
          <p:nvPr>
            <p:ph type="sldNum" idx="13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B2B0CCE-17B8-4F98-8C60-DA5388995A13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10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Designing a PM sampling strategy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SAMPLING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3"/>
          <p:cNvSpPr/>
          <p:nvPr/>
        </p:nvSpPr>
        <p:spPr>
          <a:xfrm>
            <a:off x="777240" y="119772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4"/>
          <p:cNvSpPr/>
          <p:nvPr/>
        </p:nvSpPr>
        <p:spPr>
          <a:xfrm>
            <a:off x="987480" y="1143000"/>
            <a:ext cx="61902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Define the question: regulatory compliance, trend monitoring, source indicators, exposure, method comparison or process study.</a:t>
            </a:r>
            <a:endParaRPr lang="en-US" sz="13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5"/>
          <p:cNvSpPr/>
          <p:nvPr/>
        </p:nvSpPr>
        <p:spPr>
          <a:xfrm>
            <a:off x="777240" y="172836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6"/>
          <p:cNvSpPr/>
          <p:nvPr/>
        </p:nvSpPr>
        <p:spPr>
          <a:xfrm>
            <a:off x="987480" y="1673280"/>
            <a:ext cx="61902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Select the PM fraction and averaging time before choosing the instrument.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7"/>
          <p:cNvSpPr/>
          <p:nvPr/>
        </p:nvSpPr>
        <p:spPr>
          <a:xfrm>
            <a:off x="777240" y="225864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8"/>
          <p:cNvSpPr/>
          <p:nvPr/>
        </p:nvSpPr>
        <p:spPr>
          <a:xfrm>
            <a:off x="987480" y="2203560"/>
            <a:ext cx="61902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Include representative site types: regional background, urban background, traffic, industrial, indoor or microenvironment as needed.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9"/>
          <p:cNvSpPr/>
          <p:nvPr/>
        </p:nvSpPr>
        <p:spPr>
          <a:xfrm>
            <a:off x="777240" y="278892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10"/>
          <p:cNvSpPr/>
          <p:nvPr/>
        </p:nvSpPr>
        <p:spPr>
          <a:xfrm>
            <a:off x="987480" y="2734200"/>
            <a:ext cx="61902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Plan temporal coverage: seasons, weekdays/weekends, episodes, wildfire/dust periods and meteorological variability.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11"/>
          <p:cNvSpPr/>
          <p:nvPr/>
        </p:nvSpPr>
        <p:spPr>
          <a:xfrm>
            <a:off x="777240" y="331920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12"/>
          <p:cNvSpPr/>
          <p:nvPr/>
        </p:nvSpPr>
        <p:spPr>
          <a:xfrm>
            <a:off x="987480" y="3264480"/>
            <a:ext cx="61902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3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Define QA/QC from the start: field blanks, travel blanks, duplicates, flow checks, weighing checks and storage conditions.</a:t>
            </a:r>
            <a:endParaRPr lang="en-US" sz="13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13"/>
          <p:cNvSpPr/>
          <p:nvPr/>
        </p:nvSpPr>
        <p:spPr>
          <a:xfrm>
            <a:off x="7543800" y="1234440"/>
            <a:ext cx="3611520" cy="1919880"/>
          </a:xfrm>
          <a:prstGeom prst="roundRect">
            <a:avLst>
              <a:gd name="adj" fmla="val 2381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4"/>
          <p:cNvSpPr/>
          <p:nvPr/>
        </p:nvSpPr>
        <p:spPr>
          <a:xfrm>
            <a:off x="7708320" y="1380600"/>
            <a:ext cx="3282480" cy="162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Minimum metadata for every sample: site, inlet/fraction, sampler ID, filter ID, start/end time, flow, pressure/temperature, RH, weather, local activities, operator, sample condition and storage.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5"/>
          <p:cNvSpPr/>
          <p:nvPr/>
        </p:nvSpPr>
        <p:spPr>
          <a:xfrm>
            <a:off x="7543800" y="3703320"/>
            <a:ext cx="3611520" cy="1279800"/>
          </a:xfrm>
          <a:prstGeom prst="roundRect">
            <a:avLst>
              <a:gd name="adj" fmla="val 3571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16"/>
          <p:cNvSpPr/>
          <p:nvPr/>
        </p:nvSpPr>
        <p:spPr>
          <a:xfrm>
            <a:off x="7708320" y="3849480"/>
            <a:ext cx="328248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Common mistake: collecting many samples with insufficient blanks and poor flow documentation. This can make the dataset difficult to defend later.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sldNum" idx="14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2B10E93-6B6E-4459-B7B9-E85A58B2C52E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11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Selecting the PM fraction and inlet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SAMPLING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3"/>
          <p:cNvSpPr/>
          <p:nvPr/>
        </p:nvSpPr>
        <p:spPr>
          <a:xfrm>
            <a:off x="685800" y="9601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Size-selective inlets define the measured quantity. The inlet and flow rate are part of the method, not just accessories.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4"/>
          <p:cNvSpPr/>
          <p:nvPr/>
        </p:nvSpPr>
        <p:spPr>
          <a:xfrm>
            <a:off x="822960" y="1600200"/>
            <a:ext cx="3108600" cy="3474360"/>
          </a:xfrm>
          <a:prstGeom prst="roundRect">
            <a:avLst>
              <a:gd name="adj" fmla="val 1765"/>
            </a:avLst>
          </a:prstGeom>
          <a:solidFill>
            <a:srgbClr val="F3F8FB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5"/>
          <p:cNvSpPr/>
          <p:nvPr/>
        </p:nvSpPr>
        <p:spPr>
          <a:xfrm>
            <a:off x="1078920" y="187452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Inlet cut-point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6"/>
          <p:cNvSpPr/>
          <p:nvPr/>
        </p:nvSpPr>
        <p:spPr>
          <a:xfrm>
            <a:off x="1078920" y="2514600"/>
            <a:ext cx="255996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D₅₀ is the aerodynamic diameter at which 50% of particles are collected/transmitted by the size selector.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7"/>
          <p:cNvSpPr/>
          <p:nvPr/>
        </p:nvSpPr>
        <p:spPr>
          <a:xfrm>
            <a:off x="1280160" y="3840480"/>
            <a:ext cx="2103120" cy="360"/>
          </a:xfrm>
          <a:prstGeom prst="line">
            <a:avLst/>
          </a:prstGeom>
          <a:ln w="25560">
            <a:solidFill>
              <a:srgbClr val="0B3954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8"/>
          <p:cNvSpPr/>
          <p:nvPr/>
        </p:nvSpPr>
        <p:spPr>
          <a:xfrm>
            <a:off x="1051560" y="4224600"/>
            <a:ext cx="26056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PM10 / PM2.5 / PM1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5" name="Table 0"/>
          <p:cNvGraphicFramePr/>
          <p:nvPr/>
        </p:nvGraphicFramePr>
        <p:xfrm>
          <a:off x="4297680" y="1600200"/>
          <a:ext cx="7132320" cy="351900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Fraction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Typical use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Important considerations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TSP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Bulk suspended particles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Weak size selectivity; historic datasets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PM10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Regulatory inhalable fraction; coarse + fine PM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Crustal and sea-salt contributions often important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PM2.5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Fine PM; health, combustion and secondary aerosol studies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Semi-volatile nitrate and organics need artifact control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PM1 / UF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Research, fresh emissions, aerosol dynamics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Specialized instruments and number-size metrics often needed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6" name="Text 9"/>
          <p:cNvSpPr/>
          <p:nvPr/>
        </p:nvSpPr>
        <p:spPr>
          <a:xfrm>
            <a:off x="7772400" y="6245280"/>
            <a:ext cx="38858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7A8790"/>
                </a:solidFill>
                <a:effectLst/>
                <a:uFillTx/>
                <a:latin typeface="Aptos"/>
              </a:rPr>
              <a:t>Reference-method details depend on the applicable standard, e.g., EN 12341:2023 for PM10/PM2.5 gravimetry.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sldNum" idx="15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2844602-1632-4BB8-B377-1F141F4D96BD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12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Sampler types and what they are best for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SAMPLING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1" name="Table 0"/>
          <p:cNvGraphicFramePr/>
          <p:nvPr/>
        </p:nvGraphicFramePr>
        <p:xfrm>
          <a:off x="502920" y="1005840"/>
          <a:ext cx="11201400" cy="4708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4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Sampler type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Typical output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Strengths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Limitations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4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Low-volume sequential sampler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24 h PM10/PM2.5 filters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Reference-style gravimetry; robust unattended operation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Limited mass for extensive chemistry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4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High-volume sampler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Large-area filters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High mass loading; useful for organics, trace components and multiple analyses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More handling; higher blank/artifact sensitivity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4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Dichotomous sampler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Fine + coarse fractions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Separates size fractions simultaneously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Lower flow/mass; maintenance of impactor/cut-point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Cascade impactor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Size-resolved samples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Particle-size distribution by mass/chemistry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Bounce, overloading and cut-point sensitivity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480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Online instruments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Minutes to hourly data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Events, diurnal patterns, rapid response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Calibration/equivalence and drift control needed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2" name="Shape 3"/>
          <p:cNvSpPr/>
          <p:nvPr/>
        </p:nvSpPr>
        <p:spPr>
          <a:xfrm>
            <a:off x="1097280" y="5925240"/>
            <a:ext cx="9966600" cy="383760"/>
          </a:xfrm>
          <a:prstGeom prst="roundRect">
            <a:avLst>
              <a:gd name="adj" fmla="val 11905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4"/>
          <p:cNvSpPr/>
          <p:nvPr/>
        </p:nvSpPr>
        <p:spPr>
          <a:xfrm>
            <a:off x="1261800" y="6071760"/>
            <a:ext cx="963756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0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 good campaign often combines reference filter sampling with online measurements for temporal structure and offline methods for detailed chemistry.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sldNum" idx="16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977A1ECE-1846-4F13-A171-AED3B6BE281A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13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Typical filter-sampling train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SAMPLING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731520" y="2011680"/>
            <a:ext cx="1599840" cy="1005480"/>
          </a:xfrm>
          <a:prstGeom prst="roundRect">
            <a:avLst>
              <a:gd name="adj" fmla="val 7273"/>
            </a:avLst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822960" y="23317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Size-selective inlet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5"/>
          <p:cNvSpPr/>
          <p:nvPr/>
        </p:nvSpPr>
        <p:spPr>
          <a:xfrm>
            <a:off x="2359080" y="2304360"/>
            <a:ext cx="47520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AD9E1"/>
          </a:solidFill>
          <a:ln w="12600">
            <a:solidFill>
              <a:srgbClr val="CAD9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6"/>
          <p:cNvSpPr/>
          <p:nvPr/>
        </p:nvSpPr>
        <p:spPr>
          <a:xfrm>
            <a:off x="2926080" y="2011680"/>
            <a:ext cx="1599840" cy="1005480"/>
          </a:xfrm>
          <a:prstGeom prst="roundRect">
            <a:avLst>
              <a:gd name="adj" fmla="val 7273"/>
            </a:avLst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7"/>
          <p:cNvSpPr/>
          <p:nvPr/>
        </p:nvSpPr>
        <p:spPr>
          <a:xfrm>
            <a:off x="3017520" y="23317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Filter holder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8"/>
          <p:cNvSpPr/>
          <p:nvPr/>
        </p:nvSpPr>
        <p:spPr>
          <a:xfrm>
            <a:off x="4553640" y="2304360"/>
            <a:ext cx="47520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AD9E1"/>
          </a:solidFill>
          <a:ln w="12600">
            <a:solidFill>
              <a:srgbClr val="CAD9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9"/>
          <p:cNvSpPr/>
          <p:nvPr/>
        </p:nvSpPr>
        <p:spPr>
          <a:xfrm>
            <a:off x="5120640" y="2011680"/>
            <a:ext cx="1599840" cy="1005480"/>
          </a:xfrm>
          <a:prstGeom prst="roundRect">
            <a:avLst>
              <a:gd name="adj" fmla="val 7273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0"/>
          <p:cNvSpPr/>
          <p:nvPr/>
        </p:nvSpPr>
        <p:spPr>
          <a:xfrm>
            <a:off x="5212080" y="23317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Flow control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11"/>
          <p:cNvSpPr/>
          <p:nvPr/>
        </p:nvSpPr>
        <p:spPr>
          <a:xfrm>
            <a:off x="6748200" y="2304360"/>
            <a:ext cx="47520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AD9E1"/>
          </a:solidFill>
          <a:ln w="12600">
            <a:solidFill>
              <a:srgbClr val="CAD9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12"/>
          <p:cNvSpPr/>
          <p:nvPr/>
        </p:nvSpPr>
        <p:spPr>
          <a:xfrm>
            <a:off x="7315200" y="2011680"/>
            <a:ext cx="1599840" cy="1005480"/>
          </a:xfrm>
          <a:prstGeom prst="roundRect">
            <a:avLst>
              <a:gd name="adj" fmla="val 7273"/>
            </a:avLst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3"/>
          <p:cNvSpPr/>
          <p:nvPr/>
        </p:nvSpPr>
        <p:spPr>
          <a:xfrm>
            <a:off x="7406640" y="23317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Pump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4"/>
          <p:cNvSpPr/>
          <p:nvPr/>
        </p:nvSpPr>
        <p:spPr>
          <a:xfrm>
            <a:off x="8942760" y="2304360"/>
            <a:ext cx="475200" cy="319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AD9E1"/>
          </a:solidFill>
          <a:ln w="12600">
            <a:solidFill>
              <a:srgbClr val="CAD9E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5"/>
          <p:cNvSpPr/>
          <p:nvPr/>
        </p:nvSpPr>
        <p:spPr>
          <a:xfrm>
            <a:off x="9509760" y="2011680"/>
            <a:ext cx="1599840" cy="1005480"/>
          </a:xfrm>
          <a:prstGeom prst="roundRect">
            <a:avLst>
              <a:gd name="adj" fmla="val 7273"/>
            </a:avLst>
          </a:prstGeom>
          <a:solidFill>
            <a:srgbClr val="7057A3"/>
          </a:solidFill>
          <a:ln w="12600">
            <a:solidFill>
              <a:srgbClr val="7057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6"/>
          <p:cNvSpPr/>
          <p:nvPr/>
        </p:nvSpPr>
        <p:spPr>
          <a:xfrm>
            <a:off x="9601200" y="23317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Data logger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17"/>
          <p:cNvSpPr/>
          <p:nvPr/>
        </p:nvSpPr>
        <p:spPr>
          <a:xfrm>
            <a:off x="914400" y="394092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8"/>
          <p:cNvSpPr/>
          <p:nvPr/>
        </p:nvSpPr>
        <p:spPr>
          <a:xfrm>
            <a:off x="1124640" y="3886200"/>
            <a:ext cx="6373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The flow rate determines the inlet cut-point and sampled volume.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19"/>
          <p:cNvSpPr/>
          <p:nvPr/>
        </p:nvSpPr>
        <p:spPr>
          <a:xfrm>
            <a:off x="914400" y="435240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0"/>
          <p:cNvSpPr/>
          <p:nvPr/>
        </p:nvSpPr>
        <p:spPr>
          <a:xfrm>
            <a:off x="1124640" y="4297680"/>
            <a:ext cx="6373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Leaks, filter loading and pump instability can bias concentration and particle size selection.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21"/>
          <p:cNvSpPr/>
          <p:nvPr/>
        </p:nvSpPr>
        <p:spPr>
          <a:xfrm>
            <a:off x="914400" y="476388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22"/>
          <p:cNvSpPr/>
          <p:nvPr/>
        </p:nvSpPr>
        <p:spPr>
          <a:xfrm>
            <a:off x="1124640" y="4709160"/>
            <a:ext cx="6373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Meteorological sensors and pressure/temperature logging improve volume correction and data screening.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23"/>
          <p:cNvSpPr/>
          <p:nvPr/>
        </p:nvSpPr>
        <p:spPr>
          <a:xfrm>
            <a:off x="914400" y="517536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4"/>
          <p:cNvSpPr/>
          <p:nvPr/>
        </p:nvSpPr>
        <p:spPr>
          <a:xfrm>
            <a:off x="1124640" y="5120640"/>
            <a:ext cx="63730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Filter holders and cassettes should minimize particle losses and contamination.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5"/>
          <p:cNvSpPr/>
          <p:nvPr/>
        </p:nvSpPr>
        <p:spPr>
          <a:xfrm>
            <a:off x="8046720" y="3886200"/>
            <a:ext cx="3291480" cy="1325520"/>
          </a:xfrm>
          <a:prstGeom prst="roundRect">
            <a:avLst>
              <a:gd name="adj" fmla="val 3448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6"/>
          <p:cNvSpPr/>
          <p:nvPr/>
        </p:nvSpPr>
        <p:spPr>
          <a:xfrm>
            <a:off x="8211240" y="4032360"/>
            <a:ext cx="2962440" cy="103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Field check: flow before and after sampling; leak check after filter installation; document alarms, power outages and abnormal noise/vibration.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1"/>
          <p:cNvSpPr>
            <a:spLocks noGrp="1"/>
          </p:cNvSpPr>
          <p:nvPr>
            <p:ph type="sldNum" idx="17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BCB8AE4-DBA5-45C5-8ED6-7E071E5206AF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14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Choosing filter media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SAMPLING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"/>
          <p:cNvSpPr/>
          <p:nvPr/>
        </p:nvSpPr>
        <p:spPr>
          <a:xfrm>
            <a:off x="685800" y="91440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Filter choice should be driven by the target analytes and the method requirements.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7" name="Table 0"/>
          <p:cNvGraphicFramePr/>
          <p:nvPr/>
        </p:nvGraphicFramePr>
        <p:xfrm>
          <a:off x="502920" y="1417320"/>
          <a:ext cx="11183040" cy="44344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3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Filter medium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Best suited for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Advantages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Typical cautions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PTFE / Teflon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Gravimetry, XRF, ions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Low blank mass, chemically inert, good for non-destructive XRF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Static charge; fragile; not ideal for EC/OC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Quartz fiber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EC/OC, organic compounds, high-volume sampling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High temperature tolerance; common for carbonaceous aerosol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Carbon blank; adsorption artifacts; needs pre-baking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Nylon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Ions, especially nitrate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Good collection of some ionic species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May retain gases; not universal for metals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Polycarbonate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Microscopy, SEM/EDX, single particles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Smooth surface and defined pores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Limited loading; pressure drop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908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Glass/cellulose fiber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Mass/high-volume legacy applications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High capacity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Higher blanks; limited trace-element suitability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8" name="Shape 4"/>
          <p:cNvSpPr/>
          <p:nvPr/>
        </p:nvSpPr>
        <p:spPr>
          <a:xfrm>
            <a:off x="1371600" y="5989320"/>
            <a:ext cx="9326520" cy="310680"/>
          </a:xfrm>
          <a:prstGeom prst="roundRect">
            <a:avLst>
              <a:gd name="adj" fmla="val 14706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5"/>
          <p:cNvSpPr/>
          <p:nvPr/>
        </p:nvSpPr>
        <p:spPr>
          <a:xfrm>
            <a:off x="1536120" y="6135480"/>
            <a:ext cx="8997480" cy="1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2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Use field blanks for each filter type. Filter blanks can dominate uncertainty for low-concentration sites or short sampling durations.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1"/>
          <p:cNvSpPr>
            <a:spLocks noGrp="1"/>
          </p:cNvSpPr>
          <p:nvPr>
            <p:ph type="sldNum" idx="18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5838F08-F1FE-45D7-B990-5BA2AFC67439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15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Filter handling, conditioning and storage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SAMPLING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3"/>
          <p:cNvSpPr/>
          <p:nvPr/>
        </p:nvSpPr>
        <p:spPr>
          <a:xfrm>
            <a:off x="777240" y="1143000"/>
            <a:ext cx="498312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4"/>
          <p:cNvSpPr/>
          <p:nvPr/>
        </p:nvSpPr>
        <p:spPr>
          <a:xfrm>
            <a:off x="1005840" y="1371600"/>
            <a:ext cx="438480" cy="4384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5"/>
          <p:cNvSpPr/>
          <p:nvPr/>
        </p:nvSpPr>
        <p:spPr>
          <a:xfrm>
            <a:off x="1005840" y="1472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6"/>
          <p:cNvSpPr/>
          <p:nvPr/>
        </p:nvSpPr>
        <p:spPr>
          <a:xfrm>
            <a:off x="1554480" y="137160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Before sampling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7"/>
          <p:cNvSpPr/>
          <p:nvPr/>
        </p:nvSpPr>
        <p:spPr>
          <a:xfrm>
            <a:off x="1005840" y="1920240"/>
            <a:ext cx="4525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Unique filter ID, pre-conditioning, pre-weighing, lab blank record, clean transport cassette.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8"/>
          <p:cNvSpPr/>
          <p:nvPr/>
        </p:nvSpPr>
        <p:spPr>
          <a:xfrm>
            <a:off x="6263640" y="1143000"/>
            <a:ext cx="498312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9"/>
          <p:cNvSpPr/>
          <p:nvPr/>
        </p:nvSpPr>
        <p:spPr>
          <a:xfrm>
            <a:off x="6492240" y="1371600"/>
            <a:ext cx="438480" cy="438480"/>
          </a:xfrm>
          <a:prstGeom prst="ellipse">
            <a:avLst/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0"/>
          <p:cNvSpPr/>
          <p:nvPr/>
        </p:nvSpPr>
        <p:spPr>
          <a:xfrm>
            <a:off x="6492240" y="1472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1"/>
          <p:cNvSpPr/>
          <p:nvPr/>
        </p:nvSpPr>
        <p:spPr>
          <a:xfrm>
            <a:off x="7040880" y="137160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During sampling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2"/>
          <p:cNvSpPr/>
          <p:nvPr/>
        </p:nvSpPr>
        <p:spPr>
          <a:xfrm>
            <a:off x="6492240" y="1920240"/>
            <a:ext cx="4525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Powder-free gloves/tweezers, avoid touching exposed surface, note damage or unusual loading.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13"/>
          <p:cNvSpPr/>
          <p:nvPr/>
        </p:nvSpPr>
        <p:spPr>
          <a:xfrm>
            <a:off x="777240" y="3246120"/>
            <a:ext cx="498312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14"/>
          <p:cNvSpPr/>
          <p:nvPr/>
        </p:nvSpPr>
        <p:spPr>
          <a:xfrm>
            <a:off x="1005840" y="3474720"/>
            <a:ext cx="438480" cy="4384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5"/>
          <p:cNvSpPr/>
          <p:nvPr/>
        </p:nvSpPr>
        <p:spPr>
          <a:xfrm>
            <a:off x="1005840" y="35751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6"/>
          <p:cNvSpPr/>
          <p:nvPr/>
        </p:nvSpPr>
        <p:spPr>
          <a:xfrm>
            <a:off x="1554480" y="347472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After sampling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7"/>
          <p:cNvSpPr/>
          <p:nvPr/>
        </p:nvSpPr>
        <p:spPr>
          <a:xfrm>
            <a:off x="1005840" y="4023360"/>
            <a:ext cx="4525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Condition before weighing, store at appropriate temperature, protect from light and contamination.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18"/>
          <p:cNvSpPr/>
          <p:nvPr/>
        </p:nvSpPr>
        <p:spPr>
          <a:xfrm>
            <a:off x="6263640" y="3246120"/>
            <a:ext cx="498312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9"/>
          <p:cNvSpPr/>
          <p:nvPr/>
        </p:nvSpPr>
        <p:spPr>
          <a:xfrm>
            <a:off x="6492240" y="3474720"/>
            <a:ext cx="438480" cy="438480"/>
          </a:xfrm>
          <a:prstGeom prst="ellipse">
            <a:avLst/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0"/>
          <p:cNvSpPr/>
          <p:nvPr/>
        </p:nvSpPr>
        <p:spPr>
          <a:xfrm>
            <a:off x="6492240" y="35751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21"/>
          <p:cNvSpPr/>
          <p:nvPr/>
        </p:nvSpPr>
        <p:spPr>
          <a:xfrm>
            <a:off x="7040880" y="347472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For chemistry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22"/>
          <p:cNvSpPr/>
          <p:nvPr/>
        </p:nvSpPr>
        <p:spPr>
          <a:xfrm>
            <a:off x="6492240" y="4023360"/>
            <a:ext cx="452592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Split filters only with clean tools; store aliquots for ions/carbon/organics according to method needs.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23"/>
          <p:cNvSpPr/>
          <p:nvPr/>
        </p:nvSpPr>
        <p:spPr>
          <a:xfrm>
            <a:off x="1280160" y="5559480"/>
            <a:ext cx="9692280" cy="548280"/>
          </a:xfrm>
          <a:prstGeom prst="roundRect">
            <a:avLst>
              <a:gd name="adj" fmla="val 8333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4"/>
          <p:cNvSpPr/>
          <p:nvPr/>
        </p:nvSpPr>
        <p:spPr>
          <a:xfrm>
            <a:off x="1444680" y="5706000"/>
            <a:ext cx="9363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Consistent conditioning is critical for mass: temperature/RH changes and hygroscopic water uptake can create apparent PM differences.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1"/>
          <p:cNvSpPr>
            <a:spLocks noGrp="1"/>
          </p:cNvSpPr>
          <p:nvPr>
            <p:ph type="sldNum" idx="19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173EAF7-04BC-4071-B504-A24854CF251C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16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Gravimetric determination of PM mass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ANALYSIS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3"/>
          <p:cNvSpPr/>
          <p:nvPr/>
        </p:nvSpPr>
        <p:spPr>
          <a:xfrm>
            <a:off x="685800" y="960120"/>
            <a:ext cx="107895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Gravimetry is the reference basis for PM mass concentration: particles are collected on a filter and quantified by the mass increase.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4"/>
          <p:cNvSpPr/>
          <p:nvPr/>
        </p:nvSpPr>
        <p:spPr>
          <a:xfrm>
            <a:off x="822960" y="1600200"/>
            <a:ext cx="5211720" cy="1874160"/>
          </a:xfrm>
          <a:prstGeom prst="roundRect">
            <a:avLst>
              <a:gd name="adj" fmla="val 3902"/>
            </a:avLst>
          </a:prstGeom>
          <a:solidFill>
            <a:srgbClr val="F3F8FB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5"/>
          <p:cNvSpPr/>
          <p:nvPr/>
        </p:nvSpPr>
        <p:spPr>
          <a:xfrm>
            <a:off x="1051560" y="2121480"/>
            <a:ext cx="47545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B3954"/>
                </a:solidFill>
                <a:effectLst/>
                <a:uFillTx/>
                <a:latin typeface="Cambria Math"/>
                <a:ea typeface="Cambria Math"/>
              </a:rPr>
              <a:t>mPM = (mloaded − munloaded) − blank correction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Shape 6"/>
          <p:cNvSpPr/>
          <p:nvPr/>
        </p:nvSpPr>
        <p:spPr>
          <a:xfrm>
            <a:off x="6400800" y="1600200"/>
            <a:ext cx="4983120" cy="1874160"/>
          </a:xfrm>
          <a:prstGeom prst="roundRect">
            <a:avLst>
              <a:gd name="adj" fmla="val 3902"/>
            </a:avLst>
          </a:prstGeom>
          <a:solidFill>
            <a:srgbClr val="FDF6E9"/>
          </a:solidFill>
          <a:ln w="12600">
            <a:solidFill>
              <a:srgbClr val="F3E0B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7"/>
          <p:cNvSpPr/>
          <p:nvPr/>
        </p:nvSpPr>
        <p:spPr>
          <a:xfrm>
            <a:off x="6812280" y="2121480"/>
            <a:ext cx="416016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0B3954"/>
                </a:solidFill>
                <a:effectLst/>
                <a:uFillTx/>
                <a:latin typeface="Cambria Math"/>
                <a:ea typeface="Cambria Math"/>
              </a:rPr>
              <a:t>CPM = mPM / Vair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8"/>
          <p:cNvSpPr/>
          <p:nvPr/>
        </p:nvSpPr>
        <p:spPr>
          <a:xfrm>
            <a:off x="960120" y="403236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9"/>
          <p:cNvSpPr/>
          <p:nvPr/>
        </p:nvSpPr>
        <p:spPr>
          <a:xfrm>
            <a:off x="1170360" y="3977640"/>
            <a:ext cx="555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Use calibrated microbalance and anti-static control.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10"/>
          <p:cNvSpPr/>
          <p:nvPr/>
        </p:nvSpPr>
        <p:spPr>
          <a:xfrm>
            <a:off x="960120" y="444384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11"/>
          <p:cNvSpPr/>
          <p:nvPr/>
        </p:nvSpPr>
        <p:spPr>
          <a:xfrm>
            <a:off x="1170360" y="4389120"/>
            <a:ext cx="555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Condition filters before both pre- and post-weighing.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Shape 12"/>
          <p:cNvSpPr/>
          <p:nvPr/>
        </p:nvSpPr>
        <p:spPr>
          <a:xfrm>
            <a:off x="960120" y="485532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3"/>
          <p:cNvSpPr/>
          <p:nvPr/>
        </p:nvSpPr>
        <p:spPr>
          <a:xfrm>
            <a:off x="1170360" y="4800600"/>
            <a:ext cx="555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Use repeated weighing criteria and blank correction.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4"/>
          <p:cNvSpPr/>
          <p:nvPr/>
        </p:nvSpPr>
        <p:spPr>
          <a:xfrm>
            <a:off x="960120" y="526680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5"/>
          <p:cNvSpPr/>
          <p:nvPr/>
        </p:nvSpPr>
        <p:spPr>
          <a:xfrm>
            <a:off x="1170360" y="5212080"/>
            <a:ext cx="5550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Report concentration in µg/m³ with volume basis specified.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6"/>
          <p:cNvSpPr/>
          <p:nvPr/>
        </p:nvSpPr>
        <p:spPr>
          <a:xfrm>
            <a:off x="7543800" y="3913560"/>
            <a:ext cx="3611520" cy="1416960"/>
          </a:xfrm>
          <a:prstGeom prst="roundRect">
            <a:avLst>
              <a:gd name="adj" fmla="val 3226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7"/>
          <p:cNvSpPr/>
          <p:nvPr/>
        </p:nvSpPr>
        <p:spPr>
          <a:xfrm>
            <a:off x="7708320" y="4060080"/>
            <a:ext cx="3282480" cy="112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EN 12341:2023 defines a standard gravimetric method for PM10/PM2.5 by sampling on filters and weighing them; the method includes specified inlet designs and nominal sampling conditions.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8"/>
          <p:cNvSpPr/>
          <p:nvPr/>
        </p:nvSpPr>
        <p:spPr>
          <a:xfrm>
            <a:off x="7772400" y="6245280"/>
            <a:ext cx="38858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7A8790"/>
                </a:solidFill>
                <a:effectLst/>
                <a:uFillTx/>
                <a:latin typeface="Aptos"/>
              </a:rPr>
              <a:t>Source: EN 12341:2023 summary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sldNum" idx="20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A2CD37F-C6C6-4CBB-9CA0-7554216BE353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17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Air volume and concentration calculations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ANALYSIS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3"/>
          <p:cNvSpPr/>
          <p:nvPr/>
        </p:nvSpPr>
        <p:spPr>
          <a:xfrm>
            <a:off x="685800" y="9601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PM concentration depends on both measured mass and the sampled air volume. Flow uncertainty is often a major contributor.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4"/>
          <p:cNvSpPr/>
          <p:nvPr/>
        </p:nvSpPr>
        <p:spPr>
          <a:xfrm>
            <a:off x="822960" y="1600200"/>
            <a:ext cx="5028840" cy="3200040"/>
          </a:xfrm>
          <a:prstGeom prst="roundRect">
            <a:avLst>
              <a:gd name="adj" fmla="val 2286"/>
            </a:avLst>
          </a:prstGeom>
          <a:solidFill>
            <a:srgbClr val="F3F8FB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5"/>
          <p:cNvSpPr/>
          <p:nvPr/>
        </p:nvSpPr>
        <p:spPr>
          <a:xfrm>
            <a:off x="1097280" y="2148840"/>
            <a:ext cx="44802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Cambria Math"/>
                <a:ea typeface="Cambria Math"/>
              </a:rPr>
              <a:t>Vair = Qavg × t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6"/>
          <p:cNvSpPr/>
          <p:nvPr/>
        </p:nvSpPr>
        <p:spPr>
          <a:xfrm>
            <a:off x="1463040" y="2971800"/>
            <a:ext cx="38401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Qavg: average flow rate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t: valid sampling 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Vair: sampled volume at specified conditions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7"/>
          <p:cNvSpPr/>
          <p:nvPr/>
        </p:nvSpPr>
        <p:spPr>
          <a:xfrm>
            <a:off x="6446520" y="165492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8"/>
          <p:cNvSpPr/>
          <p:nvPr/>
        </p:nvSpPr>
        <p:spPr>
          <a:xfrm>
            <a:off x="6656760" y="1600200"/>
            <a:ext cx="4361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Record start and end time automatically where possible.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9"/>
          <p:cNvSpPr/>
          <p:nvPr/>
        </p:nvSpPr>
        <p:spPr>
          <a:xfrm>
            <a:off x="6446520" y="209412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10"/>
          <p:cNvSpPr/>
          <p:nvPr/>
        </p:nvSpPr>
        <p:spPr>
          <a:xfrm>
            <a:off x="6656760" y="2039040"/>
            <a:ext cx="4361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Check initial and final flow; flag deviations and instrument alarms.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Shape 11"/>
          <p:cNvSpPr/>
          <p:nvPr/>
        </p:nvSpPr>
        <p:spPr>
          <a:xfrm>
            <a:off x="6446520" y="253296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2"/>
          <p:cNvSpPr/>
          <p:nvPr/>
        </p:nvSpPr>
        <p:spPr>
          <a:xfrm>
            <a:off x="6656760" y="2477880"/>
            <a:ext cx="4361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State whether volumes are reported at ambient, standard or reference conditions.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13"/>
          <p:cNvSpPr/>
          <p:nvPr/>
        </p:nvSpPr>
        <p:spPr>
          <a:xfrm>
            <a:off x="6446520" y="297180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14"/>
          <p:cNvSpPr/>
          <p:nvPr/>
        </p:nvSpPr>
        <p:spPr>
          <a:xfrm>
            <a:off x="6656760" y="2917080"/>
            <a:ext cx="4361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Apply pressure and temperature corrections consistently when required.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15"/>
          <p:cNvSpPr/>
          <p:nvPr/>
        </p:nvSpPr>
        <p:spPr>
          <a:xfrm>
            <a:off x="6492240" y="4297680"/>
            <a:ext cx="4434480" cy="658080"/>
          </a:xfrm>
          <a:prstGeom prst="roundRect">
            <a:avLst>
              <a:gd name="adj" fmla="val 6944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6"/>
          <p:cNvSpPr/>
          <p:nvPr/>
        </p:nvSpPr>
        <p:spPr>
          <a:xfrm>
            <a:off x="6656760" y="4443840"/>
            <a:ext cx="4105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Example: a 24 h sample at 2.3 m³/h collects about 55.2 m³ of air before any invalid-time corrections.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1"/>
          <p:cNvSpPr>
            <a:spLocks noGrp="1"/>
          </p:cNvSpPr>
          <p:nvPr>
            <p:ph type="sldNum" idx="21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83FE86E-E3E2-43CC-BA97-3FBDD05823E5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18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QA/QC: what makes PM data defensible?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ANALYSIS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3"/>
          <p:cNvSpPr/>
          <p:nvPr/>
        </p:nvSpPr>
        <p:spPr>
          <a:xfrm>
            <a:off x="685800" y="1143000"/>
            <a:ext cx="32457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4"/>
          <p:cNvSpPr/>
          <p:nvPr/>
        </p:nvSpPr>
        <p:spPr>
          <a:xfrm>
            <a:off x="914400" y="1371600"/>
            <a:ext cx="438480" cy="4384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5"/>
          <p:cNvSpPr/>
          <p:nvPr/>
        </p:nvSpPr>
        <p:spPr>
          <a:xfrm>
            <a:off x="914400" y="1472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6"/>
          <p:cNvSpPr/>
          <p:nvPr/>
        </p:nvSpPr>
        <p:spPr>
          <a:xfrm>
            <a:off x="1463040" y="1371600"/>
            <a:ext cx="2239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Blanks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7"/>
          <p:cNvSpPr/>
          <p:nvPr/>
        </p:nvSpPr>
        <p:spPr>
          <a:xfrm>
            <a:off x="914400" y="1920240"/>
            <a:ext cx="2788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Laboratory blanks, field blanks and travel blanks for every filter type and campaign phase.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8"/>
          <p:cNvSpPr/>
          <p:nvPr/>
        </p:nvSpPr>
        <p:spPr>
          <a:xfrm>
            <a:off x="4453200" y="1143000"/>
            <a:ext cx="32457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9"/>
          <p:cNvSpPr/>
          <p:nvPr/>
        </p:nvSpPr>
        <p:spPr>
          <a:xfrm>
            <a:off x="4681800" y="1371600"/>
            <a:ext cx="438480" cy="438480"/>
          </a:xfrm>
          <a:prstGeom prst="ellipse">
            <a:avLst/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10"/>
          <p:cNvSpPr/>
          <p:nvPr/>
        </p:nvSpPr>
        <p:spPr>
          <a:xfrm>
            <a:off x="4681800" y="1472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1"/>
          <p:cNvSpPr/>
          <p:nvPr/>
        </p:nvSpPr>
        <p:spPr>
          <a:xfrm>
            <a:off x="5230440" y="1371600"/>
            <a:ext cx="2239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Replicates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2"/>
          <p:cNvSpPr/>
          <p:nvPr/>
        </p:nvSpPr>
        <p:spPr>
          <a:xfrm>
            <a:off x="4681800" y="1920240"/>
            <a:ext cx="2788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Duplicate or collocated samples to assess precision and sampling comparability.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3"/>
          <p:cNvSpPr/>
          <p:nvPr/>
        </p:nvSpPr>
        <p:spPr>
          <a:xfrm>
            <a:off x="8220600" y="1143000"/>
            <a:ext cx="32457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Shape 14"/>
          <p:cNvSpPr/>
          <p:nvPr/>
        </p:nvSpPr>
        <p:spPr>
          <a:xfrm>
            <a:off x="8449200" y="1371600"/>
            <a:ext cx="438480" cy="4384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5"/>
          <p:cNvSpPr/>
          <p:nvPr/>
        </p:nvSpPr>
        <p:spPr>
          <a:xfrm>
            <a:off x="8449200" y="1472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6"/>
          <p:cNvSpPr/>
          <p:nvPr/>
        </p:nvSpPr>
        <p:spPr>
          <a:xfrm>
            <a:off x="8997840" y="1371600"/>
            <a:ext cx="2239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Calibration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7"/>
          <p:cNvSpPr/>
          <p:nvPr/>
        </p:nvSpPr>
        <p:spPr>
          <a:xfrm>
            <a:off x="8449200" y="1920240"/>
            <a:ext cx="2788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Flow calibrator, balance verification, instrument calibration standards and control charts.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18"/>
          <p:cNvSpPr/>
          <p:nvPr/>
        </p:nvSpPr>
        <p:spPr>
          <a:xfrm>
            <a:off x="685800" y="3291840"/>
            <a:ext cx="32457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19"/>
          <p:cNvSpPr/>
          <p:nvPr/>
        </p:nvSpPr>
        <p:spPr>
          <a:xfrm>
            <a:off x="914400" y="3520440"/>
            <a:ext cx="438480" cy="438480"/>
          </a:xfrm>
          <a:prstGeom prst="ellipse">
            <a:avLst/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20"/>
          <p:cNvSpPr/>
          <p:nvPr/>
        </p:nvSpPr>
        <p:spPr>
          <a:xfrm>
            <a:off x="914400" y="36208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21"/>
          <p:cNvSpPr/>
          <p:nvPr/>
        </p:nvSpPr>
        <p:spPr>
          <a:xfrm>
            <a:off x="1463040" y="3520440"/>
            <a:ext cx="2239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Detection limits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22"/>
          <p:cNvSpPr/>
          <p:nvPr/>
        </p:nvSpPr>
        <p:spPr>
          <a:xfrm>
            <a:off x="914400" y="4069080"/>
            <a:ext cx="2788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Method detection limits based on blanks and realistic sample processing.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23"/>
          <p:cNvSpPr/>
          <p:nvPr/>
        </p:nvSpPr>
        <p:spPr>
          <a:xfrm>
            <a:off x="4453200" y="3291840"/>
            <a:ext cx="32457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24"/>
          <p:cNvSpPr/>
          <p:nvPr/>
        </p:nvSpPr>
        <p:spPr>
          <a:xfrm>
            <a:off x="4681800" y="3520440"/>
            <a:ext cx="438480" cy="438480"/>
          </a:xfrm>
          <a:prstGeom prst="ellipse">
            <a:avLst/>
          </a:prstGeom>
          <a:solidFill>
            <a:srgbClr val="D95D39"/>
          </a:solidFill>
          <a:ln w="12600">
            <a:solidFill>
              <a:srgbClr val="D95D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5"/>
          <p:cNvSpPr/>
          <p:nvPr/>
        </p:nvSpPr>
        <p:spPr>
          <a:xfrm>
            <a:off x="4681800" y="36208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6"/>
          <p:cNvSpPr/>
          <p:nvPr/>
        </p:nvSpPr>
        <p:spPr>
          <a:xfrm>
            <a:off x="5230440" y="3520440"/>
            <a:ext cx="2239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Uncertainty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7"/>
          <p:cNvSpPr/>
          <p:nvPr/>
        </p:nvSpPr>
        <p:spPr>
          <a:xfrm>
            <a:off x="4681800" y="4069080"/>
            <a:ext cx="2788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Combine weighing, flow, blank, calibration and analytical uncertainty contributions.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8"/>
          <p:cNvSpPr/>
          <p:nvPr/>
        </p:nvSpPr>
        <p:spPr>
          <a:xfrm>
            <a:off x="8220600" y="3291840"/>
            <a:ext cx="324576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29"/>
          <p:cNvSpPr/>
          <p:nvPr/>
        </p:nvSpPr>
        <p:spPr>
          <a:xfrm>
            <a:off x="8449200" y="3520440"/>
            <a:ext cx="438480" cy="438480"/>
          </a:xfrm>
          <a:prstGeom prst="ellipse">
            <a:avLst/>
          </a:prstGeom>
          <a:solidFill>
            <a:srgbClr val="7057A3"/>
          </a:solidFill>
          <a:ln w="12600">
            <a:solidFill>
              <a:srgbClr val="7057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30"/>
          <p:cNvSpPr/>
          <p:nvPr/>
        </p:nvSpPr>
        <p:spPr>
          <a:xfrm>
            <a:off x="8449200" y="36208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31"/>
          <p:cNvSpPr/>
          <p:nvPr/>
        </p:nvSpPr>
        <p:spPr>
          <a:xfrm>
            <a:off x="8997840" y="3520440"/>
            <a:ext cx="2239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Flags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2"/>
          <p:cNvSpPr/>
          <p:nvPr/>
        </p:nvSpPr>
        <p:spPr>
          <a:xfrm>
            <a:off x="8449200" y="4069080"/>
            <a:ext cx="2788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Power failure, low flow, damaged filter, overload, precipitation, construction activity, contamination.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33"/>
          <p:cNvSpPr/>
          <p:nvPr/>
        </p:nvSpPr>
        <p:spPr>
          <a:xfrm>
            <a:off x="1188720" y="5715000"/>
            <a:ext cx="9783720" cy="438480"/>
          </a:xfrm>
          <a:prstGeom prst="roundRect">
            <a:avLst>
              <a:gd name="adj" fmla="val 10417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34"/>
          <p:cNvSpPr/>
          <p:nvPr/>
        </p:nvSpPr>
        <p:spPr>
          <a:xfrm>
            <a:off x="1353240" y="5861160"/>
            <a:ext cx="94546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 QA/QC plan should be written before sampling starts and must be reflected in the data file, not only in the final report.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1"/>
          <p:cNvSpPr>
            <a:spLocks noGrp="1"/>
          </p:cNvSpPr>
          <p:nvPr>
            <p:ph type="sldNum" idx="22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4D0EB37-E784-4D7F-BCF6-29044D5EC7D8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19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Sampling artifacts and particle losses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SAMPLING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3"/>
          <p:cNvSpPr/>
          <p:nvPr/>
        </p:nvSpPr>
        <p:spPr>
          <a:xfrm>
            <a:off x="685800" y="9601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Artifacts are changes caused by the sampling method itself. They can affect both mass and chemistry.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4"/>
          <p:cNvSpPr/>
          <p:nvPr/>
        </p:nvSpPr>
        <p:spPr>
          <a:xfrm>
            <a:off x="777240" y="141732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5"/>
          <p:cNvSpPr/>
          <p:nvPr/>
        </p:nvSpPr>
        <p:spPr>
          <a:xfrm>
            <a:off x="1005840" y="1645920"/>
            <a:ext cx="438480" cy="438480"/>
          </a:xfrm>
          <a:prstGeom prst="ellipse">
            <a:avLst/>
          </a:prstGeom>
          <a:solidFill>
            <a:srgbClr val="D95D39"/>
          </a:solidFill>
          <a:ln w="12600">
            <a:solidFill>
              <a:srgbClr val="D95D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6"/>
          <p:cNvSpPr/>
          <p:nvPr/>
        </p:nvSpPr>
        <p:spPr>
          <a:xfrm>
            <a:off x="1005840" y="17463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7"/>
          <p:cNvSpPr/>
          <p:nvPr/>
        </p:nvSpPr>
        <p:spPr>
          <a:xfrm>
            <a:off x="1554480" y="164592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Positive artifacts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8"/>
          <p:cNvSpPr/>
          <p:nvPr/>
        </p:nvSpPr>
        <p:spPr>
          <a:xfrm>
            <a:off x="1005840" y="219456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Adsorption of organic vapors or reactive gases on filters; particle-bound water uptake.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9"/>
          <p:cNvSpPr/>
          <p:nvPr/>
        </p:nvSpPr>
        <p:spPr>
          <a:xfrm>
            <a:off x="6263640" y="141732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0"/>
          <p:cNvSpPr/>
          <p:nvPr/>
        </p:nvSpPr>
        <p:spPr>
          <a:xfrm>
            <a:off x="6492240" y="1645920"/>
            <a:ext cx="438480" cy="4384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1"/>
          <p:cNvSpPr/>
          <p:nvPr/>
        </p:nvSpPr>
        <p:spPr>
          <a:xfrm>
            <a:off x="6492240" y="17463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2"/>
          <p:cNvSpPr/>
          <p:nvPr/>
        </p:nvSpPr>
        <p:spPr>
          <a:xfrm>
            <a:off x="7040880" y="164592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Negative artifacts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3"/>
          <p:cNvSpPr/>
          <p:nvPr/>
        </p:nvSpPr>
        <p:spPr>
          <a:xfrm>
            <a:off x="6492240" y="219456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Volatilization of nitrate, ammonium chloride and semi-volatile organic compounds during sampling or storage.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4"/>
          <p:cNvSpPr/>
          <p:nvPr/>
        </p:nvSpPr>
        <p:spPr>
          <a:xfrm>
            <a:off x="777240" y="338328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5"/>
          <p:cNvSpPr/>
          <p:nvPr/>
        </p:nvSpPr>
        <p:spPr>
          <a:xfrm>
            <a:off x="1005840" y="3611880"/>
            <a:ext cx="438480" cy="438480"/>
          </a:xfrm>
          <a:prstGeom prst="ellipse">
            <a:avLst/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6"/>
          <p:cNvSpPr/>
          <p:nvPr/>
        </p:nvSpPr>
        <p:spPr>
          <a:xfrm>
            <a:off x="1005840" y="3712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7"/>
          <p:cNvSpPr/>
          <p:nvPr/>
        </p:nvSpPr>
        <p:spPr>
          <a:xfrm>
            <a:off x="1554480" y="36118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Particle losses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8"/>
          <p:cNvSpPr/>
          <p:nvPr/>
        </p:nvSpPr>
        <p:spPr>
          <a:xfrm>
            <a:off x="1005840" y="416052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Inlet losses, tubing deposition, bounce in impactors, overloading, leaks and poor filter sealing.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19"/>
          <p:cNvSpPr/>
          <p:nvPr/>
        </p:nvSpPr>
        <p:spPr>
          <a:xfrm>
            <a:off x="6263640" y="338328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20"/>
          <p:cNvSpPr/>
          <p:nvPr/>
        </p:nvSpPr>
        <p:spPr>
          <a:xfrm>
            <a:off x="6492240" y="3611880"/>
            <a:ext cx="438480" cy="438480"/>
          </a:xfrm>
          <a:prstGeom prst="ellipse">
            <a:avLst/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1"/>
          <p:cNvSpPr/>
          <p:nvPr/>
        </p:nvSpPr>
        <p:spPr>
          <a:xfrm>
            <a:off x="6492240" y="3712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22"/>
          <p:cNvSpPr/>
          <p:nvPr/>
        </p:nvSpPr>
        <p:spPr>
          <a:xfrm>
            <a:off x="7040880" y="36118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Mitigation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3"/>
          <p:cNvSpPr/>
          <p:nvPr/>
        </p:nvSpPr>
        <p:spPr>
          <a:xfrm>
            <a:off x="6492240" y="416052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Denuders, backup filters, appropriate face velocity, temperature control, clean handling and realistic blank correction.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24"/>
          <p:cNvSpPr/>
          <p:nvPr/>
        </p:nvSpPr>
        <p:spPr>
          <a:xfrm>
            <a:off x="1371600" y="5532120"/>
            <a:ext cx="9326520" cy="502560"/>
          </a:xfrm>
          <a:prstGeom prst="roundRect">
            <a:avLst>
              <a:gd name="adj" fmla="val 9091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25"/>
          <p:cNvSpPr/>
          <p:nvPr/>
        </p:nvSpPr>
        <p:spPr>
          <a:xfrm>
            <a:off x="1536120" y="5678280"/>
            <a:ext cx="89974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Artifact control is especially important when measuring nitrate, ammonium, organic carbon and semi-volatile organic compounds.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PlaceHolder 1"/>
          <p:cNvSpPr>
            <a:spLocks noGrp="1"/>
          </p:cNvSpPr>
          <p:nvPr>
            <p:ph type="sldNum" idx="23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425D76A-E099-45AF-B9EE-1E8D728CB6F7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20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Field metadata: the invisible part of the sample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SAMPLING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3"/>
          <p:cNvSpPr/>
          <p:nvPr/>
        </p:nvSpPr>
        <p:spPr>
          <a:xfrm>
            <a:off x="685800" y="9601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The physical filter is only half of the sample. The metadata allow interpretation, QA screening and reproducibility.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92" name="Table 0"/>
          <p:cNvGraphicFramePr/>
          <p:nvPr/>
        </p:nvGraphicFramePr>
        <p:xfrm>
          <a:off x="822960" y="1417320"/>
          <a:ext cx="10607040" cy="3885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Category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Examples to record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Site and sampler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Coordinates, site type, inlet height, sampler/inlet ID, filter holder ID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Time and flow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Start/end, duration, initial/final/average flow, flow alarms, total volume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Meteorology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Temperature, pressure, RH, precipitation, wind speed/direction where available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Sample condition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Filter ID, medium, lot, damage, visible deposits, overload, transport and storage conditions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6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Local context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Nearby activities, traffic changes, construction, fires, dust events, power interruptions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3" name="Shape 4"/>
          <p:cNvSpPr/>
          <p:nvPr/>
        </p:nvSpPr>
        <p:spPr>
          <a:xfrm>
            <a:off x="1463040" y="5715000"/>
            <a:ext cx="9143640" cy="438480"/>
          </a:xfrm>
          <a:prstGeom prst="roundRect">
            <a:avLst>
              <a:gd name="adj" fmla="val 10417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5"/>
          <p:cNvSpPr/>
          <p:nvPr/>
        </p:nvSpPr>
        <p:spPr>
          <a:xfrm>
            <a:off x="1627560" y="5861160"/>
            <a:ext cx="881460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Good metadata turn samples into defensible environmental measurements. Poor metadata turn measurements into isolated numbers.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1"/>
          <p:cNvSpPr>
            <a:spLocks noGrp="1"/>
          </p:cNvSpPr>
          <p:nvPr>
            <p:ph type="sldNum" idx="24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66C9AE8-70B4-4C80-8CE9-254B5833C2DF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21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Chemical analysis: matching methods to questions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ANALYSIS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3"/>
          <p:cNvSpPr/>
          <p:nvPr/>
        </p:nvSpPr>
        <p:spPr>
          <a:xfrm>
            <a:off x="685800" y="9601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Different techniques measure different fractions of PM chemistry. Combining methods produces a more complete picture.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4"/>
          <p:cNvSpPr/>
          <p:nvPr/>
        </p:nvSpPr>
        <p:spPr>
          <a:xfrm>
            <a:off x="822960" y="1508760"/>
            <a:ext cx="1919880" cy="502560"/>
          </a:xfrm>
          <a:prstGeom prst="roundRect">
            <a:avLst>
              <a:gd name="adj" fmla="val 9091"/>
            </a:avLst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5"/>
          <p:cNvSpPr/>
          <p:nvPr/>
        </p:nvSpPr>
        <p:spPr>
          <a:xfrm>
            <a:off x="914400" y="1664280"/>
            <a:ext cx="17370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Elements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6"/>
          <p:cNvSpPr/>
          <p:nvPr/>
        </p:nvSpPr>
        <p:spPr>
          <a:xfrm>
            <a:off x="3063240" y="158184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XRF, PIXE, ICP-MS/OES, AAS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7"/>
          <p:cNvSpPr/>
          <p:nvPr/>
        </p:nvSpPr>
        <p:spPr>
          <a:xfrm>
            <a:off x="6720840" y="1581840"/>
            <a:ext cx="4434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Al, Si, Fe, Ti, V, Ni, Cu, Zn, Pb, As, Cd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8"/>
          <p:cNvSpPr/>
          <p:nvPr/>
        </p:nvSpPr>
        <p:spPr>
          <a:xfrm>
            <a:off x="822960" y="2331720"/>
            <a:ext cx="1919880" cy="502560"/>
          </a:xfrm>
          <a:prstGeom prst="roundRect">
            <a:avLst>
              <a:gd name="adj" fmla="val 9091"/>
            </a:avLst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9"/>
          <p:cNvSpPr/>
          <p:nvPr/>
        </p:nvSpPr>
        <p:spPr>
          <a:xfrm>
            <a:off x="914400" y="2487240"/>
            <a:ext cx="17370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Ions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10"/>
          <p:cNvSpPr/>
          <p:nvPr/>
        </p:nvSpPr>
        <p:spPr>
          <a:xfrm>
            <a:off x="3063240" y="240480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Ion chromatography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1"/>
          <p:cNvSpPr/>
          <p:nvPr/>
        </p:nvSpPr>
        <p:spPr>
          <a:xfrm>
            <a:off x="6720840" y="2404800"/>
            <a:ext cx="4434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SO₄²⁻, NO₃⁻, NH₄⁺, Cl⁻, Na⁺, K⁺, Mg²⁺, Ca²⁺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2"/>
          <p:cNvSpPr/>
          <p:nvPr/>
        </p:nvSpPr>
        <p:spPr>
          <a:xfrm>
            <a:off x="822960" y="3154680"/>
            <a:ext cx="1919880" cy="502560"/>
          </a:xfrm>
          <a:prstGeom prst="roundRect">
            <a:avLst>
              <a:gd name="adj" fmla="val 9091"/>
            </a:avLst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3"/>
          <p:cNvSpPr/>
          <p:nvPr/>
        </p:nvSpPr>
        <p:spPr>
          <a:xfrm>
            <a:off x="914400" y="3310200"/>
            <a:ext cx="17370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Carbon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4"/>
          <p:cNvSpPr/>
          <p:nvPr/>
        </p:nvSpPr>
        <p:spPr>
          <a:xfrm>
            <a:off x="3063240" y="322776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Thermal-optical EC/OC; optical BC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5"/>
          <p:cNvSpPr/>
          <p:nvPr/>
        </p:nvSpPr>
        <p:spPr>
          <a:xfrm>
            <a:off x="6720840" y="3227760"/>
            <a:ext cx="4434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OC, EC, TC, equivalent black carbon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16"/>
          <p:cNvSpPr/>
          <p:nvPr/>
        </p:nvSpPr>
        <p:spPr>
          <a:xfrm>
            <a:off x="822960" y="3977640"/>
            <a:ext cx="1919880" cy="502560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7"/>
          <p:cNvSpPr/>
          <p:nvPr/>
        </p:nvSpPr>
        <p:spPr>
          <a:xfrm>
            <a:off x="914400" y="4133160"/>
            <a:ext cx="17370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Organics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8"/>
          <p:cNvSpPr/>
          <p:nvPr/>
        </p:nvSpPr>
        <p:spPr>
          <a:xfrm>
            <a:off x="3063240" y="405072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GC-MS, LC-MS, AMS/ACSM, EESI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9"/>
          <p:cNvSpPr/>
          <p:nvPr/>
        </p:nvSpPr>
        <p:spPr>
          <a:xfrm>
            <a:off x="6720840" y="4050720"/>
            <a:ext cx="4434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Molecular markers, organic aerosol composition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20"/>
          <p:cNvSpPr/>
          <p:nvPr/>
        </p:nvSpPr>
        <p:spPr>
          <a:xfrm>
            <a:off x="822960" y="4800600"/>
            <a:ext cx="1919880" cy="502560"/>
          </a:xfrm>
          <a:prstGeom prst="roundRect">
            <a:avLst>
              <a:gd name="adj" fmla="val 9091"/>
            </a:avLst>
          </a:prstGeom>
          <a:solidFill>
            <a:srgbClr val="7057A3"/>
          </a:solidFill>
          <a:ln w="12600">
            <a:solidFill>
              <a:srgbClr val="7057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21"/>
          <p:cNvSpPr/>
          <p:nvPr/>
        </p:nvSpPr>
        <p:spPr>
          <a:xfrm>
            <a:off x="914400" y="4956120"/>
            <a:ext cx="17370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Morphology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22"/>
          <p:cNvSpPr/>
          <p:nvPr/>
        </p:nvSpPr>
        <p:spPr>
          <a:xfrm>
            <a:off x="3063240" y="4873680"/>
            <a:ext cx="3382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Microscopy, SEM/EDX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3"/>
          <p:cNvSpPr/>
          <p:nvPr/>
        </p:nvSpPr>
        <p:spPr>
          <a:xfrm>
            <a:off x="6720840" y="4873680"/>
            <a:ext cx="4434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Size, shape and single-particle composition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4"/>
          <p:cNvSpPr/>
          <p:nvPr/>
        </p:nvSpPr>
        <p:spPr>
          <a:xfrm>
            <a:off x="1234440" y="5833800"/>
            <a:ext cx="9692280" cy="392760"/>
          </a:xfrm>
          <a:prstGeom prst="roundRect">
            <a:avLst>
              <a:gd name="adj" fmla="val 11628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25"/>
          <p:cNvSpPr/>
          <p:nvPr/>
        </p:nvSpPr>
        <p:spPr>
          <a:xfrm>
            <a:off x="1398960" y="5980320"/>
            <a:ext cx="9363240" cy="10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7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Analytical plan = filter material + mass loading + target analytes + detection limits + available sample area + storage conditions.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1"/>
          <p:cNvSpPr>
            <a:spLocks noGrp="1"/>
          </p:cNvSpPr>
          <p:nvPr>
            <p:ph type="sldNum" idx="25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E14DDCD-BD24-48F7-86A2-D2EFDEE9EA17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22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Elemental analysis of PM filters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ANALYSIS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26" name="Table 0"/>
          <p:cNvGraphicFramePr/>
          <p:nvPr/>
        </p:nvGraphicFramePr>
        <p:xfrm>
          <a:off x="502920" y="1097280"/>
          <a:ext cx="11201400" cy="393120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Technique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Sample preparation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Strengths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Typical limitations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XRF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Usually non-destructive; filter analyzed directly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Multi-element; preserves sample; good for routine networks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Higher limits for light elements; matrix/loading corrections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PIXE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Non-destructive ion-beam method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Sensitive for many elements; small spots possible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Requires accelerator facility; beam-time constraints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ICP-MS / ICP-OES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Acid digestion/extraction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Very low detection limits; many trace metals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Destructive; digestion recovery and contamination control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AAS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Digestion/extraction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Targeted metal analysis; widely available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Element-by-element; lower throughput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7" name="Shape 3"/>
          <p:cNvSpPr/>
          <p:nvPr/>
        </p:nvSpPr>
        <p:spPr>
          <a:xfrm>
            <a:off x="1234440" y="5440680"/>
            <a:ext cx="9783720" cy="529920"/>
          </a:xfrm>
          <a:prstGeom prst="roundRect">
            <a:avLst>
              <a:gd name="adj" fmla="val 8621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4"/>
          <p:cNvSpPr/>
          <p:nvPr/>
        </p:nvSpPr>
        <p:spPr>
          <a:xfrm>
            <a:off x="1398960" y="5586840"/>
            <a:ext cx="94546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Elemental datasets are useful for crustal material, sea salt, industrial tracers, traffic-related metals and quality checks such as elemental ratios.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5"/>
          <p:cNvSpPr/>
          <p:nvPr/>
        </p:nvSpPr>
        <p:spPr>
          <a:xfrm>
            <a:off x="7772400" y="6245280"/>
            <a:ext cx="38858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7A8790"/>
                </a:solidFill>
                <a:effectLst/>
                <a:uFillTx/>
                <a:latin typeface="Aptos"/>
              </a:rPr>
              <a:t>Source examples: EPA IO-3.3 for XRF; EPA IO-3.4 for ICP methods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PlaceHolder 1"/>
          <p:cNvSpPr>
            <a:spLocks noGrp="1"/>
          </p:cNvSpPr>
          <p:nvPr>
            <p:ph type="sldNum" idx="26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16BA521-79C1-4BEE-AB11-534C4400DDE6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23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Water-soluble ions by ion chromatography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ANALYSIS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3"/>
          <p:cNvSpPr/>
          <p:nvPr/>
        </p:nvSpPr>
        <p:spPr>
          <a:xfrm>
            <a:off x="685800" y="9601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Ion chromatography quantifies the major water-soluble inorganic aerosol components after filter extraction.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4"/>
          <p:cNvSpPr/>
          <p:nvPr/>
        </p:nvSpPr>
        <p:spPr>
          <a:xfrm>
            <a:off x="777240" y="1417320"/>
            <a:ext cx="5257440" cy="3885840"/>
          </a:xfrm>
          <a:prstGeom prst="roundRect">
            <a:avLst>
              <a:gd name="adj" fmla="val 1882"/>
            </a:avLst>
          </a:prstGeom>
          <a:solidFill>
            <a:srgbClr val="F3F8FB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5"/>
          <p:cNvSpPr/>
          <p:nvPr/>
        </p:nvSpPr>
        <p:spPr>
          <a:xfrm>
            <a:off x="1097280" y="1719000"/>
            <a:ext cx="4617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Common target 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Shape 6"/>
          <p:cNvSpPr/>
          <p:nvPr/>
        </p:nvSpPr>
        <p:spPr>
          <a:xfrm>
            <a:off x="1143000" y="2331720"/>
            <a:ext cx="712800" cy="347040"/>
          </a:xfrm>
          <a:prstGeom prst="roundRect">
            <a:avLst>
              <a:gd name="adj" fmla="val 21053"/>
            </a:avLst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7"/>
          <p:cNvSpPr/>
          <p:nvPr/>
        </p:nvSpPr>
        <p:spPr>
          <a:xfrm>
            <a:off x="1143000" y="2423160"/>
            <a:ext cx="7128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SO₄²⁻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8"/>
          <p:cNvSpPr/>
          <p:nvPr/>
        </p:nvSpPr>
        <p:spPr>
          <a:xfrm>
            <a:off x="2194560" y="2331720"/>
            <a:ext cx="712800" cy="347040"/>
          </a:xfrm>
          <a:prstGeom prst="roundRect">
            <a:avLst>
              <a:gd name="adj" fmla="val 21053"/>
            </a:avLst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9"/>
          <p:cNvSpPr/>
          <p:nvPr/>
        </p:nvSpPr>
        <p:spPr>
          <a:xfrm>
            <a:off x="2194560" y="2423160"/>
            <a:ext cx="7128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NO₃⁻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Shape 10"/>
          <p:cNvSpPr/>
          <p:nvPr/>
        </p:nvSpPr>
        <p:spPr>
          <a:xfrm>
            <a:off x="3246120" y="2331720"/>
            <a:ext cx="712800" cy="347040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1"/>
          <p:cNvSpPr/>
          <p:nvPr/>
        </p:nvSpPr>
        <p:spPr>
          <a:xfrm>
            <a:off x="3246120" y="2423160"/>
            <a:ext cx="7128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NH₄⁺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12"/>
          <p:cNvSpPr/>
          <p:nvPr/>
        </p:nvSpPr>
        <p:spPr>
          <a:xfrm>
            <a:off x="4297680" y="2331720"/>
            <a:ext cx="712800" cy="347040"/>
          </a:xfrm>
          <a:prstGeom prst="roundRect">
            <a:avLst>
              <a:gd name="adj" fmla="val 21053"/>
            </a:avLst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13"/>
          <p:cNvSpPr/>
          <p:nvPr/>
        </p:nvSpPr>
        <p:spPr>
          <a:xfrm>
            <a:off x="4297680" y="2423160"/>
            <a:ext cx="7128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Cl⁻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14"/>
          <p:cNvSpPr/>
          <p:nvPr/>
        </p:nvSpPr>
        <p:spPr>
          <a:xfrm>
            <a:off x="1143000" y="3017520"/>
            <a:ext cx="712800" cy="347040"/>
          </a:xfrm>
          <a:prstGeom prst="roundRect">
            <a:avLst>
              <a:gd name="adj" fmla="val 21053"/>
            </a:avLst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15"/>
          <p:cNvSpPr/>
          <p:nvPr/>
        </p:nvSpPr>
        <p:spPr>
          <a:xfrm>
            <a:off x="1143000" y="3108960"/>
            <a:ext cx="7128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Na⁺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16"/>
          <p:cNvSpPr/>
          <p:nvPr/>
        </p:nvSpPr>
        <p:spPr>
          <a:xfrm>
            <a:off x="2194560" y="3017520"/>
            <a:ext cx="712800" cy="347040"/>
          </a:xfrm>
          <a:prstGeom prst="roundRect">
            <a:avLst>
              <a:gd name="adj" fmla="val 21053"/>
            </a:avLst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17"/>
          <p:cNvSpPr/>
          <p:nvPr/>
        </p:nvSpPr>
        <p:spPr>
          <a:xfrm>
            <a:off x="2194560" y="3108960"/>
            <a:ext cx="7128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K⁺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18"/>
          <p:cNvSpPr/>
          <p:nvPr/>
        </p:nvSpPr>
        <p:spPr>
          <a:xfrm>
            <a:off x="3246120" y="3017520"/>
            <a:ext cx="712800" cy="347040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19"/>
          <p:cNvSpPr/>
          <p:nvPr/>
        </p:nvSpPr>
        <p:spPr>
          <a:xfrm>
            <a:off x="3246120" y="3108960"/>
            <a:ext cx="7128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Mg²⁺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20"/>
          <p:cNvSpPr/>
          <p:nvPr/>
        </p:nvSpPr>
        <p:spPr>
          <a:xfrm>
            <a:off x="4297680" y="3017520"/>
            <a:ext cx="712800" cy="347040"/>
          </a:xfrm>
          <a:prstGeom prst="roundRect">
            <a:avLst>
              <a:gd name="adj" fmla="val 21053"/>
            </a:avLst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21"/>
          <p:cNvSpPr/>
          <p:nvPr/>
        </p:nvSpPr>
        <p:spPr>
          <a:xfrm>
            <a:off x="4297680" y="3108960"/>
            <a:ext cx="71280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Ca²⁺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22"/>
          <p:cNvSpPr/>
          <p:nvPr/>
        </p:nvSpPr>
        <p:spPr>
          <a:xfrm>
            <a:off x="6537960" y="170064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23"/>
          <p:cNvSpPr/>
          <p:nvPr/>
        </p:nvSpPr>
        <p:spPr>
          <a:xfrm>
            <a:off x="6748200" y="1645920"/>
            <a:ext cx="3995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Use clean extraction vessels and known extraction volume.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24"/>
          <p:cNvSpPr/>
          <p:nvPr/>
        </p:nvSpPr>
        <p:spPr>
          <a:xfrm>
            <a:off x="6537960" y="215784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25"/>
          <p:cNvSpPr/>
          <p:nvPr/>
        </p:nvSpPr>
        <p:spPr>
          <a:xfrm>
            <a:off x="6748200" y="2103120"/>
            <a:ext cx="3995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Report extraction efficiency and blank levels where relevant.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26"/>
          <p:cNvSpPr/>
          <p:nvPr/>
        </p:nvSpPr>
        <p:spPr>
          <a:xfrm>
            <a:off x="6537960" y="261504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27"/>
          <p:cNvSpPr/>
          <p:nvPr/>
        </p:nvSpPr>
        <p:spPr>
          <a:xfrm>
            <a:off x="6748200" y="2560320"/>
            <a:ext cx="3995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Nitrate and ammonium are sensitive to sampling/storage artifacts.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28"/>
          <p:cNvSpPr/>
          <p:nvPr/>
        </p:nvSpPr>
        <p:spPr>
          <a:xfrm>
            <a:off x="6537960" y="307224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29"/>
          <p:cNvSpPr/>
          <p:nvPr/>
        </p:nvSpPr>
        <p:spPr>
          <a:xfrm>
            <a:off x="6748200" y="3017520"/>
            <a:ext cx="399564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Ion balance can reveal data issues or unmeasured species.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Shape 30"/>
          <p:cNvSpPr/>
          <p:nvPr/>
        </p:nvSpPr>
        <p:spPr>
          <a:xfrm>
            <a:off x="6492240" y="4160520"/>
            <a:ext cx="4251600" cy="959760"/>
          </a:xfrm>
          <a:prstGeom prst="roundRect">
            <a:avLst>
              <a:gd name="adj" fmla="val 4762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31"/>
          <p:cNvSpPr/>
          <p:nvPr/>
        </p:nvSpPr>
        <p:spPr>
          <a:xfrm>
            <a:off x="6656760" y="4306680"/>
            <a:ext cx="3922560" cy="66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Secondary inorganic aerosol is often represented by sulfate, nitrate and ammonium; sea-salt and crustal contributions can be assessed through Na⁺, Cl⁻, Mg²⁺, Ca²⁺ and related elements.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PlaceHolder 1"/>
          <p:cNvSpPr>
            <a:spLocks noGrp="1"/>
          </p:cNvSpPr>
          <p:nvPr>
            <p:ph type="sldNum" idx="27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FBCBB36-EB87-4B9B-91E7-F54949889DA9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24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Carbonaceous aerosol: OC, EC and BC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ANALYSIS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3"/>
          <p:cNvSpPr/>
          <p:nvPr/>
        </p:nvSpPr>
        <p:spPr>
          <a:xfrm>
            <a:off x="685800" y="9601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Carbonaceous material is a major component of fine PM, especially in combustion-influenced environments.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4"/>
          <p:cNvSpPr/>
          <p:nvPr/>
        </p:nvSpPr>
        <p:spPr>
          <a:xfrm>
            <a:off x="777240" y="1508760"/>
            <a:ext cx="342864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5"/>
          <p:cNvSpPr/>
          <p:nvPr/>
        </p:nvSpPr>
        <p:spPr>
          <a:xfrm>
            <a:off x="1005840" y="1737360"/>
            <a:ext cx="438480" cy="4384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6"/>
          <p:cNvSpPr/>
          <p:nvPr/>
        </p:nvSpPr>
        <p:spPr>
          <a:xfrm>
            <a:off x="1005840" y="183780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7"/>
          <p:cNvSpPr/>
          <p:nvPr/>
        </p:nvSpPr>
        <p:spPr>
          <a:xfrm>
            <a:off x="1554480" y="173736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Organic carbon (OC)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 8"/>
          <p:cNvSpPr/>
          <p:nvPr/>
        </p:nvSpPr>
        <p:spPr>
          <a:xfrm>
            <a:off x="1005840" y="2286000"/>
            <a:ext cx="2971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Carbon in organic compounds. Includes primary organics and secondary organic aerosol. Reported as carbon mass, not total organic mass.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Shape 9"/>
          <p:cNvSpPr/>
          <p:nvPr/>
        </p:nvSpPr>
        <p:spPr>
          <a:xfrm>
            <a:off x="4389120" y="1508760"/>
            <a:ext cx="342864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10"/>
          <p:cNvSpPr/>
          <p:nvPr/>
        </p:nvSpPr>
        <p:spPr>
          <a:xfrm>
            <a:off x="4617720" y="1737360"/>
            <a:ext cx="438480" cy="438480"/>
          </a:xfrm>
          <a:prstGeom prst="ellipse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1"/>
          <p:cNvSpPr/>
          <p:nvPr/>
        </p:nvSpPr>
        <p:spPr>
          <a:xfrm>
            <a:off x="4617720" y="183780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 12"/>
          <p:cNvSpPr/>
          <p:nvPr/>
        </p:nvSpPr>
        <p:spPr>
          <a:xfrm>
            <a:off x="5166360" y="173736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Elemental carbon (EC)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3"/>
          <p:cNvSpPr/>
          <p:nvPr/>
        </p:nvSpPr>
        <p:spPr>
          <a:xfrm>
            <a:off x="4617720" y="2286000"/>
            <a:ext cx="2971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Refractory carbon measured by thermal-optical methods. Often associated with combustion and diesel/soot-like particles.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14"/>
          <p:cNvSpPr/>
          <p:nvPr/>
        </p:nvSpPr>
        <p:spPr>
          <a:xfrm>
            <a:off x="8001000" y="1508760"/>
            <a:ext cx="3428640" cy="1828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Shape 15"/>
          <p:cNvSpPr/>
          <p:nvPr/>
        </p:nvSpPr>
        <p:spPr>
          <a:xfrm>
            <a:off x="8229600" y="1737360"/>
            <a:ext cx="438480" cy="438480"/>
          </a:xfrm>
          <a:prstGeom prst="ellipse">
            <a:avLst/>
          </a:prstGeom>
          <a:solidFill>
            <a:srgbClr val="4B5563"/>
          </a:solidFill>
          <a:ln w="12600">
            <a:solidFill>
              <a:srgbClr val="4B556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16"/>
          <p:cNvSpPr/>
          <p:nvPr/>
        </p:nvSpPr>
        <p:spPr>
          <a:xfrm>
            <a:off x="8229600" y="183780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7"/>
          <p:cNvSpPr/>
          <p:nvPr/>
        </p:nvSpPr>
        <p:spPr>
          <a:xfrm>
            <a:off x="8778240" y="173736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Black carbon (BC/eBC)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8"/>
          <p:cNvSpPr/>
          <p:nvPr/>
        </p:nvSpPr>
        <p:spPr>
          <a:xfrm>
            <a:off x="8229600" y="2286000"/>
            <a:ext cx="297144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Optically absorbing carbon measured by light absorption instruments. Method-dependent; not identical to EC.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Shape 19"/>
          <p:cNvSpPr/>
          <p:nvPr/>
        </p:nvSpPr>
        <p:spPr>
          <a:xfrm>
            <a:off x="960120" y="4069080"/>
            <a:ext cx="4754520" cy="685440"/>
          </a:xfrm>
          <a:prstGeom prst="roundRect">
            <a:avLst>
              <a:gd name="adj" fmla="val 8000"/>
            </a:avLst>
          </a:prstGeom>
          <a:solidFill>
            <a:srgbClr val="F3F8FB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20"/>
          <p:cNvSpPr/>
          <p:nvPr/>
        </p:nvSpPr>
        <p:spPr>
          <a:xfrm>
            <a:off x="1188720" y="4316040"/>
            <a:ext cx="42973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B3954"/>
                </a:solidFill>
                <a:effectLst/>
                <a:uFillTx/>
                <a:latin typeface="Cambria Math"/>
                <a:ea typeface="Cambria Math"/>
              </a:rPr>
              <a:t>Organic mass ≈ OC × OM/OC factor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21"/>
          <p:cNvSpPr/>
          <p:nvPr/>
        </p:nvSpPr>
        <p:spPr>
          <a:xfrm>
            <a:off x="6263640" y="3977640"/>
            <a:ext cx="4663080" cy="914040"/>
          </a:xfrm>
          <a:prstGeom prst="roundRect">
            <a:avLst>
              <a:gd name="adj" fmla="val 5000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22"/>
          <p:cNvSpPr/>
          <p:nvPr/>
        </p:nvSpPr>
        <p:spPr>
          <a:xfrm>
            <a:off x="6428160" y="4123800"/>
            <a:ext cx="4334040" cy="621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>
                <a:solidFill>
                  <a:srgbClr val="4B5563"/>
                </a:solidFill>
                <a:effectLst/>
                <a:uFillTx/>
                <a:latin typeface="Aptos"/>
              </a:rPr>
              <a:t>Thermal-optical analysis requires quartz filters and controls for pyrolyzed carbon using optical transmittance or reflectance. Field blanks are essential.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23"/>
          <p:cNvSpPr/>
          <p:nvPr/>
        </p:nvSpPr>
        <p:spPr>
          <a:xfrm>
            <a:off x="7772400" y="6245280"/>
            <a:ext cx="38858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50" b="0" u="none" strike="noStrike">
                <a:solidFill>
                  <a:srgbClr val="7A8790"/>
                </a:solidFill>
                <a:effectLst/>
                <a:uFillTx/>
                <a:latin typeface="Aptos"/>
              </a:rPr>
              <a:t>Source example: NIOSH Method 5040 for elemental carbon / thermal-optical analysis</a:t>
            </a:r>
            <a:endParaRPr lang="en-US" sz="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1"/>
          <p:cNvSpPr>
            <a:spLocks noGrp="1"/>
          </p:cNvSpPr>
          <p:nvPr>
            <p:ph type="sldNum" idx="28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6CBF6E8-B6AC-43B9-AEF0-F4F67F0996B6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25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Organic aerosol and molecular-level analysis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ANALYSIS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3"/>
          <p:cNvSpPr/>
          <p:nvPr/>
        </p:nvSpPr>
        <p:spPr>
          <a:xfrm>
            <a:off x="685800" y="960120"/>
            <a:ext cx="10698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Organic PM is chemically complex. The appropriate technique depends on whether the objective is bulk carbon, molecular markers or real-time organic aerosol composition.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93" name="Table 0"/>
          <p:cNvGraphicFramePr/>
          <p:nvPr/>
        </p:nvGraphicFramePr>
        <p:xfrm>
          <a:off x="594360" y="1691640"/>
          <a:ext cx="11018520" cy="3061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Approach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Typical information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Notes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GC-MS / LC-MS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Molecular markers, PAHs, hopanes, levoglucosan, polar organics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Requires extraction; method and standard availability matter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AMS / ACSM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Non-refractory submicron aerosol composition and mass spectra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Online/high-time-resolution; usually PM1 non-refractory fraction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EESI / soft ionization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Less-fragmented organic molecular fingerprints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Advanced technique for high-time-resolution organic aerosol composition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36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FTIR / NMR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Functional groups and bulk organic composition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Useful for complementary characterization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94" name="Shape 4"/>
          <p:cNvSpPr/>
          <p:nvPr/>
        </p:nvSpPr>
        <p:spPr>
          <a:xfrm>
            <a:off x="1188720" y="5303520"/>
            <a:ext cx="9875160" cy="566640"/>
          </a:xfrm>
          <a:prstGeom prst="roundRect">
            <a:avLst>
              <a:gd name="adj" fmla="val 8065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5"/>
          <p:cNvSpPr/>
          <p:nvPr/>
        </p:nvSpPr>
        <p:spPr>
          <a:xfrm>
            <a:off x="1353240" y="5449680"/>
            <a:ext cx="9546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Storage matters: organic compounds can degrade, volatilize or be contaminated. Use clean procedures, low temperatures and light protection when required.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1"/>
          <p:cNvSpPr>
            <a:spLocks noGrp="1"/>
          </p:cNvSpPr>
          <p:nvPr>
            <p:ph type="sldNum" idx="29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49E6730A-D4EB-46FC-ADD9-2DE09279706E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26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Optical analysis: black carbon and light absorption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ANALYSIS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3"/>
          <p:cNvSpPr/>
          <p:nvPr/>
        </p:nvSpPr>
        <p:spPr>
          <a:xfrm>
            <a:off x="777240" y="1234440"/>
            <a:ext cx="498312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4"/>
          <p:cNvSpPr/>
          <p:nvPr/>
        </p:nvSpPr>
        <p:spPr>
          <a:xfrm>
            <a:off x="1005840" y="1463040"/>
            <a:ext cx="438480" cy="438480"/>
          </a:xfrm>
          <a:prstGeom prst="ellipse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5"/>
          <p:cNvSpPr/>
          <p:nvPr/>
        </p:nvSpPr>
        <p:spPr>
          <a:xfrm>
            <a:off x="1005840" y="15634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6"/>
          <p:cNvSpPr/>
          <p:nvPr/>
        </p:nvSpPr>
        <p:spPr>
          <a:xfrm>
            <a:off x="1554480" y="146304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Aethalometer / MAAP / PSAP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7"/>
          <p:cNvSpPr/>
          <p:nvPr/>
        </p:nvSpPr>
        <p:spPr>
          <a:xfrm>
            <a:off x="1005840" y="2011680"/>
            <a:ext cx="452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Measure light attenuation or absorption on a filter/tape to estimate equivalent black carbon and absorption coefficients.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Shape 8"/>
          <p:cNvSpPr/>
          <p:nvPr/>
        </p:nvSpPr>
        <p:spPr>
          <a:xfrm>
            <a:off x="6263640" y="1234440"/>
            <a:ext cx="498312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9"/>
          <p:cNvSpPr/>
          <p:nvPr/>
        </p:nvSpPr>
        <p:spPr>
          <a:xfrm>
            <a:off x="6492240" y="1463040"/>
            <a:ext cx="438480" cy="4384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10"/>
          <p:cNvSpPr/>
          <p:nvPr/>
        </p:nvSpPr>
        <p:spPr>
          <a:xfrm>
            <a:off x="6492240" y="15634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1"/>
          <p:cNvSpPr/>
          <p:nvPr/>
        </p:nvSpPr>
        <p:spPr>
          <a:xfrm>
            <a:off x="7040880" y="146304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Advantages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2"/>
          <p:cNvSpPr/>
          <p:nvPr/>
        </p:nvSpPr>
        <p:spPr>
          <a:xfrm>
            <a:off x="6492240" y="2011680"/>
            <a:ext cx="452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High-time-resolution data, strong combustion signal, useful for traffic and biomass-burning indicators when combined with other measurements.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13"/>
          <p:cNvSpPr/>
          <p:nvPr/>
        </p:nvSpPr>
        <p:spPr>
          <a:xfrm>
            <a:off x="777240" y="3429000"/>
            <a:ext cx="498312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4"/>
          <p:cNvSpPr/>
          <p:nvPr/>
        </p:nvSpPr>
        <p:spPr>
          <a:xfrm>
            <a:off x="1005840" y="3657600"/>
            <a:ext cx="438480" cy="4384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15"/>
          <p:cNvSpPr/>
          <p:nvPr/>
        </p:nvSpPr>
        <p:spPr>
          <a:xfrm>
            <a:off x="1005840" y="3758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6"/>
          <p:cNvSpPr/>
          <p:nvPr/>
        </p:nvSpPr>
        <p:spPr>
          <a:xfrm>
            <a:off x="1554480" y="365760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Cautions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17"/>
          <p:cNvSpPr/>
          <p:nvPr/>
        </p:nvSpPr>
        <p:spPr>
          <a:xfrm>
            <a:off x="1005840" y="4206240"/>
            <a:ext cx="452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Requires correction for loading, multiple scattering and wavelength dependence. BC is operationally defined and not interchangeable with EC.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18"/>
          <p:cNvSpPr/>
          <p:nvPr/>
        </p:nvSpPr>
        <p:spPr>
          <a:xfrm>
            <a:off x="6263640" y="3429000"/>
            <a:ext cx="498312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19"/>
          <p:cNvSpPr/>
          <p:nvPr/>
        </p:nvSpPr>
        <p:spPr>
          <a:xfrm>
            <a:off x="6492240" y="3657600"/>
            <a:ext cx="438480" cy="438480"/>
          </a:xfrm>
          <a:prstGeom prst="ellipse">
            <a:avLst/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20"/>
          <p:cNvSpPr/>
          <p:nvPr/>
        </p:nvSpPr>
        <p:spPr>
          <a:xfrm>
            <a:off x="6492240" y="3758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21"/>
          <p:cNvSpPr/>
          <p:nvPr/>
        </p:nvSpPr>
        <p:spPr>
          <a:xfrm>
            <a:off x="7040880" y="365760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Complementarity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22"/>
          <p:cNvSpPr/>
          <p:nvPr/>
        </p:nvSpPr>
        <p:spPr>
          <a:xfrm>
            <a:off x="6492240" y="4206240"/>
            <a:ext cx="452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Pair optical BC with EC/OC, XRF and ion data to understand carbonaceous and combustion-related PM more completely.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23"/>
          <p:cNvSpPr/>
          <p:nvPr/>
        </p:nvSpPr>
        <p:spPr>
          <a:xfrm>
            <a:off x="1371600" y="5650920"/>
            <a:ext cx="9326520" cy="438480"/>
          </a:xfrm>
          <a:prstGeom prst="roundRect">
            <a:avLst>
              <a:gd name="adj" fmla="val 10417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24"/>
          <p:cNvSpPr/>
          <p:nvPr/>
        </p:nvSpPr>
        <p:spPr>
          <a:xfrm>
            <a:off x="1536120" y="5797440"/>
            <a:ext cx="89974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Report instrument type, wavelength(s), correction algorithm and assumed mass absorption cross-section when reporting eBC.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1"/>
          <p:cNvSpPr>
            <a:spLocks noGrp="1"/>
          </p:cNvSpPr>
          <p:nvPr>
            <p:ph type="sldNum" idx="30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1055F07-80F7-4831-9A47-16FB5F3F803F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27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Online and high-time-resolution PM composition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ANALYSIS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3"/>
          <p:cNvSpPr/>
          <p:nvPr/>
        </p:nvSpPr>
        <p:spPr>
          <a:xfrm>
            <a:off x="685800" y="960120"/>
            <a:ext cx="106981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Online instruments complement filter sampling by resolving short episodes, diurnal patterns and rapidly changing atmospheric processes.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4"/>
          <p:cNvSpPr/>
          <p:nvPr/>
        </p:nvSpPr>
        <p:spPr>
          <a:xfrm>
            <a:off x="777240" y="141732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Shape 5"/>
          <p:cNvSpPr/>
          <p:nvPr/>
        </p:nvSpPr>
        <p:spPr>
          <a:xfrm>
            <a:off x="1005840" y="1645920"/>
            <a:ext cx="438480" cy="438480"/>
          </a:xfrm>
          <a:prstGeom prst="ellipse">
            <a:avLst/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6"/>
          <p:cNvSpPr/>
          <p:nvPr/>
        </p:nvSpPr>
        <p:spPr>
          <a:xfrm>
            <a:off x="1005840" y="17463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7"/>
          <p:cNvSpPr/>
          <p:nvPr/>
        </p:nvSpPr>
        <p:spPr>
          <a:xfrm>
            <a:off x="1554480" y="164592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Xact / online XRF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8"/>
          <p:cNvSpPr/>
          <p:nvPr/>
        </p:nvSpPr>
        <p:spPr>
          <a:xfrm>
            <a:off x="1005840" y="219456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Hourly or sub-hourly elemental concentrations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9"/>
          <p:cNvSpPr/>
          <p:nvPr/>
        </p:nvSpPr>
        <p:spPr>
          <a:xfrm>
            <a:off x="6263640" y="141732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10"/>
          <p:cNvSpPr/>
          <p:nvPr/>
        </p:nvSpPr>
        <p:spPr>
          <a:xfrm>
            <a:off x="6492240" y="1645920"/>
            <a:ext cx="438480" cy="4384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1"/>
          <p:cNvSpPr/>
          <p:nvPr/>
        </p:nvSpPr>
        <p:spPr>
          <a:xfrm>
            <a:off x="6492240" y="17463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12"/>
          <p:cNvSpPr/>
          <p:nvPr/>
        </p:nvSpPr>
        <p:spPr>
          <a:xfrm>
            <a:off x="7040880" y="164592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ACSM / AMS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13"/>
          <p:cNvSpPr/>
          <p:nvPr/>
        </p:nvSpPr>
        <p:spPr>
          <a:xfrm>
            <a:off x="6492240" y="219456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Organics, sulfate, nitrate, ammonium and chloride in non-refractory fine PM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14"/>
          <p:cNvSpPr/>
          <p:nvPr/>
        </p:nvSpPr>
        <p:spPr>
          <a:xfrm>
            <a:off x="777240" y="338328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15"/>
          <p:cNvSpPr/>
          <p:nvPr/>
        </p:nvSpPr>
        <p:spPr>
          <a:xfrm>
            <a:off x="1005840" y="3611880"/>
            <a:ext cx="438480" cy="438480"/>
          </a:xfrm>
          <a:prstGeom prst="ellipse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16"/>
          <p:cNvSpPr/>
          <p:nvPr/>
        </p:nvSpPr>
        <p:spPr>
          <a:xfrm>
            <a:off x="1005840" y="3712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7"/>
          <p:cNvSpPr/>
          <p:nvPr/>
        </p:nvSpPr>
        <p:spPr>
          <a:xfrm>
            <a:off x="1554480" y="36118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Aethalometer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18"/>
          <p:cNvSpPr/>
          <p:nvPr/>
        </p:nvSpPr>
        <p:spPr>
          <a:xfrm>
            <a:off x="1005840" y="416052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Equivalent black carbon and absorption at multiple wavelengths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19"/>
          <p:cNvSpPr/>
          <p:nvPr/>
        </p:nvSpPr>
        <p:spPr>
          <a:xfrm>
            <a:off x="6263640" y="338328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20"/>
          <p:cNvSpPr/>
          <p:nvPr/>
        </p:nvSpPr>
        <p:spPr>
          <a:xfrm>
            <a:off x="6492240" y="3611880"/>
            <a:ext cx="438480" cy="4384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21"/>
          <p:cNvSpPr/>
          <p:nvPr/>
        </p:nvSpPr>
        <p:spPr>
          <a:xfrm>
            <a:off x="6492240" y="3712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22"/>
          <p:cNvSpPr/>
          <p:nvPr/>
        </p:nvSpPr>
        <p:spPr>
          <a:xfrm>
            <a:off x="7040880" y="36118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TEOM / BAM / OPC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23"/>
          <p:cNvSpPr/>
          <p:nvPr/>
        </p:nvSpPr>
        <p:spPr>
          <a:xfrm>
            <a:off x="6492240" y="416052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Continuous PM mass or particle-number/size information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24"/>
          <p:cNvSpPr/>
          <p:nvPr/>
        </p:nvSpPr>
        <p:spPr>
          <a:xfrm>
            <a:off x="1234440" y="5577840"/>
            <a:ext cx="9783720" cy="502560"/>
          </a:xfrm>
          <a:prstGeom prst="roundRect">
            <a:avLst>
              <a:gd name="adj" fmla="val 9091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25"/>
          <p:cNvSpPr/>
          <p:nvPr/>
        </p:nvSpPr>
        <p:spPr>
          <a:xfrm>
            <a:off x="1398960" y="5724000"/>
            <a:ext cx="94546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For regulatory use, automated instruments typically require equivalence demonstration, regular calibration/maintenance and comparison with reference measurements.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1"/>
          <p:cNvSpPr>
            <a:spLocks noGrp="1"/>
          </p:cNvSpPr>
          <p:nvPr>
            <p:ph type="sldNum" idx="31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D86D7AC4-494B-43C9-B5BE-9D19FA7A81F2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28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Sample preparation: keep the analyte in mind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ANALYSIS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3"/>
          <p:cNvSpPr/>
          <p:nvPr/>
        </p:nvSpPr>
        <p:spPr>
          <a:xfrm>
            <a:off x="685800" y="9601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Preparation should extract the target species quantitatively while minimizing contamination, loss and chemical transformation.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54" name="Table 0"/>
          <p:cNvGraphicFramePr/>
          <p:nvPr/>
        </p:nvGraphicFramePr>
        <p:xfrm>
          <a:off x="594360" y="1417320"/>
          <a:ext cx="11018520" cy="44326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Target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Typical preparation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92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Key controls</a:t>
                      </a:r>
                      <a:endParaRPr lang="en-US" sz="92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0B39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Mass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No extraction; conditioning and weighing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Humidity, static, balance drift, repeated weighing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Elements by XRF/PIXE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Direct filter analysis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Homogeneity, filter area, thickness/loading, calibration standards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Metals by ICP/AAS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Acid digestion or leaching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Acid purity, digestion recovery, vessel blanks, reference material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Water-soluble ions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Water extraction + filtration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Extraction volume/time, blank ions, storage temperature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EC/OC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Filter punch from quartz filter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Pre-baking, punch area, carbon blanks, split protocol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3240"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Organics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Solvent extraction or online inlet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70" b="0" u="none" strike="noStrike">
                          <a:solidFill>
                            <a:srgbClr val="111827"/>
                          </a:solidFill>
                          <a:effectLst/>
                          <a:uFillTx/>
                          <a:latin typeface="Aptos"/>
                          <a:ea typeface="Aptos"/>
                        </a:rPr>
                        <a:t>Volatilization, degradation, matrix recovery, internal standards</a:t>
                      </a:r>
                      <a:endParaRPr lang="en-US" sz="87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5720" marR="45720">
                    <a:lnL w="6480">
                      <a:solidFill>
                        <a:srgbClr val="D9E5EA"/>
                      </a:solidFill>
                      <a:prstDash val="solid"/>
                    </a:lnL>
                    <a:lnR w="6480">
                      <a:solidFill>
                        <a:srgbClr val="D9E5EA"/>
                      </a:solidFill>
                      <a:prstDash val="solid"/>
                    </a:lnR>
                    <a:lnT w="6480">
                      <a:solidFill>
                        <a:srgbClr val="D9E5EA"/>
                      </a:solidFill>
                      <a:prstDash val="solid"/>
                    </a:lnT>
                    <a:lnB w="6480">
                      <a:solidFill>
                        <a:srgbClr val="D9E5EA"/>
                      </a:solidFill>
                      <a:prstDash val="solid"/>
                    </a:lnB>
                    <a:solidFill>
                      <a:srgbClr val="F8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55" name="PlaceHolder 1"/>
          <p:cNvSpPr>
            <a:spLocks noGrp="1"/>
          </p:cNvSpPr>
          <p:nvPr>
            <p:ph type="sldNum" idx="32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E46ED451-68E2-4732-8198-A6AD77A2C461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29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Data processing and validation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DATA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3"/>
          <p:cNvSpPr/>
          <p:nvPr/>
        </p:nvSpPr>
        <p:spPr>
          <a:xfrm>
            <a:off x="777240" y="1234440"/>
            <a:ext cx="342864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4"/>
          <p:cNvSpPr/>
          <p:nvPr/>
        </p:nvSpPr>
        <p:spPr>
          <a:xfrm>
            <a:off x="1005840" y="1463040"/>
            <a:ext cx="438480" cy="4384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 5"/>
          <p:cNvSpPr/>
          <p:nvPr/>
        </p:nvSpPr>
        <p:spPr>
          <a:xfrm>
            <a:off x="1005840" y="15634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6"/>
          <p:cNvSpPr/>
          <p:nvPr/>
        </p:nvSpPr>
        <p:spPr>
          <a:xfrm>
            <a:off x="1554480" y="146304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Blank correction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7"/>
          <p:cNvSpPr/>
          <p:nvPr/>
        </p:nvSpPr>
        <p:spPr>
          <a:xfrm>
            <a:off x="1005840" y="201168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Subtract appropriate blank values and propagate blank variability to uncertainty.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Shape 8"/>
          <p:cNvSpPr/>
          <p:nvPr/>
        </p:nvSpPr>
        <p:spPr>
          <a:xfrm>
            <a:off x="4389120" y="1234440"/>
            <a:ext cx="342864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9"/>
          <p:cNvSpPr/>
          <p:nvPr/>
        </p:nvSpPr>
        <p:spPr>
          <a:xfrm>
            <a:off x="4617720" y="1463040"/>
            <a:ext cx="438480" cy="438480"/>
          </a:xfrm>
          <a:prstGeom prst="ellipse">
            <a:avLst/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10"/>
          <p:cNvSpPr/>
          <p:nvPr/>
        </p:nvSpPr>
        <p:spPr>
          <a:xfrm>
            <a:off x="4617720" y="15634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11"/>
          <p:cNvSpPr/>
          <p:nvPr/>
        </p:nvSpPr>
        <p:spPr>
          <a:xfrm>
            <a:off x="5166360" y="146304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LOD / LOQ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2"/>
          <p:cNvSpPr/>
          <p:nvPr/>
        </p:nvSpPr>
        <p:spPr>
          <a:xfrm>
            <a:off x="4617720" y="201168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Define detection and quantification limits from method blanks or replicate low-level measurements.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Shape 13"/>
          <p:cNvSpPr/>
          <p:nvPr/>
        </p:nvSpPr>
        <p:spPr>
          <a:xfrm>
            <a:off x="8001000" y="1234440"/>
            <a:ext cx="342864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Shape 14"/>
          <p:cNvSpPr/>
          <p:nvPr/>
        </p:nvSpPr>
        <p:spPr>
          <a:xfrm>
            <a:off x="8229600" y="1463040"/>
            <a:ext cx="438480" cy="4384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5"/>
          <p:cNvSpPr/>
          <p:nvPr/>
        </p:nvSpPr>
        <p:spPr>
          <a:xfrm>
            <a:off x="8229600" y="15634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16"/>
          <p:cNvSpPr/>
          <p:nvPr/>
        </p:nvSpPr>
        <p:spPr>
          <a:xfrm>
            <a:off x="8778240" y="146304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Uncertainty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17"/>
          <p:cNvSpPr/>
          <p:nvPr/>
        </p:nvSpPr>
        <p:spPr>
          <a:xfrm>
            <a:off x="8229600" y="201168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Document mass, volume, calibration, extraction, repeatability and blank uncertainty.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18"/>
          <p:cNvSpPr/>
          <p:nvPr/>
        </p:nvSpPr>
        <p:spPr>
          <a:xfrm>
            <a:off x="777240" y="3429000"/>
            <a:ext cx="342864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19"/>
          <p:cNvSpPr/>
          <p:nvPr/>
        </p:nvSpPr>
        <p:spPr>
          <a:xfrm>
            <a:off x="1005840" y="3657600"/>
            <a:ext cx="438480" cy="438480"/>
          </a:xfrm>
          <a:prstGeom prst="ellipse">
            <a:avLst/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20"/>
          <p:cNvSpPr/>
          <p:nvPr/>
        </p:nvSpPr>
        <p:spPr>
          <a:xfrm>
            <a:off x="1005840" y="3758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21"/>
          <p:cNvSpPr/>
          <p:nvPr/>
        </p:nvSpPr>
        <p:spPr>
          <a:xfrm>
            <a:off x="1554480" y="365760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Consistency checks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22"/>
          <p:cNvSpPr/>
          <p:nvPr/>
        </p:nvSpPr>
        <p:spPr>
          <a:xfrm>
            <a:off x="1005840" y="420624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Ion balance, elemental ratios, time-series continuity, collocated precision and mass closure.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23"/>
          <p:cNvSpPr/>
          <p:nvPr/>
        </p:nvSpPr>
        <p:spPr>
          <a:xfrm>
            <a:off x="4389120" y="3429000"/>
            <a:ext cx="342864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24"/>
          <p:cNvSpPr/>
          <p:nvPr/>
        </p:nvSpPr>
        <p:spPr>
          <a:xfrm>
            <a:off x="4617720" y="3657600"/>
            <a:ext cx="438480" cy="438480"/>
          </a:xfrm>
          <a:prstGeom prst="ellipse">
            <a:avLst/>
          </a:prstGeom>
          <a:solidFill>
            <a:srgbClr val="D95D39"/>
          </a:solidFill>
          <a:ln w="12600">
            <a:solidFill>
              <a:srgbClr val="D95D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25"/>
          <p:cNvSpPr/>
          <p:nvPr/>
        </p:nvSpPr>
        <p:spPr>
          <a:xfrm>
            <a:off x="4617720" y="3758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26"/>
          <p:cNvSpPr/>
          <p:nvPr/>
        </p:nvSpPr>
        <p:spPr>
          <a:xfrm>
            <a:off x="5166360" y="365760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Data flags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27"/>
          <p:cNvSpPr/>
          <p:nvPr/>
        </p:nvSpPr>
        <p:spPr>
          <a:xfrm>
            <a:off x="4617720" y="420624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Use transparent flags for invalid samples, suspected contamination, under-load/overload and instrument issues.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28"/>
          <p:cNvSpPr/>
          <p:nvPr/>
        </p:nvSpPr>
        <p:spPr>
          <a:xfrm>
            <a:off x="8001000" y="3429000"/>
            <a:ext cx="3428640" cy="1508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Shape 29"/>
          <p:cNvSpPr/>
          <p:nvPr/>
        </p:nvSpPr>
        <p:spPr>
          <a:xfrm>
            <a:off x="8229600" y="3657600"/>
            <a:ext cx="438480" cy="438480"/>
          </a:xfrm>
          <a:prstGeom prst="ellipse">
            <a:avLst/>
          </a:prstGeom>
          <a:solidFill>
            <a:srgbClr val="7057A3"/>
          </a:solidFill>
          <a:ln w="12600">
            <a:solidFill>
              <a:srgbClr val="7057A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30"/>
          <p:cNvSpPr/>
          <p:nvPr/>
        </p:nvSpPr>
        <p:spPr>
          <a:xfrm>
            <a:off x="8229600" y="375804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31"/>
          <p:cNvSpPr/>
          <p:nvPr/>
        </p:nvSpPr>
        <p:spPr>
          <a:xfrm>
            <a:off x="8778240" y="3657600"/>
            <a:ext cx="24228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Traceability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32"/>
          <p:cNvSpPr/>
          <p:nvPr/>
        </p:nvSpPr>
        <p:spPr>
          <a:xfrm>
            <a:off x="8229600" y="4206240"/>
            <a:ext cx="2971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Keep raw files, lab notebooks, calibration certificates, sample chain of custody and processing scripts.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PlaceHolder 1"/>
          <p:cNvSpPr>
            <a:spLocks noGrp="1"/>
          </p:cNvSpPr>
          <p:nvPr>
            <p:ph type="sldNum" idx="33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E42A22B-1CC1-4C46-92C1-D3C6506ED5F6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30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Chemical reconstruction and mass closure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DATA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3"/>
          <p:cNvSpPr/>
          <p:nvPr/>
        </p:nvSpPr>
        <p:spPr>
          <a:xfrm>
            <a:off x="685800" y="96012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Chemical reconstruction checks whether measured components explain gravimetric PM mass and helps identify missing or uncertain fractions.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4"/>
          <p:cNvSpPr/>
          <p:nvPr/>
        </p:nvSpPr>
        <p:spPr>
          <a:xfrm>
            <a:off x="731520" y="1600200"/>
            <a:ext cx="10789560" cy="1142640"/>
          </a:xfrm>
          <a:prstGeom prst="roundRect">
            <a:avLst>
              <a:gd name="adj" fmla="val 6400"/>
            </a:avLst>
          </a:prstGeom>
          <a:solidFill>
            <a:srgbClr val="F3F8FB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5"/>
          <p:cNvSpPr/>
          <p:nvPr/>
        </p:nvSpPr>
        <p:spPr>
          <a:xfrm>
            <a:off x="960120" y="1993320"/>
            <a:ext cx="10332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0B3954"/>
                </a:solidFill>
                <a:effectLst/>
                <a:uFillTx/>
                <a:latin typeface="Cambria Math"/>
                <a:ea typeface="Cambria Math"/>
              </a:rPr>
              <a:t>Reconstructed PM ≈ secondary inorganic aerosol + organic mass + elemental carbon + sea salt + mineral dust + trace elements + water/other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6"/>
          <p:cNvSpPr/>
          <p:nvPr/>
        </p:nvSpPr>
        <p:spPr>
          <a:xfrm>
            <a:off x="777240" y="3154680"/>
            <a:ext cx="3245760" cy="7128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7"/>
          <p:cNvSpPr/>
          <p:nvPr/>
        </p:nvSpPr>
        <p:spPr>
          <a:xfrm>
            <a:off x="914400" y="3264480"/>
            <a:ext cx="29714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Secondary inorganic aerosol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8"/>
          <p:cNvSpPr/>
          <p:nvPr/>
        </p:nvSpPr>
        <p:spPr>
          <a:xfrm>
            <a:off x="914400" y="3538800"/>
            <a:ext cx="29714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SO₄²⁻ + NO₃⁻ + NH₄⁺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9"/>
          <p:cNvSpPr/>
          <p:nvPr/>
        </p:nvSpPr>
        <p:spPr>
          <a:xfrm>
            <a:off x="4480560" y="3154680"/>
            <a:ext cx="3245760" cy="712800"/>
          </a:xfrm>
          <a:prstGeom prst="roundRect">
            <a:avLst>
              <a:gd name="adj" fmla="val 6410"/>
            </a:avLst>
          </a:prstGeom>
          <a:solidFill>
            <a:srgbClr val="F8FBFC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10"/>
          <p:cNvSpPr/>
          <p:nvPr/>
        </p:nvSpPr>
        <p:spPr>
          <a:xfrm>
            <a:off x="4617720" y="3264480"/>
            <a:ext cx="29714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Organic mass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11"/>
          <p:cNvSpPr/>
          <p:nvPr/>
        </p:nvSpPr>
        <p:spPr>
          <a:xfrm>
            <a:off x="4617720" y="3538800"/>
            <a:ext cx="29714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OC × OM/OC factor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12"/>
          <p:cNvSpPr/>
          <p:nvPr/>
        </p:nvSpPr>
        <p:spPr>
          <a:xfrm>
            <a:off x="8183880" y="3154680"/>
            <a:ext cx="3245760" cy="7128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13"/>
          <p:cNvSpPr/>
          <p:nvPr/>
        </p:nvSpPr>
        <p:spPr>
          <a:xfrm>
            <a:off x="8321040" y="3264480"/>
            <a:ext cx="29714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Mineral dust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14"/>
          <p:cNvSpPr/>
          <p:nvPr/>
        </p:nvSpPr>
        <p:spPr>
          <a:xfrm>
            <a:off x="8321040" y="3538800"/>
            <a:ext cx="29714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oxide-based formula or element-based estimate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15"/>
          <p:cNvSpPr/>
          <p:nvPr/>
        </p:nvSpPr>
        <p:spPr>
          <a:xfrm>
            <a:off x="777240" y="4297680"/>
            <a:ext cx="3245760" cy="712800"/>
          </a:xfrm>
          <a:prstGeom prst="roundRect">
            <a:avLst>
              <a:gd name="adj" fmla="val 6410"/>
            </a:avLst>
          </a:prstGeom>
          <a:solidFill>
            <a:srgbClr val="F8FBFC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16"/>
          <p:cNvSpPr/>
          <p:nvPr/>
        </p:nvSpPr>
        <p:spPr>
          <a:xfrm>
            <a:off x="914400" y="4407480"/>
            <a:ext cx="29714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Sea salt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17"/>
          <p:cNvSpPr/>
          <p:nvPr/>
        </p:nvSpPr>
        <p:spPr>
          <a:xfrm>
            <a:off x="914400" y="4681800"/>
            <a:ext cx="29714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Na⁺/Cl⁻/Mg²⁺ based estimate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18"/>
          <p:cNvSpPr/>
          <p:nvPr/>
        </p:nvSpPr>
        <p:spPr>
          <a:xfrm>
            <a:off x="4480560" y="4297680"/>
            <a:ext cx="3245760" cy="712800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19"/>
          <p:cNvSpPr/>
          <p:nvPr/>
        </p:nvSpPr>
        <p:spPr>
          <a:xfrm>
            <a:off x="4617720" y="4407480"/>
            <a:ext cx="29714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Carbon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20"/>
          <p:cNvSpPr/>
          <p:nvPr/>
        </p:nvSpPr>
        <p:spPr>
          <a:xfrm>
            <a:off x="4617720" y="4681800"/>
            <a:ext cx="29714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EC and/or BC as method-specific carbon fraction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21"/>
          <p:cNvSpPr/>
          <p:nvPr/>
        </p:nvSpPr>
        <p:spPr>
          <a:xfrm>
            <a:off x="8183880" y="4297680"/>
            <a:ext cx="3245760" cy="712800"/>
          </a:xfrm>
          <a:prstGeom prst="roundRect">
            <a:avLst>
              <a:gd name="adj" fmla="val 6410"/>
            </a:avLst>
          </a:prstGeom>
          <a:solidFill>
            <a:srgbClr val="F8FBFC"/>
          </a:solidFill>
          <a:ln w="12600">
            <a:solidFill>
              <a:srgbClr val="D7E3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22"/>
          <p:cNvSpPr/>
          <p:nvPr/>
        </p:nvSpPr>
        <p:spPr>
          <a:xfrm>
            <a:off x="8321040" y="4407480"/>
            <a:ext cx="297144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20" b="1" u="none" strike="noStrike">
                <a:solidFill>
                  <a:srgbClr val="0B3954"/>
                </a:solidFill>
                <a:effectLst/>
                <a:uFillTx/>
                <a:latin typeface="Aptos"/>
              </a:rPr>
              <a:t>Unmeasured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23"/>
          <p:cNvSpPr/>
          <p:nvPr/>
        </p:nvSpPr>
        <p:spPr>
          <a:xfrm>
            <a:off x="8321040" y="4681800"/>
            <a:ext cx="29714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2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particle-bound water and other residual mass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24"/>
          <p:cNvSpPr/>
          <p:nvPr/>
        </p:nvSpPr>
        <p:spPr>
          <a:xfrm>
            <a:off x="1280160" y="5806440"/>
            <a:ext cx="9692280" cy="383760"/>
          </a:xfrm>
          <a:prstGeom prst="roundRect">
            <a:avLst>
              <a:gd name="adj" fmla="val 11905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25"/>
          <p:cNvSpPr/>
          <p:nvPr/>
        </p:nvSpPr>
        <p:spPr>
          <a:xfrm>
            <a:off x="1444680" y="5952600"/>
            <a:ext cx="936324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0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Use chemical reconstruction as a validation and interpretation tool, not as a replacement for well-designed sampling and analytical QA/QC.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PlaceHolder 1"/>
          <p:cNvSpPr>
            <a:spLocks noGrp="1"/>
          </p:cNvSpPr>
          <p:nvPr>
            <p:ph type="sldNum" idx="34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F5E7B29-3463-45D3-8863-FCB55B113849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31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Chemical reconstruction: assumptions and pitfalls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DATA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3"/>
          <p:cNvSpPr/>
          <p:nvPr/>
        </p:nvSpPr>
        <p:spPr>
          <a:xfrm>
            <a:off x="822960" y="1197720"/>
            <a:ext cx="100080" cy="1000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4"/>
          <p:cNvSpPr/>
          <p:nvPr/>
        </p:nvSpPr>
        <p:spPr>
          <a:xfrm>
            <a:off x="1033200" y="1143000"/>
            <a:ext cx="6464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OM/OC conversion factors vary by location, source mix, oxidation state and season.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5"/>
          <p:cNvSpPr/>
          <p:nvPr/>
        </p:nvSpPr>
        <p:spPr>
          <a:xfrm>
            <a:off x="822960" y="1654920"/>
            <a:ext cx="100080" cy="1000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6"/>
          <p:cNvSpPr/>
          <p:nvPr/>
        </p:nvSpPr>
        <p:spPr>
          <a:xfrm>
            <a:off x="1033200" y="1600200"/>
            <a:ext cx="6464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Estimating sulfate from total sulfur assumes sulfur is present as sulfate and fully particle-bound.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Shape 7"/>
          <p:cNvSpPr/>
          <p:nvPr/>
        </p:nvSpPr>
        <p:spPr>
          <a:xfrm>
            <a:off x="822960" y="2112120"/>
            <a:ext cx="100080" cy="1000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8"/>
          <p:cNvSpPr/>
          <p:nvPr/>
        </p:nvSpPr>
        <p:spPr>
          <a:xfrm>
            <a:off x="1033200" y="2057400"/>
            <a:ext cx="6464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Sea-salt chloride can be depleted by reaction with nitric or sulfuric acid.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9"/>
          <p:cNvSpPr/>
          <p:nvPr/>
        </p:nvSpPr>
        <p:spPr>
          <a:xfrm>
            <a:off x="822960" y="2569320"/>
            <a:ext cx="100080" cy="1000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10"/>
          <p:cNvSpPr/>
          <p:nvPr/>
        </p:nvSpPr>
        <p:spPr>
          <a:xfrm>
            <a:off x="1033200" y="2514600"/>
            <a:ext cx="6464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Mineral-dust formulas assume crustal oxides and may be biased by industrial or traffic metals.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Shape 11"/>
          <p:cNvSpPr/>
          <p:nvPr/>
        </p:nvSpPr>
        <p:spPr>
          <a:xfrm>
            <a:off x="822960" y="3026520"/>
            <a:ext cx="100080" cy="1000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12"/>
          <p:cNvSpPr/>
          <p:nvPr/>
        </p:nvSpPr>
        <p:spPr>
          <a:xfrm>
            <a:off x="1033200" y="2971800"/>
            <a:ext cx="6464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Water associated with hygroscopic particles is usually not fully captured by offline chemical analysis.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13"/>
          <p:cNvSpPr/>
          <p:nvPr/>
        </p:nvSpPr>
        <p:spPr>
          <a:xfrm>
            <a:off x="822960" y="3483720"/>
            <a:ext cx="100080" cy="1000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14"/>
          <p:cNvSpPr/>
          <p:nvPr/>
        </p:nvSpPr>
        <p:spPr>
          <a:xfrm>
            <a:off x="1033200" y="3429000"/>
            <a:ext cx="64645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A good mass closure does not guarantee each component estimate is unique or physically perfect.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Shape 15"/>
          <p:cNvSpPr/>
          <p:nvPr/>
        </p:nvSpPr>
        <p:spPr>
          <a:xfrm>
            <a:off x="7909560" y="1325880"/>
            <a:ext cx="3428640" cy="1828440"/>
          </a:xfrm>
          <a:prstGeom prst="roundRect">
            <a:avLst>
              <a:gd name="adj" fmla="val 2500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16"/>
          <p:cNvSpPr/>
          <p:nvPr/>
        </p:nvSpPr>
        <p:spPr>
          <a:xfrm>
            <a:off x="8074080" y="1472040"/>
            <a:ext cx="3099600" cy="153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Practical use: compare reconstructed mass with gravimetric mass, examine residuals, and investigate systematic differences by season, RH, PM fraction and site type.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17"/>
          <p:cNvSpPr/>
          <p:nvPr/>
        </p:nvSpPr>
        <p:spPr>
          <a:xfrm>
            <a:off x="7909560" y="3794760"/>
            <a:ext cx="3428640" cy="1462680"/>
          </a:xfrm>
          <a:prstGeom prst="roundRect">
            <a:avLst>
              <a:gd name="adj" fmla="val 3125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18"/>
          <p:cNvSpPr/>
          <p:nvPr/>
        </p:nvSpPr>
        <p:spPr>
          <a:xfrm>
            <a:off x="8074080" y="3940920"/>
            <a:ext cx="3099600" cy="117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Report formulas and factors explicitly. “Chemical reconstruction” is not a single universal equation; it is a family of approximations tailored to the dataset.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PlaceHolder 1"/>
          <p:cNvSpPr>
            <a:spLocks noGrp="1"/>
          </p:cNvSpPr>
          <p:nvPr>
            <p:ph type="sldNum" idx="35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407C85A-AAB3-4E2C-A81D-308A96B6E493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32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Reporting PM sampling and analysis results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DATA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3"/>
          <p:cNvSpPr/>
          <p:nvPr/>
        </p:nvSpPr>
        <p:spPr>
          <a:xfrm>
            <a:off x="685800" y="960120"/>
            <a:ext cx="10698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A complete report enables another laboratory or reviewer to understand exactly what was measured and how reliable the results are.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4"/>
          <p:cNvSpPr/>
          <p:nvPr/>
        </p:nvSpPr>
        <p:spPr>
          <a:xfrm>
            <a:off x="777240" y="141732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5"/>
          <p:cNvSpPr/>
          <p:nvPr/>
        </p:nvSpPr>
        <p:spPr>
          <a:xfrm>
            <a:off x="1005840" y="1645920"/>
            <a:ext cx="438480" cy="4384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6"/>
          <p:cNvSpPr/>
          <p:nvPr/>
        </p:nvSpPr>
        <p:spPr>
          <a:xfrm>
            <a:off x="1005840" y="17463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7"/>
          <p:cNvSpPr/>
          <p:nvPr/>
        </p:nvSpPr>
        <p:spPr>
          <a:xfrm>
            <a:off x="1554480" y="164592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Methods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8"/>
          <p:cNvSpPr/>
          <p:nvPr/>
        </p:nvSpPr>
        <p:spPr>
          <a:xfrm>
            <a:off x="1005840" y="219456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Sampler/inlet, flow, filter medium, sampling duration, standards and analytical techniques.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Shape 9"/>
          <p:cNvSpPr/>
          <p:nvPr/>
        </p:nvSpPr>
        <p:spPr>
          <a:xfrm>
            <a:off x="6263640" y="141732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0"/>
          <p:cNvSpPr/>
          <p:nvPr/>
        </p:nvSpPr>
        <p:spPr>
          <a:xfrm>
            <a:off x="6492240" y="1645920"/>
            <a:ext cx="438480" cy="438480"/>
          </a:xfrm>
          <a:prstGeom prst="ellipse">
            <a:avLst/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Text 11"/>
          <p:cNvSpPr/>
          <p:nvPr/>
        </p:nvSpPr>
        <p:spPr>
          <a:xfrm>
            <a:off x="6492240" y="174636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12"/>
          <p:cNvSpPr/>
          <p:nvPr/>
        </p:nvSpPr>
        <p:spPr>
          <a:xfrm>
            <a:off x="7040880" y="164592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Results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13"/>
          <p:cNvSpPr/>
          <p:nvPr/>
        </p:nvSpPr>
        <p:spPr>
          <a:xfrm>
            <a:off x="6492240" y="219456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Mass concentrations, chemical concentrations, uncertainty, LOD/LOQ and invalid/flagged samples.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Shape 14"/>
          <p:cNvSpPr/>
          <p:nvPr/>
        </p:nvSpPr>
        <p:spPr>
          <a:xfrm>
            <a:off x="777240" y="338328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5"/>
          <p:cNvSpPr/>
          <p:nvPr/>
        </p:nvSpPr>
        <p:spPr>
          <a:xfrm>
            <a:off x="1005840" y="3611880"/>
            <a:ext cx="438480" cy="4384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16"/>
          <p:cNvSpPr/>
          <p:nvPr/>
        </p:nvSpPr>
        <p:spPr>
          <a:xfrm>
            <a:off x="1005840" y="3712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17"/>
          <p:cNvSpPr/>
          <p:nvPr/>
        </p:nvSpPr>
        <p:spPr>
          <a:xfrm>
            <a:off x="1554480" y="36118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Quality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18"/>
          <p:cNvSpPr/>
          <p:nvPr/>
        </p:nvSpPr>
        <p:spPr>
          <a:xfrm>
            <a:off x="1005840" y="416052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Blanks, duplicates, calibrations, recovery checks, collocation statistics and data completeness.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9"/>
          <p:cNvSpPr/>
          <p:nvPr/>
        </p:nvSpPr>
        <p:spPr>
          <a:xfrm>
            <a:off x="6263640" y="3383280"/>
            <a:ext cx="498312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Shape 20"/>
          <p:cNvSpPr/>
          <p:nvPr/>
        </p:nvSpPr>
        <p:spPr>
          <a:xfrm>
            <a:off x="6492240" y="3611880"/>
            <a:ext cx="438480" cy="438480"/>
          </a:xfrm>
          <a:prstGeom prst="ellipse">
            <a:avLst/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21"/>
          <p:cNvSpPr/>
          <p:nvPr/>
        </p:nvSpPr>
        <p:spPr>
          <a:xfrm>
            <a:off x="6492240" y="3712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22"/>
          <p:cNvSpPr/>
          <p:nvPr/>
        </p:nvSpPr>
        <p:spPr>
          <a:xfrm>
            <a:off x="7040880" y="36118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Interpretation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23"/>
          <p:cNvSpPr/>
          <p:nvPr/>
        </p:nvSpPr>
        <p:spPr>
          <a:xfrm>
            <a:off x="6492240" y="4160520"/>
            <a:ext cx="45259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Temporal patterns, mass closure, component fractions, episodes and comparison with benchmarks.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Shape 24"/>
          <p:cNvSpPr/>
          <p:nvPr/>
        </p:nvSpPr>
        <p:spPr>
          <a:xfrm>
            <a:off x="1234440" y="5577840"/>
            <a:ext cx="9783720" cy="502560"/>
          </a:xfrm>
          <a:prstGeom prst="roundRect">
            <a:avLst>
              <a:gd name="adj" fmla="val 9091"/>
            </a:avLst>
          </a:prstGeom>
          <a:solidFill>
            <a:srgbClr val="F3F8FB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25"/>
          <p:cNvSpPr/>
          <p:nvPr/>
        </p:nvSpPr>
        <p:spPr>
          <a:xfrm>
            <a:off x="1398960" y="5724000"/>
            <a:ext cx="945468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Use consistent units: µg/m³ for PM mass and components, ng/m³ for trace species where appropriate, and specify the air-volume reference conditions.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PlaceHolder 1"/>
          <p:cNvSpPr>
            <a:spLocks noGrp="1"/>
          </p:cNvSpPr>
          <p:nvPr>
            <p:ph type="sldNum" idx="36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C99CADB0-473A-4F65-A094-37F0EFB6BB90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33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Practical checklist for a PM campaign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CHECKLIST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3"/>
          <p:cNvSpPr/>
          <p:nvPr/>
        </p:nvSpPr>
        <p:spPr>
          <a:xfrm>
            <a:off x="777240" y="1234440"/>
            <a:ext cx="498312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4"/>
          <p:cNvSpPr/>
          <p:nvPr/>
        </p:nvSpPr>
        <p:spPr>
          <a:xfrm>
            <a:off x="1005840" y="1463040"/>
            <a:ext cx="438480" cy="4384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5"/>
          <p:cNvSpPr/>
          <p:nvPr/>
        </p:nvSpPr>
        <p:spPr>
          <a:xfrm>
            <a:off x="1005840" y="15634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6"/>
          <p:cNvSpPr/>
          <p:nvPr/>
        </p:nvSpPr>
        <p:spPr>
          <a:xfrm>
            <a:off x="1554480" y="146304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Before fieldwork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7"/>
          <p:cNvSpPr/>
          <p:nvPr/>
        </p:nvSpPr>
        <p:spPr>
          <a:xfrm>
            <a:off x="1005840" y="2011680"/>
            <a:ext cx="452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Objective, site permissions, sampler maintenance, flow calibration, filter conditioning, blanks, labels, chain-of-custody forms.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8"/>
          <p:cNvSpPr/>
          <p:nvPr/>
        </p:nvSpPr>
        <p:spPr>
          <a:xfrm>
            <a:off x="6263640" y="1234440"/>
            <a:ext cx="498312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9"/>
          <p:cNvSpPr/>
          <p:nvPr/>
        </p:nvSpPr>
        <p:spPr>
          <a:xfrm>
            <a:off x="6492240" y="1463040"/>
            <a:ext cx="438480" cy="438480"/>
          </a:xfrm>
          <a:prstGeom prst="ellipse">
            <a:avLst/>
          </a:prstGeom>
          <a:solidFill>
            <a:srgbClr val="F59E0B"/>
          </a:solidFill>
          <a:ln w="12600">
            <a:solidFill>
              <a:srgbClr val="F59E0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10"/>
          <p:cNvSpPr/>
          <p:nvPr/>
        </p:nvSpPr>
        <p:spPr>
          <a:xfrm>
            <a:off x="6492240" y="156348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11"/>
          <p:cNvSpPr/>
          <p:nvPr/>
        </p:nvSpPr>
        <p:spPr>
          <a:xfrm>
            <a:off x="7040880" y="146304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During fieldwork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12"/>
          <p:cNvSpPr/>
          <p:nvPr/>
        </p:nvSpPr>
        <p:spPr>
          <a:xfrm>
            <a:off x="6492240" y="2011680"/>
            <a:ext cx="452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Flow checks, leak checks, inlet cleaning, meteorology, field logs, sample transport, field blanks, equipment alarms.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Shape 13"/>
          <p:cNvSpPr/>
          <p:nvPr/>
        </p:nvSpPr>
        <p:spPr>
          <a:xfrm>
            <a:off x="777240" y="3383280"/>
            <a:ext cx="498312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Shape 14"/>
          <p:cNvSpPr/>
          <p:nvPr/>
        </p:nvSpPr>
        <p:spPr>
          <a:xfrm>
            <a:off x="1005840" y="3611880"/>
            <a:ext cx="438480" cy="438480"/>
          </a:xfrm>
          <a:prstGeom prst="ellipse">
            <a:avLst/>
          </a:prstGeom>
          <a:solidFill>
            <a:srgbClr val="2A6F97"/>
          </a:solidFill>
          <a:ln w="12600">
            <a:solidFill>
              <a:srgbClr val="2A6F9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15"/>
          <p:cNvSpPr/>
          <p:nvPr/>
        </p:nvSpPr>
        <p:spPr>
          <a:xfrm>
            <a:off x="1005840" y="3712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16"/>
          <p:cNvSpPr/>
          <p:nvPr/>
        </p:nvSpPr>
        <p:spPr>
          <a:xfrm>
            <a:off x="1554480" y="36118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Laboratory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17"/>
          <p:cNvSpPr/>
          <p:nvPr/>
        </p:nvSpPr>
        <p:spPr>
          <a:xfrm>
            <a:off x="1005840" y="4160520"/>
            <a:ext cx="452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Conditioning, weighing criteria, extraction/digestion, calibration curves, reference materials, blanks, replicate analysis.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18"/>
          <p:cNvSpPr/>
          <p:nvPr/>
        </p:nvSpPr>
        <p:spPr>
          <a:xfrm>
            <a:off x="6263640" y="3383280"/>
            <a:ext cx="4983120" cy="15998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600">
            <a:solidFill>
              <a:srgbClr val="D8E4EA">
                <a:alpha val="95000"/>
              </a:srgbClr>
            </a:solidFill>
            <a:round/>
          </a:ln>
          <a:effectLst>
            <a:outerShdw blurRad="12600" dist="50402" dir="2700000" rotWithShape="0">
              <a:srgbClr val="D9E2E8">
                <a:alpha val="18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Shape 19"/>
          <p:cNvSpPr/>
          <p:nvPr/>
        </p:nvSpPr>
        <p:spPr>
          <a:xfrm>
            <a:off x="6492240" y="3611880"/>
            <a:ext cx="438480" cy="438480"/>
          </a:xfrm>
          <a:prstGeom prst="ellipse">
            <a:avLst/>
          </a:prstGeom>
          <a:solidFill>
            <a:srgbClr val="3A7D44"/>
          </a:solidFill>
          <a:ln w="12600">
            <a:solidFill>
              <a:srgbClr val="3A7D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20"/>
          <p:cNvSpPr/>
          <p:nvPr/>
        </p:nvSpPr>
        <p:spPr>
          <a:xfrm>
            <a:off x="6492240" y="3712320"/>
            <a:ext cx="43848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21"/>
          <p:cNvSpPr/>
          <p:nvPr/>
        </p:nvSpPr>
        <p:spPr>
          <a:xfrm>
            <a:off x="7040880" y="3611880"/>
            <a:ext cx="39772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Data processing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22"/>
          <p:cNvSpPr/>
          <p:nvPr/>
        </p:nvSpPr>
        <p:spPr>
          <a:xfrm>
            <a:off x="6492240" y="4160520"/>
            <a:ext cx="4525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Volume correction, blank correction, uncertainty, LOD/LOQ, flags, mass closure, final metadata table.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1"/>
          <p:cNvSpPr>
            <a:spLocks noGrp="1"/>
          </p:cNvSpPr>
          <p:nvPr>
            <p:ph type="sldNum" idx="37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0C2F701-0BC8-4F84-A3CA-05304D14CA84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34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Take-home messages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SUMMARY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Shape 3"/>
          <p:cNvSpPr/>
          <p:nvPr/>
        </p:nvSpPr>
        <p:spPr>
          <a:xfrm>
            <a:off x="960120" y="119772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4"/>
          <p:cNvSpPr/>
          <p:nvPr/>
        </p:nvSpPr>
        <p:spPr>
          <a:xfrm>
            <a:off x="1170360" y="1143000"/>
            <a:ext cx="966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PM sampling is a measurement system: inlet, flow, filter, conditioning, handling and metadata all define the result.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Shape 5"/>
          <p:cNvSpPr/>
          <p:nvPr/>
        </p:nvSpPr>
        <p:spPr>
          <a:xfrm>
            <a:off x="960120" y="172836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6"/>
          <p:cNvSpPr/>
          <p:nvPr/>
        </p:nvSpPr>
        <p:spPr>
          <a:xfrm>
            <a:off x="1170360" y="1673280"/>
            <a:ext cx="966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Filter media must match the analytical objective; one filter type rarely serves every purpose.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Shape 7"/>
          <p:cNvSpPr/>
          <p:nvPr/>
        </p:nvSpPr>
        <p:spPr>
          <a:xfrm>
            <a:off x="960120" y="225864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8"/>
          <p:cNvSpPr/>
          <p:nvPr/>
        </p:nvSpPr>
        <p:spPr>
          <a:xfrm>
            <a:off x="1170360" y="2203560"/>
            <a:ext cx="966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Gravimetric PM mass is simple in concept but sensitive to blanks, humidity, static charge and flow accuracy.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9"/>
          <p:cNvSpPr/>
          <p:nvPr/>
        </p:nvSpPr>
        <p:spPr>
          <a:xfrm>
            <a:off x="960120" y="278892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10"/>
          <p:cNvSpPr/>
          <p:nvPr/>
        </p:nvSpPr>
        <p:spPr>
          <a:xfrm>
            <a:off x="1170360" y="2734200"/>
            <a:ext cx="966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Chemical analysis requires method-specific QA/QC and careful sample preparation.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Shape 11"/>
          <p:cNvSpPr/>
          <p:nvPr/>
        </p:nvSpPr>
        <p:spPr>
          <a:xfrm>
            <a:off x="960120" y="331920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12"/>
          <p:cNvSpPr/>
          <p:nvPr/>
        </p:nvSpPr>
        <p:spPr>
          <a:xfrm>
            <a:off x="1170360" y="3264480"/>
            <a:ext cx="966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Chemical reconstruction and mass closure are powerful tools for checking data consistency and identifying missing fractions.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Shape 13"/>
          <p:cNvSpPr/>
          <p:nvPr/>
        </p:nvSpPr>
        <p:spPr>
          <a:xfrm>
            <a:off x="960120" y="3849480"/>
            <a:ext cx="100080" cy="100080"/>
          </a:xfrm>
          <a:prstGeom prst="ellipse">
            <a:avLst/>
          </a:prstGeom>
          <a:solidFill>
            <a:srgbClr val="087E8B"/>
          </a:solidFill>
          <a:ln w="12600">
            <a:solidFill>
              <a:srgbClr val="087E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14"/>
          <p:cNvSpPr/>
          <p:nvPr/>
        </p:nvSpPr>
        <p:spPr>
          <a:xfrm>
            <a:off x="1170360" y="3794760"/>
            <a:ext cx="96649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Transparent reporting of methods, limits, uncertainties and flags is essential for comparability and policy relevance.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Shape 15"/>
          <p:cNvSpPr/>
          <p:nvPr/>
        </p:nvSpPr>
        <p:spPr>
          <a:xfrm>
            <a:off x="1828800" y="5623560"/>
            <a:ext cx="8595000" cy="502560"/>
          </a:xfrm>
          <a:prstGeom prst="roundRect">
            <a:avLst>
              <a:gd name="adj" fmla="val 9091"/>
            </a:avLst>
          </a:prstGeom>
          <a:solidFill>
            <a:srgbClr val="FDF6E9"/>
          </a:solidFill>
          <a:ln w="12600">
            <a:solidFill>
              <a:srgbClr val="D6E4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16"/>
          <p:cNvSpPr/>
          <p:nvPr/>
        </p:nvSpPr>
        <p:spPr>
          <a:xfrm>
            <a:off x="1993320" y="5769720"/>
            <a:ext cx="8265960" cy="20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Aptos"/>
              </a:rPr>
              <a:t>Final principle: the strongest PM datasets are built at the planning stage, not after the samples are collected.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PlaceHolder 1"/>
          <p:cNvSpPr>
            <a:spLocks noGrp="1"/>
          </p:cNvSpPr>
          <p:nvPr>
            <p:ph type="sldNum" idx="38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F186C6BE-D4E0-4C80-A0B4-421D4674AD94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35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Text 0"/>
          <p:cNvSpPr/>
          <p:nvPr/>
        </p:nvSpPr>
        <p:spPr>
          <a:xfrm>
            <a:off x="502920" y="347400"/>
            <a:ext cx="96922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500" b="1" u="none" strike="noStrike">
                <a:solidFill>
                  <a:srgbClr val="0B3954"/>
                </a:solidFill>
                <a:effectLst/>
                <a:uFillTx/>
                <a:latin typeface="Aptos Display"/>
                <a:ea typeface="Aptos Display"/>
              </a:rPr>
              <a:t>Selected references and source material</a:t>
            </a:r>
            <a:endParaRPr lang="en-U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1"/>
          <p:cNvSpPr/>
          <p:nvPr/>
        </p:nvSpPr>
        <p:spPr>
          <a:xfrm>
            <a:off x="10287000" y="347400"/>
            <a:ext cx="1371240" cy="319680"/>
          </a:xfrm>
          <a:prstGeom prst="roundRect">
            <a:avLst>
              <a:gd name="adj" fmla="val 14286"/>
            </a:avLst>
          </a:prstGeom>
          <a:solidFill>
            <a:srgbClr val="F3F8FB"/>
          </a:solidFill>
          <a:ln w="12600">
            <a:solidFill>
              <a:srgbClr val="D6E4EA">
                <a:alpha val="8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Text 2"/>
          <p:cNvSpPr/>
          <p:nvPr/>
        </p:nvSpPr>
        <p:spPr>
          <a:xfrm>
            <a:off x="10351080" y="429840"/>
            <a:ext cx="124308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087E8B"/>
                </a:solidFill>
                <a:effectLst/>
                <a:uFillTx/>
                <a:latin typeface="Aptos"/>
              </a:rPr>
              <a:t>REFERENCES</a:t>
            </a:r>
            <a:endParaRPr lang="en-US" sz="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4"/>
          <p:cNvSpPr/>
          <p:nvPr/>
        </p:nvSpPr>
        <p:spPr>
          <a:xfrm>
            <a:off x="777240" y="1472040"/>
            <a:ext cx="100080" cy="100080"/>
          </a:xfrm>
          <a:prstGeom prst="ellipse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5"/>
          <p:cNvSpPr/>
          <p:nvPr/>
        </p:nvSpPr>
        <p:spPr>
          <a:xfrm>
            <a:off x="987480" y="1417320"/>
            <a:ext cx="10122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Original training material by notes from Manos Manousakas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Shape 6"/>
          <p:cNvSpPr/>
          <p:nvPr/>
        </p:nvSpPr>
        <p:spPr>
          <a:xfrm>
            <a:off x="777240" y="1911240"/>
            <a:ext cx="100080" cy="100080"/>
          </a:xfrm>
          <a:prstGeom prst="ellipse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7"/>
          <p:cNvSpPr/>
          <p:nvPr/>
        </p:nvSpPr>
        <p:spPr>
          <a:xfrm>
            <a:off x="987480" y="1856160"/>
            <a:ext cx="10122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World Health Organization, Global Air Quality Guidelines for PM2.5, PM10, O3, NO2, SO2 and CO, 2021.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Shape 8"/>
          <p:cNvSpPr/>
          <p:nvPr/>
        </p:nvSpPr>
        <p:spPr>
          <a:xfrm>
            <a:off x="777240" y="2350080"/>
            <a:ext cx="100080" cy="100080"/>
          </a:xfrm>
          <a:prstGeom prst="ellipse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9"/>
          <p:cNvSpPr/>
          <p:nvPr/>
        </p:nvSpPr>
        <p:spPr>
          <a:xfrm>
            <a:off x="987480" y="2295000"/>
            <a:ext cx="10122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European Commission, revised Ambient Air Quality Directive / cleaner air by 2030, 2024.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Shape 10"/>
          <p:cNvSpPr/>
          <p:nvPr/>
        </p:nvSpPr>
        <p:spPr>
          <a:xfrm>
            <a:off x="777240" y="2788920"/>
            <a:ext cx="100080" cy="100080"/>
          </a:xfrm>
          <a:prstGeom prst="ellipse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 11"/>
          <p:cNvSpPr/>
          <p:nvPr/>
        </p:nvSpPr>
        <p:spPr>
          <a:xfrm>
            <a:off x="987480" y="2734200"/>
            <a:ext cx="10122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US Environmental Protection Agency, National Ambient Air Quality Standards for Particulate Matter, 2024 revision.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12"/>
          <p:cNvSpPr/>
          <p:nvPr/>
        </p:nvSpPr>
        <p:spPr>
          <a:xfrm>
            <a:off x="777240" y="3227760"/>
            <a:ext cx="100080" cy="100080"/>
          </a:xfrm>
          <a:prstGeom prst="ellipse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 13"/>
          <p:cNvSpPr/>
          <p:nvPr/>
        </p:nvSpPr>
        <p:spPr>
          <a:xfrm>
            <a:off x="987480" y="3173040"/>
            <a:ext cx="10122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EN 12341:2023, Ambient air — standard gravimetric method for PM10 and PM2.5 mass concentration.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14"/>
          <p:cNvSpPr/>
          <p:nvPr/>
        </p:nvSpPr>
        <p:spPr>
          <a:xfrm>
            <a:off x="777240" y="3666600"/>
            <a:ext cx="100080" cy="100080"/>
          </a:xfrm>
          <a:prstGeom prst="ellipse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Text 15"/>
          <p:cNvSpPr/>
          <p:nvPr/>
        </p:nvSpPr>
        <p:spPr>
          <a:xfrm>
            <a:off x="987480" y="3611880"/>
            <a:ext cx="10122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US EPA Compendium Methods IO-2.1, IO-3.3 and IO-3.4 for particulate sampling and elemental analysis.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Shape 16"/>
          <p:cNvSpPr/>
          <p:nvPr/>
        </p:nvSpPr>
        <p:spPr>
          <a:xfrm>
            <a:off x="777240" y="4105800"/>
            <a:ext cx="100080" cy="100080"/>
          </a:xfrm>
          <a:prstGeom prst="ellipse">
            <a:avLst/>
          </a:prstGeom>
          <a:solidFill>
            <a:srgbClr val="0B3954"/>
          </a:solidFill>
          <a:ln w="12600">
            <a:solidFill>
              <a:srgbClr val="0B395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6280" rIns="90000" bIns="262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17"/>
          <p:cNvSpPr/>
          <p:nvPr/>
        </p:nvSpPr>
        <p:spPr>
          <a:xfrm>
            <a:off x="987480" y="4050720"/>
            <a:ext cx="1012212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11827"/>
                </a:solidFill>
                <a:effectLst/>
                <a:uFillTx/>
                <a:latin typeface="Aptos"/>
                <a:ea typeface="Aptos"/>
              </a:rPr>
              <a:t>NIOSH Method 5040 for elemental carbon / thermal-optical analysis.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PlaceHolder 1"/>
          <p:cNvSpPr>
            <a:spLocks noGrp="1"/>
          </p:cNvSpPr>
          <p:nvPr>
            <p:ph type="sldNum" idx="39"/>
          </p:nvPr>
        </p:nvSpPr>
        <p:spPr>
          <a:xfrm>
            <a:off x="11018520" y="6537960"/>
            <a:ext cx="799560" cy="299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37A44105-76BC-4422-9A1F-84939DF7E666}" type="slidenum">
              <a:rPr lang="en-US" sz="700" b="0" u="none" strike="noStrike">
                <a:solidFill>
                  <a:srgbClr val="6B7A86"/>
                </a:solidFill>
                <a:effectLst/>
                <a:uFillTx/>
                <a:latin typeface="Aptos"/>
                <a:ea typeface="Aptos"/>
              </a:rPr>
              <a:t>36</a:t>
            </a:fld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4460</Words>
  <Application>Microsoft Office PowerPoint</Application>
  <PresentationFormat>Widescreen</PresentationFormat>
  <Paragraphs>667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Aptos</vt:lpstr>
      <vt:lpstr>Aptos Display</vt:lpstr>
      <vt:lpstr>Arial</vt:lpstr>
      <vt:lpstr>Cambria Math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NCSR Demokritos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Manos Manousakas</dc:creator>
  <cp:lastModifiedBy>Manos Manousakas</cp:lastModifiedBy>
  <cp:revision>1</cp:revision>
  <dcterms:modified xsi:type="dcterms:W3CDTF">2026-04-28T13:31:43Z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2026-04-28T13:10:03Z</dcterms:created>
  <dc:creator>OpenAI / Manos Manousakas</dc:creator>
  <dc:description/>
  <dc:language>en-US</dc:language>
  <cp:lastModifiedBy>OpenAI / Manos Manousakas</cp:lastModifiedBy>
  <dcterms:modified xsi:type="dcterms:W3CDTF">2026-04-28T13:10:03Z</dcterms:modified>
  <cp:revision>1</cp:revision>
  <dc:subject>PM sampling and PM analysis</dc:subject>
  <dc:title>Particulate Matter Sampling and Analysis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36</vt:r8>
  </property>
  <property fmtid="{D5CDD505-2E9C-101B-9397-08002B2CF9AE}" pid="3" name="PresentationFormat">
    <vt:lpwstr>On-screen Show (16:9)</vt:lpwstr>
  </property>
  <property fmtid="{D5CDD505-2E9C-101B-9397-08002B2CF9AE}" pid="4" name="Slides">
    <vt:r8>36</vt:r8>
  </property>
</Properties>
</file>