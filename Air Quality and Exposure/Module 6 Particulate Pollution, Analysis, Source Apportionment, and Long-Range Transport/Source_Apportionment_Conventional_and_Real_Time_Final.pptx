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5" r:id="rId7"/>
    <p:sldId id="261" r:id="rId8"/>
    <p:sldId id="276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D5E93E-6EB5-4636-B29D-A730A21EEAE5}" v="3" dt="2026-04-29T08:49:34.8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os Manousakas" userId="472fbd7d13858be9" providerId="LiveId" clId="{18BF0762-94E8-4A6B-A634-3860A1919F74}"/>
    <pc:docChg chg="custSel delSld modSld">
      <pc:chgData name="Manos Manousakas" userId="472fbd7d13858be9" providerId="LiveId" clId="{18BF0762-94E8-4A6B-A634-3860A1919F74}" dt="2026-04-29T08:50:59.594" v="77" actId="20577"/>
      <pc:docMkLst>
        <pc:docMk/>
      </pc:docMkLst>
      <pc:sldChg chg="modSp mod">
        <pc:chgData name="Manos Manousakas" userId="472fbd7d13858be9" providerId="LiveId" clId="{18BF0762-94E8-4A6B-A634-3860A1919F74}" dt="2026-04-29T08:50:59.594" v="77" actId="20577"/>
        <pc:sldMkLst>
          <pc:docMk/>
          <pc:sldMk cId="0" sldId="256"/>
        </pc:sldMkLst>
        <pc:spChg chg="mod">
          <ac:chgData name="Manos Manousakas" userId="472fbd7d13858be9" providerId="LiveId" clId="{18BF0762-94E8-4A6B-A634-3860A1919F74}" dt="2026-04-29T08:50:59.594" v="77" actId="20577"/>
          <ac:spMkLst>
            <pc:docMk/>
            <pc:sldMk cId="0" sldId="256"/>
            <ac:spMk id="9" creationId="{00000000-0000-0000-0000-000000000000}"/>
          </ac:spMkLst>
        </pc:spChg>
      </pc:sldChg>
      <pc:sldChg chg="delSp mod">
        <pc:chgData name="Manos Manousakas" userId="472fbd7d13858be9" providerId="LiveId" clId="{18BF0762-94E8-4A6B-A634-3860A1919F74}" dt="2026-04-29T08:36:45.453" v="0" actId="478"/>
        <pc:sldMkLst>
          <pc:docMk/>
          <pc:sldMk cId="0" sldId="257"/>
        </pc:sldMkLst>
        <pc:spChg chg="del">
          <ac:chgData name="Manos Manousakas" userId="472fbd7d13858be9" providerId="LiveId" clId="{18BF0762-94E8-4A6B-A634-3860A1919F74}" dt="2026-04-29T08:36:45.453" v="0" actId="478"/>
          <ac:spMkLst>
            <pc:docMk/>
            <pc:sldMk cId="0" sldId="257"/>
            <ac:spMk id="16" creationId="{00000000-0000-0000-0000-000000000000}"/>
          </ac:spMkLst>
        </pc:spChg>
      </pc:sldChg>
      <pc:sldChg chg="delSp mod">
        <pc:chgData name="Manos Manousakas" userId="472fbd7d13858be9" providerId="LiveId" clId="{18BF0762-94E8-4A6B-A634-3860A1919F74}" dt="2026-04-29T08:44:56.044" v="12" actId="478"/>
        <pc:sldMkLst>
          <pc:docMk/>
          <pc:sldMk cId="0" sldId="258"/>
        </pc:sldMkLst>
        <pc:spChg chg="del">
          <ac:chgData name="Manos Manousakas" userId="472fbd7d13858be9" providerId="LiveId" clId="{18BF0762-94E8-4A6B-A634-3860A1919F74}" dt="2026-04-29T08:44:56.044" v="12" actId="478"/>
          <ac:spMkLst>
            <pc:docMk/>
            <pc:sldMk cId="0" sldId="258"/>
            <ac:spMk id="15" creationId="{00000000-0000-0000-0000-000000000000}"/>
          </ac:spMkLst>
        </pc:spChg>
      </pc:sldChg>
      <pc:sldChg chg="delSp mod">
        <pc:chgData name="Manos Manousakas" userId="472fbd7d13858be9" providerId="LiveId" clId="{18BF0762-94E8-4A6B-A634-3860A1919F74}" dt="2026-04-29T08:37:23.307" v="1" actId="478"/>
        <pc:sldMkLst>
          <pc:docMk/>
          <pc:sldMk cId="0" sldId="259"/>
        </pc:sldMkLst>
        <pc:spChg chg="del">
          <ac:chgData name="Manos Manousakas" userId="472fbd7d13858be9" providerId="LiveId" clId="{18BF0762-94E8-4A6B-A634-3860A1919F74}" dt="2026-04-29T08:37:23.307" v="1" actId="478"/>
          <ac:spMkLst>
            <pc:docMk/>
            <pc:sldMk cId="0" sldId="259"/>
            <ac:spMk id="24" creationId="{00000000-0000-0000-0000-000000000000}"/>
          </ac:spMkLst>
        </pc:spChg>
      </pc:sldChg>
      <pc:sldChg chg="delSp mod">
        <pc:chgData name="Manos Manousakas" userId="472fbd7d13858be9" providerId="LiveId" clId="{18BF0762-94E8-4A6B-A634-3860A1919F74}" dt="2026-04-29T08:37:42.884" v="2" actId="478"/>
        <pc:sldMkLst>
          <pc:docMk/>
          <pc:sldMk cId="0" sldId="260"/>
        </pc:sldMkLst>
        <pc:spChg chg="del">
          <ac:chgData name="Manos Manousakas" userId="472fbd7d13858be9" providerId="LiveId" clId="{18BF0762-94E8-4A6B-A634-3860A1919F74}" dt="2026-04-29T08:37:42.884" v="2" actId="478"/>
          <ac:spMkLst>
            <pc:docMk/>
            <pc:sldMk cId="0" sldId="260"/>
            <ac:spMk id="12" creationId="{00000000-0000-0000-0000-000000000000}"/>
          </ac:spMkLst>
        </pc:spChg>
      </pc:sldChg>
      <pc:sldChg chg="delSp modSp mod">
        <pc:chgData name="Manos Manousakas" userId="472fbd7d13858be9" providerId="LiveId" clId="{18BF0762-94E8-4A6B-A634-3860A1919F74}" dt="2026-04-29T08:45:23.924" v="16" actId="20577"/>
        <pc:sldMkLst>
          <pc:docMk/>
          <pc:sldMk cId="0" sldId="261"/>
        </pc:sldMkLst>
        <pc:spChg chg="mod">
          <ac:chgData name="Manos Manousakas" userId="472fbd7d13858be9" providerId="LiveId" clId="{18BF0762-94E8-4A6B-A634-3860A1919F74}" dt="2026-04-29T08:45:23.924" v="16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Manos Manousakas" userId="472fbd7d13858be9" providerId="LiveId" clId="{18BF0762-94E8-4A6B-A634-3860A1919F74}" dt="2026-04-29T08:37:57.610" v="4" actId="14100"/>
          <ac:spMkLst>
            <pc:docMk/>
            <pc:sldMk cId="0" sldId="261"/>
            <ac:spMk id="6" creationId="{00000000-0000-0000-0000-000000000000}"/>
          </ac:spMkLst>
        </pc:spChg>
        <pc:spChg chg="mod">
          <ac:chgData name="Manos Manousakas" userId="472fbd7d13858be9" providerId="LiveId" clId="{18BF0762-94E8-4A6B-A634-3860A1919F74}" dt="2026-04-29T08:37:59.329" v="5" actId="14100"/>
          <ac:spMkLst>
            <pc:docMk/>
            <pc:sldMk cId="0" sldId="261"/>
            <ac:spMk id="8" creationId="{00000000-0000-0000-0000-000000000000}"/>
          </ac:spMkLst>
        </pc:spChg>
        <pc:spChg chg="mod">
          <ac:chgData name="Manos Manousakas" userId="472fbd7d13858be9" providerId="LiveId" clId="{18BF0762-94E8-4A6B-A634-3860A1919F74}" dt="2026-04-29T08:38:07.759" v="7" actId="1076"/>
          <ac:spMkLst>
            <pc:docMk/>
            <pc:sldMk cId="0" sldId="261"/>
            <ac:spMk id="14" creationId="{00000000-0000-0000-0000-000000000000}"/>
          </ac:spMkLst>
        </pc:spChg>
        <pc:spChg chg="del">
          <ac:chgData name="Manos Manousakas" userId="472fbd7d13858be9" providerId="LiveId" clId="{18BF0762-94E8-4A6B-A634-3860A1919F74}" dt="2026-04-29T08:38:10.633" v="8" actId="478"/>
          <ac:spMkLst>
            <pc:docMk/>
            <pc:sldMk cId="0" sldId="261"/>
            <ac:spMk id="15" creationId="{00000000-0000-0000-0000-000000000000}"/>
          </ac:spMkLst>
        </pc:spChg>
      </pc:sldChg>
      <pc:sldChg chg="delSp modSp mod">
        <pc:chgData name="Manos Manousakas" userId="472fbd7d13858be9" providerId="LiveId" clId="{18BF0762-94E8-4A6B-A634-3860A1919F74}" dt="2026-04-29T08:46:24.540" v="28" actId="20577"/>
        <pc:sldMkLst>
          <pc:docMk/>
          <pc:sldMk cId="0" sldId="262"/>
        </pc:sldMkLst>
        <pc:spChg chg="mod">
          <ac:chgData name="Manos Manousakas" userId="472fbd7d13858be9" providerId="LiveId" clId="{18BF0762-94E8-4A6B-A634-3860A1919F74}" dt="2026-04-29T08:46:24.540" v="28" actId="20577"/>
          <ac:spMkLst>
            <pc:docMk/>
            <pc:sldMk cId="0" sldId="262"/>
            <ac:spMk id="3" creationId="{00000000-0000-0000-0000-000000000000}"/>
          </ac:spMkLst>
        </pc:spChg>
        <pc:spChg chg="del">
          <ac:chgData name="Manos Manousakas" userId="472fbd7d13858be9" providerId="LiveId" clId="{18BF0762-94E8-4A6B-A634-3860A1919F74}" dt="2026-04-29T08:45:39.155" v="19" actId="478"/>
          <ac:spMkLst>
            <pc:docMk/>
            <pc:sldMk cId="0" sldId="262"/>
            <ac:spMk id="16" creationId="{00000000-0000-0000-0000-000000000000}"/>
          </ac:spMkLst>
        </pc:spChg>
      </pc:sldChg>
      <pc:sldChg chg="delSp modSp mod">
        <pc:chgData name="Manos Manousakas" userId="472fbd7d13858be9" providerId="LiveId" clId="{18BF0762-94E8-4A6B-A634-3860A1919F74}" dt="2026-04-29T08:46:27.100" v="30" actId="20577"/>
        <pc:sldMkLst>
          <pc:docMk/>
          <pc:sldMk cId="0" sldId="263"/>
        </pc:sldMkLst>
        <pc:spChg chg="mod">
          <ac:chgData name="Manos Manousakas" userId="472fbd7d13858be9" providerId="LiveId" clId="{18BF0762-94E8-4A6B-A634-3860A1919F74}" dt="2026-04-29T08:46:27.100" v="30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Manos Manousakas" userId="472fbd7d13858be9" providerId="LiveId" clId="{18BF0762-94E8-4A6B-A634-3860A1919F74}" dt="2026-04-29T08:38:26.411" v="10" actId="14100"/>
          <ac:spMkLst>
            <pc:docMk/>
            <pc:sldMk cId="0" sldId="263"/>
            <ac:spMk id="13" creationId="{00000000-0000-0000-0000-000000000000}"/>
          </ac:spMkLst>
        </pc:spChg>
        <pc:spChg chg="mod">
          <ac:chgData name="Manos Manousakas" userId="472fbd7d13858be9" providerId="LiveId" clId="{18BF0762-94E8-4A6B-A634-3860A1919F74}" dt="2026-04-29T08:38:28.969" v="11" actId="14100"/>
          <ac:spMkLst>
            <pc:docMk/>
            <pc:sldMk cId="0" sldId="263"/>
            <ac:spMk id="14" creationId="{00000000-0000-0000-0000-000000000000}"/>
          </ac:spMkLst>
        </pc:spChg>
        <pc:spChg chg="del">
          <ac:chgData name="Manos Manousakas" userId="472fbd7d13858be9" providerId="LiveId" clId="{18BF0762-94E8-4A6B-A634-3860A1919F74}" dt="2026-04-29T08:45:53.403" v="20" actId="478"/>
          <ac:spMkLst>
            <pc:docMk/>
            <pc:sldMk cId="0" sldId="263"/>
            <ac:spMk id="15" creationId="{00000000-0000-0000-0000-000000000000}"/>
          </ac:spMkLst>
        </pc:spChg>
      </pc:sldChg>
      <pc:sldChg chg="delSp modSp mod">
        <pc:chgData name="Manos Manousakas" userId="472fbd7d13858be9" providerId="LiveId" clId="{18BF0762-94E8-4A6B-A634-3860A1919F74}" dt="2026-04-29T08:46:30.940" v="33" actId="20577"/>
        <pc:sldMkLst>
          <pc:docMk/>
          <pc:sldMk cId="0" sldId="264"/>
        </pc:sldMkLst>
        <pc:spChg chg="mod">
          <ac:chgData name="Manos Manousakas" userId="472fbd7d13858be9" providerId="LiveId" clId="{18BF0762-94E8-4A6B-A634-3860A1919F74}" dt="2026-04-29T08:46:30.940" v="33" actId="20577"/>
          <ac:spMkLst>
            <pc:docMk/>
            <pc:sldMk cId="0" sldId="264"/>
            <ac:spMk id="3" creationId="{00000000-0000-0000-0000-000000000000}"/>
          </ac:spMkLst>
        </pc:spChg>
        <pc:spChg chg="del">
          <ac:chgData name="Manos Manousakas" userId="472fbd7d13858be9" providerId="LiveId" clId="{18BF0762-94E8-4A6B-A634-3860A1919F74}" dt="2026-04-29T08:45:56.548" v="21" actId="478"/>
          <ac:spMkLst>
            <pc:docMk/>
            <pc:sldMk cId="0" sldId="264"/>
            <ac:spMk id="8" creationId="{00000000-0000-0000-0000-000000000000}"/>
          </ac:spMkLst>
        </pc:spChg>
      </pc:sldChg>
      <pc:sldChg chg="delSp modSp mod">
        <pc:chgData name="Manos Manousakas" userId="472fbd7d13858be9" providerId="LiveId" clId="{18BF0762-94E8-4A6B-A634-3860A1919F74}" dt="2026-04-29T08:46:33.812" v="36" actId="20577"/>
        <pc:sldMkLst>
          <pc:docMk/>
          <pc:sldMk cId="0" sldId="265"/>
        </pc:sldMkLst>
        <pc:spChg chg="mod">
          <ac:chgData name="Manos Manousakas" userId="472fbd7d13858be9" providerId="LiveId" clId="{18BF0762-94E8-4A6B-A634-3860A1919F74}" dt="2026-04-29T08:46:33.812" v="36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Manos Manousakas" userId="472fbd7d13858be9" providerId="LiveId" clId="{18BF0762-94E8-4A6B-A634-3860A1919F74}" dt="2026-04-29T08:46:09.443" v="24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Manos Manousakas" userId="472fbd7d13858be9" providerId="LiveId" clId="{18BF0762-94E8-4A6B-A634-3860A1919F74}" dt="2026-04-29T08:46:12.912" v="25" actId="1076"/>
          <ac:spMkLst>
            <pc:docMk/>
            <pc:sldMk cId="0" sldId="265"/>
            <ac:spMk id="8" creationId="{00000000-0000-0000-0000-000000000000}"/>
          </ac:spMkLst>
        </pc:spChg>
        <pc:spChg chg="del">
          <ac:chgData name="Manos Manousakas" userId="472fbd7d13858be9" providerId="LiveId" clId="{18BF0762-94E8-4A6B-A634-3860A1919F74}" dt="2026-04-29T08:46:18.652" v="26" actId="478"/>
          <ac:spMkLst>
            <pc:docMk/>
            <pc:sldMk cId="0" sldId="265"/>
            <ac:spMk id="16" creationId="{00000000-0000-0000-0000-000000000000}"/>
          </ac:spMkLst>
        </pc:spChg>
      </pc:sldChg>
      <pc:sldChg chg="delSp modSp mod">
        <pc:chgData name="Manos Manousakas" userId="472fbd7d13858be9" providerId="LiveId" clId="{18BF0762-94E8-4A6B-A634-3860A1919F74}" dt="2026-04-29T08:50:22.308" v="60" actId="20577"/>
        <pc:sldMkLst>
          <pc:docMk/>
          <pc:sldMk cId="0" sldId="266"/>
        </pc:sldMkLst>
        <pc:spChg chg="mod">
          <ac:chgData name="Manos Manousakas" userId="472fbd7d13858be9" providerId="LiveId" clId="{18BF0762-94E8-4A6B-A634-3860A1919F74}" dt="2026-04-29T08:50:22.308" v="60" actId="20577"/>
          <ac:spMkLst>
            <pc:docMk/>
            <pc:sldMk cId="0" sldId="266"/>
            <ac:spMk id="3" creationId="{00000000-0000-0000-0000-000000000000}"/>
          </ac:spMkLst>
        </pc:spChg>
        <pc:spChg chg="del">
          <ac:chgData name="Manos Manousakas" userId="472fbd7d13858be9" providerId="LiveId" clId="{18BF0762-94E8-4A6B-A634-3860A1919F74}" dt="2026-04-29T08:46:54.036" v="40" actId="478"/>
          <ac:spMkLst>
            <pc:docMk/>
            <pc:sldMk cId="0" sldId="266"/>
            <ac:spMk id="11" creationId="{00000000-0000-0000-0000-000000000000}"/>
          </ac:spMkLst>
        </pc:spChg>
      </pc:sldChg>
      <pc:sldChg chg="delSp modSp mod">
        <pc:chgData name="Manos Manousakas" userId="472fbd7d13858be9" providerId="LiveId" clId="{18BF0762-94E8-4A6B-A634-3860A1919F74}" dt="2026-04-29T08:50:26.322" v="62" actId="20577"/>
        <pc:sldMkLst>
          <pc:docMk/>
          <pc:sldMk cId="0" sldId="267"/>
        </pc:sldMkLst>
        <pc:spChg chg="mod">
          <ac:chgData name="Manos Manousakas" userId="472fbd7d13858be9" providerId="LiveId" clId="{18BF0762-94E8-4A6B-A634-3860A1919F74}" dt="2026-04-29T08:50:26.322" v="62" actId="20577"/>
          <ac:spMkLst>
            <pc:docMk/>
            <pc:sldMk cId="0" sldId="267"/>
            <ac:spMk id="3" creationId="{00000000-0000-0000-0000-000000000000}"/>
          </ac:spMkLst>
        </pc:spChg>
        <pc:spChg chg="del">
          <ac:chgData name="Manos Manousakas" userId="472fbd7d13858be9" providerId="LiveId" clId="{18BF0762-94E8-4A6B-A634-3860A1919F74}" dt="2026-04-29T08:46:56.356" v="41" actId="478"/>
          <ac:spMkLst>
            <pc:docMk/>
            <pc:sldMk cId="0" sldId="267"/>
            <ac:spMk id="27" creationId="{00000000-0000-0000-0000-000000000000}"/>
          </ac:spMkLst>
        </pc:spChg>
      </pc:sldChg>
      <pc:sldChg chg="delSp modSp mod">
        <pc:chgData name="Manos Manousakas" userId="472fbd7d13858be9" providerId="LiveId" clId="{18BF0762-94E8-4A6B-A634-3860A1919F74}" dt="2026-04-29T08:50:29.691" v="64" actId="20577"/>
        <pc:sldMkLst>
          <pc:docMk/>
          <pc:sldMk cId="0" sldId="268"/>
        </pc:sldMkLst>
        <pc:spChg chg="mod">
          <ac:chgData name="Manos Manousakas" userId="472fbd7d13858be9" providerId="LiveId" clId="{18BF0762-94E8-4A6B-A634-3860A1919F74}" dt="2026-04-29T08:50:29.691" v="64" actId="20577"/>
          <ac:spMkLst>
            <pc:docMk/>
            <pc:sldMk cId="0" sldId="268"/>
            <ac:spMk id="3" creationId="{00000000-0000-0000-0000-000000000000}"/>
          </ac:spMkLst>
        </pc:spChg>
        <pc:spChg chg="mod">
          <ac:chgData name="Manos Manousakas" userId="472fbd7d13858be9" providerId="LiveId" clId="{18BF0762-94E8-4A6B-A634-3860A1919F74}" dt="2026-04-29T08:46:45.600" v="38" actId="1076"/>
          <ac:spMkLst>
            <pc:docMk/>
            <pc:sldMk cId="0" sldId="268"/>
            <ac:spMk id="12" creationId="{00000000-0000-0000-0000-000000000000}"/>
          </ac:spMkLst>
        </pc:spChg>
        <pc:spChg chg="del">
          <ac:chgData name="Manos Manousakas" userId="472fbd7d13858be9" providerId="LiveId" clId="{18BF0762-94E8-4A6B-A634-3860A1919F74}" dt="2026-04-29T08:46:48.764" v="39" actId="478"/>
          <ac:spMkLst>
            <pc:docMk/>
            <pc:sldMk cId="0" sldId="268"/>
            <ac:spMk id="16" creationId="{00000000-0000-0000-0000-000000000000}"/>
          </ac:spMkLst>
        </pc:spChg>
      </pc:sldChg>
      <pc:sldChg chg="delSp modSp mod">
        <pc:chgData name="Manos Manousakas" userId="472fbd7d13858be9" providerId="LiveId" clId="{18BF0762-94E8-4A6B-A634-3860A1919F74}" dt="2026-04-29T08:50:32.372" v="66" actId="20577"/>
        <pc:sldMkLst>
          <pc:docMk/>
          <pc:sldMk cId="0" sldId="269"/>
        </pc:sldMkLst>
        <pc:spChg chg="mod">
          <ac:chgData name="Manos Manousakas" userId="472fbd7d13858be9" providerId="LiveId" clId="{18BF0762-94E8-4A6B-A634-3860A1919F74}" dt="2026-04-29T08:50:32.372" v="66" actId="20577"/>
          <ac:spMkLst>
            <pc:docMk/>
            <pc:sldMk cId="0" sldId="269"/>
            <ac:spMk id="3" creationId="{00000000-0000-0000-0000-000000000000}"/>
          </ac:spMkLst>
        </pc:spChg>
        <pc:spChg chg="mod">
          <ac:chgData name="Manos Manousakas" userId="472fbd7d13858be9" providerId="LiveId" clId="{18BF0762-94E8-4A6B-A634-3860A1919F74}" dt="2026-04-29T08:47:12.872" v="45" actId="14100"/>
          <ac:spMkLst>
            <pc:docMk/>
            <pc:sldMk cId="0" sldId="269"/>
            <ac:spMk id="6" creationId="{00000000-0000-0000-0000-000000000000}"/>
          </ac:spMkLst>
        </pc:spChg>
        <pc:spChg chg="mod">
          <ac:chgData name="Manos Manousakas" userId="472fbd7d13858be9" providerId="LiveId" clId="{18BF0762-94E8-4A6B-A634-3860A1919F74}" dt="2026-04-29T08:47:10.400" v="44" actId="1076"/>
          <ac:spMkLst>
            <pc:docMk/>
            <pc:sldMk cId="0" sldId="269"/>
            <ac:spMk id="7" creationId="{00000000-0000-0000-0000-000000000000}"/>
          </ac:spMkLst>
        </pc:spChg>
        <pc:spChg chg="del">
          <ac:chgData name="Manos Manousakas" userId="472fbd7d13858be9" providerId="LiveId" clId="{18BF0762-94E8-4A6B-A634-3860A1919F74}" dt="2026-04-29T08:47:05.108" v="42" actId="478"/>
          <ac:spMkLst>
            <pc:docMk/>
            <pc:sldMk cId="0" sldId="269"/>
            <ac:spMk id="12" creationId="{00000000-0000-0000-0000-000000000000}"/>
          </ac:spMkLst>
        </pc:spChg>
      </pc:sldChg>
      <pc:sldChg chg="delSp modSp mod">
        <pc:chgData name="Manos Manousakas" userId="472fbd7d13858be9" providerId="LiveId" clId="{18BF0762-94E8-4A6B-A634-3860A1919F74}" dt="2026-04-29T08:50:35.092" v="68" actId="20577"/>
        <pc:sldMkLst>
          <pc:docMk/>
          <pc:sldMk cId="0" sldId="270"/>
        </pc:sldMkLst>
        <pc:spChg chg="mod">
          <ac:chgData name="Manos Manousakas" userId="472fbd7d13858be9" providerId="LiveId" clId="{18BF0762-94E8-4A6B-A634-3860A1919F74}" dt="2026-04-29T08:50:35.092" v="68" actId="20577"/>
          <ac:spMkLst>
            <pc:docMk/>
            <pc:sldMk cId="0" sldId="270"/>
            <ac:spMk id="3" creationId="{00000000-0000-0000-0000-000000000000}"/>
          </ac:spMkLst>
        </pc:spChg>
        <pc:spChg chg="del">
          <ac:chgData name="Manos Manousakas" userId="472fbd7d13858be9" providerId="LiveId" clId="{18BF0762-94E8-4A6B-A634-3860A1919F74}" dt="2026-04-29T08:47:18.676" v="46" actId="478"/>
          <ac:spMkLst>
            <pc:docMk/>
            <pc:sldMk cId="0" sldId="270"/>
            <ac:spMk id="11" creationId="{00000000-0000-0000-0000-000000000000}"/>
          </ac:spMkLst>
        </pc:spChg>
      </pc:sldChg>
      <pc:sldChg chg="delSp modSp mod">
        <pc:chgData name="Manos Manousakas" userId="472fbd7d13858be9" providerId="LiveId" clId="{18BF0762-94E8-4A6B-A634-3860A1919F74}" dt="2026-04-29T08:50:37.932" v="70" actId="20577"/>
        <pc:sldMkLst>
          <pc:docMk/>
          <pc:sldMk cId="0" sldId="271"/>
        </pc:sldMkLst>
        <pc:spChg chg="mod">
          <ac:chgData name="Manos Manousakas" userId="472fbd7d13858be9" providerId="LiveId" clId="{18BF0762-94E8-4A6B-A634-3860A1919F74}" dt="2026-04-29T08:50:37.932" v="70" actId="20577"/>
          <ac:spMkLst>
            <pc:docMk/>
            <pc:sldMk cId="0" sldId="271"/>
            <ac:spMk id="3" creationId="{00000000-0000-0000-0000-000000000000}"/>
          </ac:spMkLst>
        </pc:spChg>
        <pc:spChg chg="mod">
          <ac:chgData name="Manos Manousakas" userId="472fbd7d13858be9" providerId="LiveId" clId="{18BF0762-94E8-4A6B-A634-3860A1919F74}" dt="2026-04-29T08:49:34.837" v="55" actId="20577"/>
          <ac:spMkLst>
            <pc:docMk/>
            <pc:sldMk cId="0" sldId="271"/>
            <ac:spMk id="8" creationId="{00000000-0000-0000-0000-000000000000}"/>
          </ac:spMkLst>
        </pc:spChg>
        <pc:spChg chg="del">
          <ac:chgData name="Manos Manousakas" userId="472fbd7d13858be9" providerId="LiveId" clId="{18BF0762-94E8-4A6B-A634-3860A1919F74}" dt="2026-04-29T08:47:47.604" v="47" actId="478"/>
          <ac:spMkLst>
            <pc:docMk/>
            <pc:sldMk cId="0" sldId="271"/>
            <ac:spMk id="9" creationId="{00000000-0000-0000-0000-000000000000}"/>
          </ac:spMkLst>
        </pc:spChg>
      </pc:sldChg>
      <pc:sldChg chg="delSp modSp mod">
        <pc:chgData name="Manos Manousakas" userId="472fbd7d13858be9" providerId="LiveId" clId="{18BF0762-94E8-4A6B-A634-3860A1919F74}" dt="2026-04-29T08:50:48.250" v="74" actId="20577"/>
        <pc:sldMkLst>
          <pc:docMk/>
          <pc:sldMk cId="0" sldId="272"/>
        </pc:sldMkLst>
        <pc:spChg chg="mod">
          <ac:chgData name="Manos Manousakas" userId="472fbd7d13858be9" providerId="LiveId" clId="{18BF0762-94E8-4A6B-A634-3860A1919F74}" dt="2026-04-29T08:50:48.250" v="74" actId="20577"/>
          <ac:spMkLst>
            <pc:docMk/>
            <pc:sldMk cId="0" sldId="272"/>
            <ac:spMk id="3" creationId="{00000000-0000-0000-0000-000000000000}"/>
          </ac:spMkLst>
        </pc:spChg>
        <pc:spChg chg="del">
          <ac:chgData name="Manos Manousakas" userId="472fbd7d13858be9" providerId="LiveId" clId="{18BF0762-94E8-4A6B-A634-3860A1919F74}" dt="2026-04-29T08:49:48.779" v="56" actId="478"/>
          <ac:spMkLst>
            <pc:docMk/>
            <pc:sldMk cId="0" sldId="272"/>
            <ac:spMk id="7" creationId="{00000000-0000-0000-0000-000000000000}"/>
          </ac:spMkLst>
        </pc:spChg>
      </pc:sldChg>
      <pc:sldChg chg="delSp modSp mod">
        <pc:chgData name="Manos Manousakas" userId="472fbd7d13858be9" providerId="LiveId" clId="{18BF0762-94E8-4A6B-A634-3860A1919F74}" dt="2026-04-29T08:50:50.890" v="76" actId="20577"/>
        <pc:sldMkLst>
          <pc:docMk/>
          <pc:sldMk cId="0" sldId="273"/>
        </pc:sldMkLst>
        <pc:spChg chg="mod">
          <ac:chgData name="Manos Manousakas" userId="472fbd7d13858be9" providerId="LiveId" clId="{18BF0762-94E8-4A6B-A634-3860A1919F74}" dt="2026-04-29T08:50:50.890" v="76" actId="20577"/>
          <ac:spMkLst>
            <pc:docMk/>
            <pc:sldMk cId="0" sldId="273"/>
            <ac:spMk id="3" creationId="{00000000-0000-0000-0000-000000000000}"/>
          </ac:spMkLst>
        </pc:spChg>
        <pc:spChg chg="del">
          <ac:chgData name="Manos Manousakas" userId="472fbd7d13858be9" providerId="LiveId" clId="{18BF0762-94E8-4A6B-A634-3860A1919F74}" dt="2026-04-29T08:49:52.563" v="57" actId="478"/>
          <ac:spMkLst>
            <pc:docMk/>
            <pc:sldMk cId="0" sldId="273"/>
            <ac:spMk id="8" creationId="{00000000-0000-0000-0000-000000000000}"/>
          </ac:spMkLst>
        </pc:spChg>
      </pc:sldChg>
      <pc:sldChg chg="del">
        <pc:chgData name="Manos Manousakas" userId="472fbd7d13858be9" providerId="LiveId" clId="{18BF0762-94E8-4A6B-A634-3860A1919F74}" dt="2026-04-29T08:50:07.920" v="58" actId="47"/>
        <pc:sldMkLst>
          <pc:docMk/>
          <pc:sldMk cId="0" sldId="274"/>
        </pc:sldMkLst>
      </pc:sldChg>
      <pc:sldChg chg="delSp modSp mod">
        <pc:chgData name="Manos Manousakas" userId="472fbd7d13858be9" providerId="LiveId" clId="{18BF0762-94E8-4A6B-A634-3860A1919F74}" dt="2026-04-29T08:45:19.076" v="14" actId="20577"/>
        <pc:sldMkLst>
          <pc:docMk/>
          <pc:sldMk cId="0" sldId="275"/>
        </pc:sldMkLst>
        <pc:spChg chg="mod">
          <ac:chgData name="Manos Manousakas" userId="472fbd7d13858be9" providerId="LiveId" clId="{18BF0762-94E8-4A6B-A634-3860A1919F74}" dt="2026-04-29T08:45:19.076" v="14" actId="20577"/>
          <ac:spMkLst>
            <pc:docMk/>
            <pc:sldMk cId="0" sldId="275"/>
            <ac:spMk id="3" creationId="{00000000-0000-0000-0000-000000000000}"/>
          </ac:spMkLst>
        </pc:spChg>
        <pc:spChg chg="del">
          <ac:chgData name="Manos Manousakas" userId="472fbd7d13858be9" providerId="LiveId" clId="{18BF0762-94E8-4A6B-A634-3860A1919F74}" dt="2026-04-29T08:37:50.442" v="3" actId="478"/>
          <ac:spMkLst>
            <pc:docMk/>
            <pc:sldMk cId="0" sldId="275"/>
            <ac:spMk id="13" creationId="{00000000-0000-0000-0000-000000000000}"/>
          </ac:spMkLst>
        </pc:spChg>
      </pc:sldChg>
      <pc:sldChg chg="delSp modSp mod">
        <pc:chgData name="Manos Manousakas" userId="472fbd7d13858be9" providerId="LiveId" clId="{18BF0762-94E8-4A6B-A634-3860A1919F74}" dt="2026-04-29T08:45:30.916" v="18" actId="20577"/>
        <pc:sldMkLst>
          <pc:docMk/>
          <pc:sldMk cId="0" sldId="276"/>
        </pc:sldMkLst>
        <pc:spChg chg="mod">
          <ac:chgData name="Manos Manousakas" userId="472fbd7d13858be9" providerId="LiveId" clId="{18BF0762-94E8-4A6B-A634-3860A1919F74}" dt="2026-04-29T08:45:30.916" v="18" actId="20577"/>
          <ac:spMkLst>
            <pc:docMk/>
            <pc:sldMk cId="0" sldId="276"/>
            <ac:spMk id="3" creationId="{00000000-0000-0000-0000-000000000000}"/>
          </ac:spMkLst>
        </pc:spChg>
        <pc:spChg chg="del">
          <ac:chgData name="Manos Manousakas" userId="472fbd7d13858be9" providerId="LiveId" clId="{18BF0762-94E8-4A6B-A634-3860A1919F74}" dt="2026-04-29T08:38:17.540" v="9" actId="478"/>
          <ac:spMkLst>
            <pc:docMk/>
            <pc:sldMk cId="0" sldId="276"/>
            <ac:spMk id="1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5194/amt-18-3983-2025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C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8640" y="731520"/>
            <a:ext cx="411480" cy="411480"/>
          </a:xfrm>
          <a:prstGeom prst="ellipse">
            <a:avLst/>
          </a:prstGeom>
          <a:solidFill>
            <a:srgbClr val="376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554480" y="1371600"/>
            <a:ext cx="256032" cy="256032"/>
          </a:xfrm>
          <a:prstGeom prst="ellipse">
            <a:avLst/>
          </a:prstGeom>
          <a:solidFill>
            <a:srgbClr val="2C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2011680"/>
            <a:ext cx="182880" cy="182880"/>
          </a:xfrm>
          <a:prstGeom prst="ellipse">
            <a:avLst/>
          </a:prstGeom>
          <a:solidFill>
            <a:srgbClr val="D37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560320" y="82296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Source Apportionment Techniques
Conventional and Real-Time Approaches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123944"/>
            <a:ext cx="2743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E2EAF5"/>
                </a:solidFill>
                <a:latin typeface="Aptos"/>
              </a:rPr>
              <a:t>Definitions, core principles, model differences, and practical workflows for PCA, CMB, PMF, and real-time systems.</a:t>
            </a:r>
            <a:endParaRPr lang="en-US" sz="1500" b="0" i="0" dirty="0">
              <a:solidFill>
                <a:srgbClr val="E2EAF5"/>
              </a:solidFill>
              <a:latin typeface="Aptos"/>
            </a:endParaRPr>
          </a:p>
          <a:p>
            <a:pPr algn="l"/>
            <a:endParaRPr lang="en-US" sz="1500" dirty="0">
              <a:solidFill>
                <a:srgbClr val="E2EAF5"/>
              </a:solidFill>
              <a:latin typeface="Aptos"/>
            </a:endParaRPr>
          </a:p>
          <a:p>
            <a:pPr algn="l"/>
            <a:r>
              <a:rPr lang="en-US" sz="1500" b="0" i="0" dirty="0">
                <a:solidFill>
                  <a:srgbClr val="E2EAF5"/>
                </a:solidFill>
                <a:latin typeface="Aptos"/>
              </a:rPr>
              <a:t>Manos Manousakas, NCSR Demokritos</a:t>
            </a:r>
            <a:endParaRPr sz="1500" b="0" i="0" dirty="0">
              <a:solidFill>
                <a:srgbClr val="E2EAF5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97680" y="82296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76EB7"/>
                </a:solidFill>
                <a:latin typeface="Aptos"/>
              </a:rPr>
              <a:t>Teaching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234440"/>
            <a:ext cx="7132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3F6C"/>
                </a:solidFill>
                <a:latin typeface="Aptos"/>
              </a:rPr>
              <a:t>What the presentation covers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920240"/>
            <a:ext cx="7132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What source apportionment (SA) means and how it works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The main conventional receptor-model techniques: PCA, CMB, and PMF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Key differences between the techniques and what each method can and cannot say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How near-real-time / real-time SA can be implemented using online measurements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4754880"/>
            <a:ext cx="1828800" cy="914400"/>
          </a:xfrm>
          <a:prstGeom prst="roundRect">
            <a:avLst/>
          </a:prstGeom>
          <a:solidFill>
            <a:srgbClr val="DFECFC"/>
          </a:solidFill>
          <a:ln w="16510">
            <a:solidFill>
              <a:srgbClr val="376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C3F6C"/>
                </a:solidFill>
                <a:latin typeface="Aptos"/>
              </a:rPr>
              <a:t>Conventional 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754880"/>
            <a:ext cx="1828800" cy="914400"/>
          </a:xfrm>
          <a:prstGeom prst="roundRect">
            <a:avLst/>
          </a:prstGeom>
          <a:solidFill>
            <a:srgbClr val="FFF4D6"/>
          </a:solidFill>
          <a:ln w="16510">
            <a:solidFill>
              <a:srgbClr val="376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C3F6C"/>
                </a:solidFill>
                <a:latin typeface="Aptos"/>
              </a:rPr>
              <a:t>Model comparison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4754880"/>
            <a:ext cx="1828800" cy="914400"/>
          </a:xfrm>
          <a:prstGeom prst="roundRect">
            <a:avLst/>
          </a:prstGeom>
          <a:solidFill>
            <a:srgbClr val="E1F5EB"/>
          </a:solidFill>
          <a:ln w="16510">
            <a:solidFill>
              <a:srgbClr val="376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C3F6C"/>
                </a:solidFill>
                <a:latin typeface="Aptos"/>
              </a:rPr>
              <a:t>Real-time 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C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1. What is source apportionment?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36D"/>
                </a:solidFill>
                <a:latin typeface="Aptos"/>
              </a:rPr>
              <a:t>Goal: identify the sources of particulate matter and quantify how much each source contributes.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565392"/>
            <a:ext cx="11551615" cy="18288"/>
          </a:xfrm>
          <a:prstGeom prst="rect">
            <a:avLst/>
          </a:prstGeom>
          <a:solidFill>
            <a:srgbClr val="EA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532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Source apportionment (SA) is the practice of deriving information about pollution sources from ambient air-quality data.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For particulate matter (PM), SA usually aims to answer two questions:</a:t>
            </a:r>
          </a:p>
          <a:p>
            <a:pPr lvl="1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Which sources are present?</a:t>
            </a:r>
          </a:p>
          <a:p>
            <a:pPr lvl="1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How much does each source contribute over time?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The output is usually a set of source profiles (chemical fingerprints) and source contributions (time series or average mass contributions).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SA results are used to support air-quality management, evaluate control measures, and interpret pollution episodes.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097280"/>
            <a:ext cx="1828800" cy="365760"/>
          </a:xfrm>
          <a:prstGeom prst="roundRect">
            <a:avLst/>
          </a:prstGeom>
          <a:solidFill>
            <a:srgbClr val="DFECFC"/>
          </a:solidFill>
          <a:ln>
            <a:solidFill>
              <a:srgbClr val="376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C3F6C"/>
                </a:solidFill>
                <a:latin typeface="Aptos"/>
              </a:rPr>
              <a:t>Basic idea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2011680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37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32A34"/>
                </a:solidFill>
                <a:latin typeface="Aptos"/>
              </a:rPr>
              <a:t>Traffic
EC, Cu, Zn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697480"/>
            <a:ext cx="2011680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32A34"/>
                </a:solidFill>
                <a:latin typeface="Aptos"/>
              </a:rPr>
              <a:t>Biomass burning
K, BC, OC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749039"/>
            <a:ext cx="2011680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C7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32A34"/>
                </a:solidFill>
                <a:latin typeface="Aptos"/>
              </a:rPr>
              <a:t>Dust / soil
Al, Si, Ca, Fe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58200" y="2011680"/>
            <a:ext cx="868680" cy="0"/>
          </a:xfrm>
          <a:prstGeom prst="line">
            <a:avLst/>
          </a:prstGeom>
          <a:ln w="31750">
            <a:solidFill>
              <a:srgbClr val="376E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58200" y="3063240"/>
            <a:ext cx="868680" cy="0"/>
          </a:xfrm>
          <a:prstGeom prst="line">
            <a:avLst/>
          </a:prstGeom>
          <a:ln w="31750">
            <a:solidFill>
              <a:srgbClr val="376E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458200" y="4114800"/>
            <a:ext cx="868680" cy="0"/>
          </a:xfrm>
          <a:prstGeom prst="line">
            <a:avLst/>
          </a:prstGeom>
          <a:ln w="31750">
            <a:solidFill>
              <a:srgbClr val="376E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26880" y="1828800"/>
            <a:ext cx="2286000" cy="2651760"/>
          </a:xfrm>
          <a:prstGeom prst="roundRect">
            <a:avLst/>
          </a:prstGeom>
          <a:solidFill>
            <a:srgbClr val="DFECFC"/>
          </a:solidFill>
          <a:ln w="16510">
            <a:solidFill>
              <a:srgbClr val="376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C3F6C"/>
                </a:solidFill>
                <a:latin typeface="Aptos"/>
              </a:rPr>
              <a:t>Ambient PM measurements
chemical species ×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8463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636D"/>
                </a:solidFill>
                <a:latin typeface="Aptos"/>
              </a:rPr>
              <a:t>Different sources leave different chemical fingerprints in the ambient aerosol. SA exploits these fingerprints.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C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2. How does source apportionment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36D"/>
                </a:solidFill>
                <a:latin typeface="Aptos"/>
              </a:rPr>
              <a:t>Most SA methods are based on measured PM composition and mass-balance ideas.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565392"/>
            <a:ext cx="11551615" cy="18288"/>
          </a:xfrm>
          <a:prstGeom prst="rect">
            <a:avLst/>
          </a:prstGeom>
          <a:solidFill>
            <a:srgbClr val="EA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194560" cy="1828800"/>
          </a:xfrm>
          <a:prstGeom prst="roundRect">
            <a:avLst/>
          </a:prstGeom>
          <a:solidFill>
            <a:srgbClr val="DFECFC"/>
          </a:solidFill>
          <a:ln w="16510">
            <a:solidFill>
              <a:srgbClr val="376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1C3F6C"/>
                </a:solidFill>
                <a:latin typeface="Aptos"/>
              </a:rPr>
              <a:t>Measured data matrix
X
(samples × species)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148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C3F6C"/>
                </a:solidFill>
                <a:latin typeface="Aptos"/>
              </a:rPr>
              <a:t>=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54480"/>
            <a:ext cx="2103120" cy="1828800"/>
          </a:xfrm>
          <a:prstGeom prst="roundRect">
            <a:avLst/>
          </a:prstGeom>
          <a:solidFill>
            <a:srgbClr val="E1F5EB"/>
          </a:solidFill>
          <a:ln w="16510"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32A34"/>
                </a:solidFill>
                <a:latin typeface="Aptos"/>
              </a:rPr>
              <a:t>Source contributions
G
(samples × factors)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2148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C3F6C"/>
                </a:solidFill>
                <a:latin typeface="Aptos"/>
              </a:rPr>
              <a:t>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554480"/>
            <a:ext cx="2103120" cy="1828800"/>
          </a:xfrm>
          <a:prstGeom prst="roundRect">
            <a:avLst/>
          </a:prstGeom>
          <a:solidFill>
            <a:srgbClr val="FFF4D6"/>
          </a:solidFill>
          <a:ln w="16510">
            <a:solidFill>
              <a:srgbClr val="D37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32A34"/>
                </a:solidFill>
                <a:latin typeface="Aptos"/>
              </a:rPr>
              <a:t>Source profiles
F
(factors × species)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148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C3F6C"/>
                </a:solidFill>
                <a:latin typeface="Aptos"/>
              </a:rP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1554480"/>
            <a:ext cx="2103120" cy="18288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04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32A34"/>
                </a:solidFill>
                <a:latin typeface="Aptos"/>
              </a:rPr>
              <a:t>Residuals
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9476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The model tries to explain the measured concentrations as the sum of multiple source contributions.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A “profile” describes which species characterize a source; a “contribution” describes how strong that source is at each time point.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Different methods solve the problem in different ways depending on what prior information is available.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486400"/>
            <a:ext cx="9509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636D"/>
                </a:solidFill>
                <a:latin typeface="Aptos"/>
              </a:rPr>
              <a:t>Typical information used: elemental composition, ions, EC/OC, black carbon, organics, and total PM mass.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C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3. Conventional versus real-time 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36D"/>
                </a:solidFill>
                <a:latin typeface="Aptos"/>
              </a:rPr>
              <a:t>The basic scientific objective is the same; the main differences are data latency, time resolution, and automation.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565392"/>
            <a:ext cx="11551615" cy="18288"/>
          </a:xfrm>
          <a:prstGeom prst="rect">
            <a:avLst/>
          </a:prstGeom>
          <a:solidFill>
            <a:srgbClr val="EA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394960" cy="548640"/>
          </a:xfrm>
          <a:prstGeom prst="roundRect">
            <a:avLst/>
          </a:prstGeom>
          <a:solidFill>
            <a:srgbClr val="DFECFC"/>
          </a:solidFill>
          <a:ln w="16510">
            <a:solidFill>
              <a:srgbClr val="376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1C3F6C"/>
                </a:solidFill>
                <a:latin typeface="Aptos"/>
              </a:rPr>
              <a:t>Conventional / offline 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94960" cy="548640"/>
          </a:xfrm>
          <a:prstGeom prst="roundRect">
            <a:avLst/>
          </a:prstGeom>
          <a:solidFill>
            <a:srgbClr val="E1F5EB"/>
          </a:solidFill>
          <a:ln w="16510"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232A34"/>
                </a:solidFill>
                <a:latin typeface="Aptos"/>
              </a:rPr>
              <a:t>Real-time / near-real-time 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Filter sampling followed by laboratory analysis.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Time resolution often 24 h (sometimes higher or lower).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Analyst usually has time to test multiple model runs and validate the final solution carefully.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Strong for robust long-term datasets and detailed interpretation, but results are delayed.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874519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Online instruments measure PM components continuously.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Time resolution can be hourly, sub-hourly, or even minutes.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Automated software can update source contributions almost immediately after measurement.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Strong for episode tracking, diurnal patterns, and timely action, but depends on stable setup and good prior optimization.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349240"/>
            <a:ext cx="1097280" cy="5943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76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32A34"/>
                </a:solidFill>
                <a:latin typeface="Aptos"/>
              </a:rPr>
              <a:t>Sampling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5349240"/>
            <a:ext cx="1097280" cy="5943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76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32A34"/>
                </a:solidFill>
                <a:latin typeface="Aptos"/>
              </a:rPr>
              <a:t>Lab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5349240"/>
            <a:ext cx="1097280" cy="5943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76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32A34"/>
                </a:solidFill>
                <a:latin typeface="Aptos"/>
              </a:rPr>
              <a:t>Modeling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5349240"/>
            <a:ext cx="1097280" cy="5943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76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32A34"/>
                </a:solidFill>
                <a:latin typeface="Aptos"/>
              </a:rPr>
              <a:t>Results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11680" y="5641848"/>
            <a:ext cx="274320" cy="0"/>
          </a:xfrm>
          <a:prstGeom prst="line">
            <a:avLst/>
          </a:prstGeom>
          <a:ln w="31750">
            <a:solidFill>
              <a:srgbClr val="376E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383280" y="5641848"/>
            <a:ext cx="457200" cy="0"/>
          </a:xfrm>
          <a:prstGeom prst="line">
            <a:avLst/>
          </a:prstGeom>
          <a:ln w="31750">
            <a:solidFill>
              <a:srgbClr val="376E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937760" y="5641848"/>
            <a:ext cx="182880" cy="0"/>
          </a:xfrm>
          <a:prstGeom prst="line">
            <a:avLst/>
          </a:prstGeom>
          <a:ln w="31750">
            <a:solidFill>
              <a:srgbClr val="376E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83680" y="5349240"/>
            <a:ext cx="1005840" cy="5943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32A34"/>
                </a:solidFill>
                <a:latin typeface="Aptos"/>
              </a:rPr>
              <a:t>Measure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5349240"/>
            <a:ext cx="1005840" cy="5943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32A34"/>
                </a:solidFill>
                <a:latin typeface="Aptos"/>
              </a:rPr>
              <a:t>Auto-QC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5349240"/>
            <a:ext cx="1005840" cy="5943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32A34"/>
                </a:solidFill>
                <a:latin typeface="Aptos"/>
              </a:rPr>
              <a:t>Auto-model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0" y="5349240"/>
            <a:ext cx="1005840" cy="5943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32A34"/>
                </a:solidFill>
                <a:latin typeface="Aptos"/>
              </a:rPr>
              <a:t>Updated SA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98079" y="5641848"/>
            <a:ext cx="320041" cy="0"/>
          </a:xfrm>
          <a:prstGeom prst="line">
            <a:avLst/>
          </a:prstGeom>
          <a:ln w="31750">
            <a:solidFill>
              <a:srgbClr val="468C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823960" y="5641848"/>
            <a:ext cx="320040" cy="0"/>
          </a:xfrm>
          <a:prstGeom prst="line">
            <a:avLst/>
          </a:prstGeom>
          <a:ln w="31750">
            <a:solidFill>
              <a:srgbClr val="468C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149840" y="5641848"/>
            <a:ext cx="365760" cy="0"/>
          </a:xfrm>
          <a:prstGeom prst="line">
            <a:avLst/>
          </a:prstGeom>
          <a:ln w="31750">
            <a:solidFill>
              <a:srgbClr val="468C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C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4. The model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36D"/>
                </a:solidFill>
                <a:latin typeface="Aptos"/>
              </a:rPr>
              <a:t>In practice, SA combines statistics, atmospheric understanding, and supporting measurements.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565392"/>
            <a:ext cx="11551615" cy="18288"/>
          </a:xfrm>
          <a:prstGeom prst="rect">
            <a:avLst/>
          </a:prstGeom>
          <a:solidFill>
            <a:srgbClr val="EA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Source apportionment methods include receptor models, source-oriented models, chemical reconstruction, and hybrid approaches.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Receptor models focus on the composition measured at the receptor site.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Source-oriented models (e.g., chemical transport models) simulate emissions, transport, chemistry, and deposition.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This presentation focuses on the main conventional receptor-model techniques: PCA, CMB, and PMF.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2011680" cy="12344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37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32A34"/>
                </a:solidFill>
                <a:latin typeface="Aptos"/>
              </a:rPr>
              <a:t>Exploratory
statistics
PCA / FA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554480"/>
            <a:ext cx="2011680" cy="12344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32A34"/>
                </a:solidFill>
                <a:latin typeface="Aptos"/>
              </a:rPr>
              <a:t>Known source
profiles
CMB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291840"/>
            <a:ext cx="2011680" cy="12344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76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32A34"/>
                </a:solidFill>
                <a:latin typeface="Aptos"/>
              </a:rPr>
              <a:t>Unknown source
profiles
PMF / ME-2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3291840"/>
            <a:ext cx="2011680" cy="12344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C7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32A34"/>
                </a:solidFill>
                <a:latin typeface="Aptos"/>
              </a:rPr>
              <a:t>Automated
implementation
Real-time 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8920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636D"/>
                </a:solidFill>
                <a:latin typeface="Aptos"/>
              </a:rPr>
              <a:t>No single model is universally “best”. The appropriate method depends on the study question, data quality, and available prior information.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064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5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. Conventional receptor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8288"/>
          </a:xfrm>
          <a:prstGeom prst="rect">
            <a:avLst/>
          </a:prstGeom>
          <a:solidFill>
            <a:srgbClr val="EB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9375F"/>
                </a:solidFill>
                <a:latin typeface="Calibri"/>
              </a:rPr>
              <a:t>They start from measured ambient composition at the receptor site.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2377440" cy="1097280"/>
          </a:xfrm>
          <a:prstGeom prst="roundRect">
            <a:avLst/>
          </a:prstGeom>
          <a:solidFill>
            <a:srgbClr val="FFF0DC"/>
          </a:solidFill>
          <a:ln w="15875"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232A34"/>
                </a:solidFill>
                <a:latin typeface="Calibri"/>
              </a:rPr>
              <a:t>PCA
Pattern finder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2057400"/>
            <a:ext cx="2377440" cy="1097280"/>
          </a:xfrm>
          <a:prstGeom prst="roundRect">
            <a:avLst/>
          </a:prstGeom>
          <a:solidFill>
            <a:srgbClr val="E2F5EB"/>
          </a:solidFill>
          <a:ln w="15875">
            <a:solidFill>
              <a:srgbClr val="4B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232A34"/>
                </a:solidFill>
                <a:latin typeface="Calibri"/>
              </a:rPr>
              <a:t>CMB
Known profiles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2057400"/>
            <a:ext cx="2377440" cy="1097280"/>
          </a:xfrm>
          <a:prstGeom prst="roundRect">
            <a:avLst/>
          </a:prstGeom>
          <a:solidFill>
            <a:srgbClr val="DEEBFA"/>
          </a:solidFill>
          <a:ln w="15875">
            <a:solidFill>
              <a:srgbClr val="3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232A34"/>
                </a:solidFill>
                <a:latin typeface="Calibri"/>
              </a:rPr>
              <a:t>PMF
Unknown profiles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32A34"/>
                </a:solidFill>
                <a:latin typeface="Calibri"/>
              </a:rPr>
              <a:t>Explores variance
and correlations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37033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32A34"/>
                </a:solidFill>
                <a:latin typeface="Calibri"/>
              </a:rPr>
              <a:t>Uses measured
source fingerprints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37033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32A34"/>
                </a:solidFill>
                <a:latin typeface="Calibri"/>
              </a:rPr>
              <a:t>Finds profiles and
contributions together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5166360"/>
            <a:ext cx="9372600" cy="640080"/>
          </a:xfrm>
          <a:prstGeom prst="roundRect">
            <a:avLst/>
          </a:prstGeom>
          <a:solidFill>
            <a:srgbClr val="FFF7CD"/>
          </a:solidFill>
          <a:ln w="15875"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9375F"/>
                </a:solidFill>
                <a:latin typeface="Calibri"/>
              </a:rPr>
              <a:t>No model is universally best. Choose based on data, site, and question.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C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570880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FFFFFF"/>
                </a:solidFill>
                <a:latin typeface="Aptos"/>
              </a:rPr>
              <a:t>6</a:t>
            </a:r>
            <a:r>
              <a:rPr sz="2600" b="1" dirty="0">
                <a:solidFill>
                  <a:srgbClr val="FFFFFF"/>
                </a:solidFill>
                <a:latin typeface="Aptos"/>
              </a:rPr>
              <a:t>. PCA: what it says and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36D"/>
                </a:solidFill>
                <a:latin typeface="Aptos"/>
              </a:rPr>
              <a:t>Principal Component Analysis is mainly an exploratory technique for identifying patterns in multivariate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565392"/>
            <a:ext cx="11551615" cy="18288"/>
          </a:xfrm>
          <a:prstGeom prst="rect">
            <a:avLst/>
          </a:prstGeom>
          <a:solidFill>
            <a:srgbClr val="EA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1828800" cy="594360"/>
          </a:xfrm>
          <a:prstGeom prst="roundRect">
            <a:avLst/>
          </a:prstGeom>
          <a:solidFill>
            <a:srgbClr val="FFF4D6"/>
          </a:solidFill>
          <a:ln w="16510">
            <a:solidFill>
              <a:srgbClr val="D37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232A34"/>
                </a:solidFill>
                <a:latin typeface="Aptos"/>
              </a:rPr>
              <a:t>What PCA says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PCA transforms a set of correlated variables into a smaller set of uncorrelated principal components (PCs).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Each PC captures a portion of the total variance in the dataset.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In source apportionment, the loadings may suggest source patterns (e.g., a traffic-related component or a crustal component).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By itself, PCA does not directly provide physically constrained source contributions.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1828800" cy="594360"/>
          </a:xfrm>
          <a:prstGeom prst="roundRect">
            <a:avLst/>
          </a:prstGeom>
          <a:solidFill>
            <a:srgbClr val="FFF4D6"/>
          </a:solidFill>
          <a:ln w="16510">
            <a:solidFill>
              <a:srgbClr val="D37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232A34"/>
                </a:solidFill>
                <a:latin typeface="Aptos"/>
              </a:rPr>
              <a:t>How PCA 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874519"/>
            <a:ext cx="1554480" cy="1143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37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32A34"/>
                </a:solidFill>
                <a:latin typeface="Aptos"/>
              </a:rPr>
              <a:t>Data matrix
(samples × species)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01000" y="2468880"/>
            <a:ext cx="777240" cy="0"/>
          </a:xfrm>
          <a:prstGeom prst="line">
            <a:avLst/>
          </a:prstGeom>
          <a:ln w="31750">
            <a:solidFill>
              <a:srgbClr val="D3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823960" y="1874519"/>
            <a:ext cx="1645920" cy="1143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37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32A34"/>
                </a:solidFill>
                <a:latin typeface="Aptos"/>
              </a:rPr>
              <a:t>PC1
PC2
PC3...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246120"/>
            <a:ext cx="4206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32A34"/>
                </a:solidFill>
                <a:latin typeface="Aptos"/>
              </a:rPr>
              <a:t>Mathematically, PCA finds new axes in the data space that maximize explained variance, under the constraint that the components are orthogonal.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709160"/>
            <a:ext cx="2103120" cy="822960"/>
          </a:xfrm>
          <a:prstGeom prst="roundRect">
            <a:avLst/>
          </a:prstGeom>
          <a:solidFill>
            <a:srgbClr val="E5F5EB"/>
          </a:solidFill>
          <a:ln w="16510"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32A34"/>
                </a:solidFill>
                <a:latin typeface="Aptos"/>
              </a:rPr>
              <a:t>Strengths
Simple, fast, useful for screening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4480560"/>
            <a:ext cx="2103120" cy="1280160"/>
          </a:xfrm>
          <a:prstGeom prst="roundRect">
            <a:avLst/>
          </a:prstGeom>
          <a:solidFill>
            <a:srgbClr val="FCE9E6"/>
          </a:solidFill>
          <a:ln w="16510">
            <a:solidFill>
              <a:srgbClr val="B04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32A34"/>
                </a:solidFill>
                <a:latin typeface="Aptos"/>
              </a:rPr>
              <a:t>Limitations
No uncertainty weighting; negative values possible; interpretation can be ambiguous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064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7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. PCA: pattern finder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8288"/>
          </a:xfrm>
          <a:prstGeom prst="rect">
            <a:avLst/>
          </a:prstGeom>
          <a:solidFill>
            <a:srgbClr val="EB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C8737"/>
                </a:solidFill>
                <a:latin typeface="Calibri"/>
              </a:rPr>
              <a:t>What it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937760" cy="2194560"/>
          </a:xfrm>
          <a:prstGeom prst="roundRect">
            <a:avLst/>
          </a:prstGeom>
          <a:solidFill>
            <a:srgbClr val="FFF0DC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500"/>
              </a:spcAft>
              <a:defRPr sz="2100">
                <a:solidFill>
                  <a:srgbClr val="232A34"/>
                </a:solidFill>
                <a:latin typeface="Calibri"/>
              </a:defRPr>
            </a:pPr>
            <a:r>
              <a:t>Compresses many variables</a:t>
            </a:r>
          </a:p>
          <a:p>
            <a:pPr>
              <a:spcAft>
                <a:spcPts val="500"/>
              </a:spcAft>
              <a:defRPr sz="2100">
                <a:solidFill>
                  <a:srgbClr val="232A34"/>
                </a:solidFill>
                <a:latin typeface="Calibri"/>
              </a:defRPr>
            </a:pPr>
            <a:r>
              <a:t>Finds common patterns</a:t>
            </a:r>
          </a:p>
          <a:p>
            <a:pPr>
              <a:spcAft>
                <a:spcPts val="500"/>
              </a:spcAft>
              <a:defRPr sz="2100">
                <a:solidFill>
                  <a:srgbClr val="232A34"/>
                </a:solidFill>
                <a:latin typeface="Calibri"/>
              </a:defRPr>
            </a:pPr>
            <a:r>
              <a:t>Useful first look at the data</a:t>
            </a:r>
          </a:p>
        </p:txBody>
      </p:sp>
      <p:sp>
        <p:nvSpPr>
          <p:cNvPr id="7" name="Oval 6"/>
          <p:cNvSpPr/>
          <p:nvPr/>
        </p:nvSpPr>
        <p:spPr>
          <a:xfrm>
            <a:off x="6675120" y="1828800"/>
            <a:ext cx="228600" cy="228600"/>
          </a:xfrm>
          <a:prstGeom prst="ellipse">
            <a:avLst/>
          </a:prstGeom>
          <a:solidFill>
            <a:srgbClr val="DC8737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223760" y="2194560"/>
            <a:ext cx="228600" cy="228600"/>
          </a:xfrm>
          <a:prstGeom prst="ellipse">
            <a:avLst/>
          </a:prstGeom>
          <a:solidFill>
            <a:srgbClr val="DC8737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0" y="2514600"/>
            <a:ext cx="228600" cy="228600"/>
          </a:xfrm>
          <a:prstGeom prst="ellipse">
            <a:avLst/>
          </a:prstGeom>
          <a:solidFill>
            <a:srgbClr val="DC8737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321040" y="2834640"/>
            <a:ext cx="228600" cy="228600"/>
          </a:xfrm>
          <a:prstGeom prst="ellipse">
            <a:avLst/>
          </a:prstGeom>
          <a:solidFill>
            <a:srgbClr val="DC8737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15200" y="3291840"/>
            <a:ext cx="228600" cy="228600"/>
          </a:xfrm>
          <a:prstGeom prst="ellipse">
            <a:avLst/>
          </a:prstGeom>
          <a:solidFill>
            <a:srgbClr val="3269B4"/>
          </a:solidFill>
          <a:ln>
            <a:solidFill>
              <a:srgbClr val="3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818120" y="3520440"/>
            <a:ext cx="228600" cy="228600"/>
          </a:xfrm>
          <a:prstGeom prst="ellipse">
            <a:avLst/>
          </a:prstGeom>
          <a:solidFill>
            <a:srgbClr val="3269B4"/>
          </a:solidFill>
          <a:ln>
            <a:solidFill>
              <a:srgbClr val="3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 flipV="1">
            <a:off x="6400800" y="1965960"/>
            <a:ext cx="2926080" cy="1874520"/>
          </a:xfrm>
          <a:prstGeom prst="line">
            <a:avLst/>
          </a:prstGeom>
          <a:ln w="38100">
            <a:solidFill>
              <a:srgbClr val="DC8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1645920"/>
            <a:ext cx="2423160" cy="2560320"/>
          </a:xfrm>
          <a:prstGeom prst="line">
            <a:avLst/>
          </a:prstGeom>
          <a:ln w="25400">
            <a:solidFill>
              <a:srgbClr val="32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0" y="4572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646E"/>
                </a:solidFill>
                <a:latin typeface="Calibri"/>
              </a:rPr>
              <a:t>New axes = principal components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5074920"/>
            <a:ext cx="9601200" cy="640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94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B94B3C"/>
                </a:solidFill>
                <a:latin typeface="Calibri"/>
              </a:rPr>
              <a:t>Important: PCA suggests patterns, but does not directly give physically constrained source contributions.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C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578369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FFFFFF"/>
                </a:solidFill>
                <a:latin typeface="Aptos"/>
              </a:rPr>
              <a:t>8</a:t>
            </a:r>
            <a:r>
              <a:rPr sz="2600" b="1" dirty="0">
                <a:solidFill>
                  <a:srgbClr val="FFFFFF"/>
                </a:solidFill>
                <a:latin typeface="Aptos"/>
              </a:rPr>
              <a:t>. CMB: what it says and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36D"/>
                </a:solidFill>
                <a:latin typeface="Aptos"/>
              </a:rPr>
              <a:t>Chemical Mass Balance estimates source contributions when source profiles are already known.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565392"/>
            <a:ext cx="11551615" cy="18288"/>
          </a:xfrm>
          <a:prstGeom prst="rect">
            <a:avLst/>
          </a:prstGeom>
          <a:solidFill>
            <a:srgbClr val="EA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CMB uses the measured ambient composition together with known source profiles collected from emission sources or from the literature.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The model solves a weighted mass-balance equation to estimate the contribution of each source to each sample.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CMB is powerful when the relevant source list is known and representative source profiles are available.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It becomes difficult when source profiles are missing, mixed, or highly collinear.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1737360" cy="914400"/>
          </a:xfrm>
          <a:prstGeom prst="roundRect">
            <a:avLst/>
          </a:prstGeom>
          <a:solidFill>
            <a:srgbClr val="FFF4D6"/>
          </a:solidFill>
          <a:ln w="16510">
            <a:solidFill>
              <a:srgbClr val="D37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32A34"/>
                </a:solidFill>
                <a:latin typeface="Aptos"/>
              </a:rPr>
              <a:t>Known source
profiles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788920"/>
            <a:ext cx="1737360" cy="914400"/>
          </a:xfrm>
          <a:prstGeom prst="roundRect">
            <a:avLst/>
          </a:prstGeom>
          <a:solidFill>
            <a:srgbClr val="DFECFC"/>
          </a:solidFill>
          <a:ln w="16510">
            <a:solidFill>
              <a:srgbClr val="376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32A34"/>
                </a:solidFill>
                <a:latin typeface="Aptos"/>
              </a:rPr>
              <a:t>Ambient
composition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183879" y="2011680"/>
            <a:ext cx="868681" cy="0"/>
          </a:xfrm>
          <a:prstGeom prst="line">
            <a:avLst/>
          </a:prstGeom>
          <a:ln w="31750">
            <a:solidFill>
              <a:srgbClr val="468C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83879" y="3246120"/>
            <a:ext cx="868681" cy="0"/>
          </a:xfrm>
          <a:prstGeom prst="line">
            <a:avLst/>
          </a:prstGeom>
          <a:ln w="31750">
            <a:solidFill>
              <a:srgbClr val="468C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098280" y="2148840"/>
            <a:ext cx="1920240" cy="1097280"/>
          </a:xfrm>
          <a:prstGeom prst="roundRect">
            <a:avLst/>
          </a:prstGeom>
          <a:solidFill>
            <a:srgbClr val="E1F5EB"/>
          </a:solidFill>
          <a:ln w="16510"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32A34"/>
                </a:solidFill>
                <a:latin typeface="Aptos"/>
              </a:rPr>
              <a:t>CMB solver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18520" y="2697480"/>
            <a:ext cx="594360" cy="0"/>
          </a:xfrm>
          <a:prstGeom prst="line">
            <a:avLst/>
          </a:prstGeom>
          <a:ln w="31750">
            <a:solidFill>
              <a:srgbClr val="468C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241280" y="3977639"/>
            <a:ext cx="1097280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32A34"/>
                </a:solidFill>
                <a:latin typeface="Aptos"/>
              </a:rPr>
              <a:t>Source
contributions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4892040"/>
            <a:ext cx="2011680" cy="777240"/>
          </a:xfrm>
          <a:prstGeom prst="roundRect">
            <a:avLst/>
          </a:prstGeom>
          <a:solidFill>
            <a:srgbClr val="E5F5EB"/>
          </a:solidFill>
          <a:ln w="16510"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32A34"/>
                </a:solidFill>
                <a:latin typeface="Aptos"/>
              </a:rPr>
              <a:t>Good for
well-characterized areas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4892040"/>
            <a:ext cx="2240280" cy="777240"/>
          </a:xfrm>
          <a:prstGeom prst="roundRect">
            <a:avLst/>
          </a:prstGeom>
          <a:solidFill>
            <a:srgbClr val="FCE9E6"/>
          </a:solidFill>
          <a:ln w="16510">
            <a:solidFill>
              <a:srgbClr val="B04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32A34"/>
                </a:solidFill>
                <a:latin typeface="Aptos"/>
              </a:rPr>
              <a:t>Needs
reliable source profiles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C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572278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FFFFFF"/>
                </a:solidFill>
                <a:latin typeface="Aptos"/>
              </a:rPr>
              <a:t>9</a:t>
            </a:r>
            <a:r>
              <a:rPr sz="2600" b="1" dirty="0">
                <a:solidFill>
                  <a:srgbClr val="FFFFFF"/>
                </a:solidFill>
                <a:latin typeface="Aptos"/>
              </a:rPr>
              <a:t>. PMF: what it says and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36D"/>
                </a:solidFill>
                <a:latin typeface="Aptos"/>
              </a:rPr>
              <a:t>Positive Matrix Factorization derives both source profiles and source contributions from the ambient dataset.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565392"/>
            <a:ext cx="11551615" cy="18288"/>
          </a:xfrm>
          <a:prstGeom prst="rect">
            <a:avLst/>
          </a:prstGeom>
          <a:solidFill>
            <a:srgbClr val="EA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PMF solves X = GF + E by minimizing a weighted objective function, usually written as Q = Σ(eij / uij)².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Each data point is weighted by its uncertainty, and non-negativity constraints are imposed on source profiles and contributions.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Unlike CMB, PMF does not require complete source profiles a priori.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The analyst still needs to choose the number of factors and interpret the resulting profiles, contributions, and diagnostics.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1737360" cy="1417320"/>
          </a:xfrm>
          <a:prstGeom prst="roundRect">
            <a:avLst/>
          </a:prstGeom>
          <a:solidFill>
            <a:srgbClr val="DFECFC"/>
          </a:solidFill>
          <a:ln w="16510">
            <a:solidFill>
              <a:srgbClr val="376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232A34"/>
                </a:solidFill>
                <a:latin typeface="Aptos"/>
              </a:rPr>
              <a:t>X
measured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C3F6C"/>
                </a:solidFill>
                <a:latin typeface="Aptos"/>
              </a:rPr>
              <a:t>=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463040"/>
            <a:ext cx="1371600" cy="1417320"/>
          </a:xfrm>
          <a:prstGeom prst="roundRect">
            <a:avLst/>
          </a:prstGeom>
          <a:solidFill>
            <a:srgbClr val="E1F5EB"/>
          </a:solidFill>
          <a:ln w="16510"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232A34"/>
                </a:solidFill>
                <a:latin typeface="Aptos"/>
              </a:rPr>
              <a:t>G
contrib.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C3F6C"/>
                </a:solidFill>
                <a:latin typeface="Aptos"/>
              </a:rPr>
              <a:t>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24160" y="1463040"/>
            <a:ext cx="1371600" cy="1417320"/>
          </a:xfrm>
          <a:prstGeom prst="roundRect">
            <a:avLst/>
          </a:prstGeom>
          <a:solidFill>
            <a:srgbClr val="FFF4D6"/>
          </a:solidFill>
          <a:ln w="16510">
            <a:solidFill>
              <a:srgbClr val="D37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232A34"/>
                </a:solidFill>
                <a:latin typeface="Aptos"/>
              </a:rPr>
              <a:t>F
profiles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1546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32A34"/>
                </a:solidFill>
                <a:latin typeface="Aptos"/>
              </a:rPr>
              <a:t>Weighted least squares + non-negativity + uncertainty information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160520"/>
            <a:ext cx="2377440" cy="923544"/>
          </a:xfrm>
          <a:prstGeom prst="roundRect">
            <a:avLst/>
          </a:prstGeom>
          <a:solidFill>
            <a:srgbClr val="E5F5EB"/>
          </a:solidFill>
          <a:ln w="16510"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232A34"/>
                </a:solidFill>
                <a:latin typeface="Aptos"/>
              </a:rPr>
              <a:t>Strengths
widely used, handles uncertainty, no full prior profiles required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4160520"/>
            <a:ext cx="2651760" cy="941832"/>
          </a:xfrm>
          <a:prstGeom prst="roundRect">
            <a:avLst/>
          </a:prstGeom>
          <a:solidFill>
            <a:srgbClr val="FCE9E6"/>
          </a:solidFill>
          <a:ln w="16510">
            <a:solidFill>
              <a:srgbClr val="B04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232A34"/>
                </a:solidFill>
                <a:latin typeface="Aptos"/>
              </a:rPr>
              <a:t>Limitations
rotational ambiguity, factor mixing, interpretation remains partly subjective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C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618284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FFFFFF"/>
                </a:solidFill>
                <a:latin typeface="Aptos"/>
              </a:rPr>
              <a:t>10</a:t>
            </a:r>
            <a:r>
              <a:rPr sz="2600" b="1" dirty="0">
                <a:solidFill>
                  <a:srgbClr val="FFFFFF"/>
                </a:solidFill>
                <a:latin typeface="Aptos"/>
              </a:rPr>
              <a:t>. PCA, CMB, and PMF: key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36D"/>
                </a:solidFill>
                <a:latin typeface="Aptos"/>
              </a:rPr>
              <a:t>A compact comparison of the three conventional techniques.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565392"/>
            <a:ext cx="11551615" cy="18288"/>
          </a:xfrm>
          <a:prstGeom prst="rect">
            <a:avLst/>
          </a:prstGeom>
          <a:solidFill>
            <a:srgbClr val="EA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02870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04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Criterion</a:t>
                      </a:r>
                    </a:p>
                  </a:txBody>
                  <a:tcPr marL="50800" marR="50800" marT="38100" marB="38100">
                    <a:solidFill>
                      <a:srgbClr val="1C3F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PCA</a:t>
                      </a:r>
                    </a:p>
                  </a:txBody>
                  <a:tcPr marL="50800" marR="50800" marT="38100" marB="38100">
                    <a:solidFill>
                      <a:srgbClr val="1C3F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CMB</a:t>
                      </a:r>
                    </a:p>
                  </a:txBody>
                  <a:tcPr marL="50800" marR="50800" marT="38100" marB="38100">
                    <a:solidFill>
                      <a:srgbClr val="1C3F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PMF</a:t>
                      </a:r>
                    </a:p>
                  </a:txBody>
                  <a:tcPr marL="50800" marR="50800" marT="38100" marB="38100">
                    <a:solidFill>
                      <a:srgbClr val="1C3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Main purpose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Explore patterns / components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Quantify contributions using known profiles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Resolve factors and contributions from ambient data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Need source profiles?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Yes – essential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Not full profiles; can use constraints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Uses uncertainties?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Usually no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Yes – central to the method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Negative values possible?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Possible depending on solution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No, non-negative factors/contributions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Main strength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Fast exploratory overview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Direct quantitative apportionment when profiles are known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Flexible and widely applicable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49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Main limitation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Interpretation can be ambiguous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Depends on accurate source profiles and source list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Needs careful diagnostics and factor interpretation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85216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A636D"/>
                </a:solidFill>
                <a:latin typeface="Aptos"/>
              </a:rPr>
              <a:t>In practice, PCA is often exploratory, CMB is profile-driven, and PMF is the most commonly used unconstrained receptor model for conventional PM source apportionment.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C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680122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FFFFFF"/>
                </a:solidFill>
                <a:latin typeface="Aptos"/>
              </a:rPr>
              <a:t>11</a:t>
            </a:r>
            <a:r>
              <a:rPr sz="2600" b="1" dirty="0">
                <a:solidFill>
                  <a:srgbClr val="FFFFFF"/>
                </a:solidFill>
                <a:latin typeface="Aptos"/>
              </a:rPr>
              <a:t>. A practical workflow for conventional 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36D"/>
                </a:solidFill>
                <a:latin typeface="Aptos"/>
              </a:rPr>
              <a:t>Typical steps from study design to interpretation.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565392"/>
            <a:ext cx="11551615" cy="18288"/>
          </a:xfrm>
          <a:prstGeom prst="rect">
            <a:avLst/>
          </a:prstGeom>
          <a:solidFill>
            <a:srgbClr val="EA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815084"/>
            <a:ext cx="1828800" cy="1417321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76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232A34"/>
                </a:solidFill>
                <a:latin typeface="Aptos"/>
              </a:rPr>
              <a:t>1. Study design
Select site(s), species, and sampling frequency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1920240"/>
            <a:ext cx="1828800" cy="12801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32A34"/>
                </a:solidFill>
                <a:latin typeface="Aptos"/>
              </a:rPr>
              <a:t>2. Measure
Collect PM mass and chemical composition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1920240"/>
            <a:ext cx="1828800" cy="135331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37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232A34"/>
                </a:solidFill>
                <a:latin typeface="Aptos"/>
              </a:rPr>
              <a:t>3. Prepare data
QA/QC, uncertainties, missing and BDL values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920240"/>
            <a:ext cx="1828800" cy="12801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C7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32A34"/>
                </a:solidFill>
                <a:latin typeface="Aptos"/>
              </a:rPr>
              <a:t>4. Run model
PCA / CMB / PMF / ME-2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920240"/>
            <a:ext cx="1828800" cy="12801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04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32A34"/>
                </a:solidFill>
                <a:latin typeface="Aptos"/>
              </a:rPr>
              <a:t>5. Interpret
Assign sources and check diagnostics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77440" y="2560320"/>
            <a:ext cx="320040" cy="0"/>
          </a:xfrm>
          <a:prstGeom prst="line">
            <a:avLst/>
          </a:prstGeom>
          <a:ln w="31750">
            <a:solidFill>
              <a:srgbClr val="376E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26280" y="2560320"/>
            <a:ext cx="274320" cy="0"/>
          </a:xfrm>
          <a:prstGeom prst="line">
            <a:avLst/>
          </a:prstGeom>
          <a:ln w="31750">
            <a:solidFill>
              <a:srgbClr val="468C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29400" y="2560320"/>
            <a:ext cx="320040" cy="0"/>
          </a:xfrm>
          <a:prstGeom prst="line">
            <a:avLst/>
          </a:prstGeom>
          <a:ln w="31750">
            <a:solidFill>
              <a:srgbClr val="D37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2560320"/>
            <a:ext cx="320040" cy="0"/>
          </a:xfrm>
          <a:prstGeom prst="line">
            <a:avLst/>
          </a:prstGeom>
          <a:ln w="31750">
            <a:solidFill>
              <a:srgbClr val="2C7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388620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Good SA begins before modeling: species selection, temporal coverage, and uncertainty estimation strongly affect the final solution.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The final interpretation should be supported by time series, tracer species, wind/trajectory analysis, and knowledge of local emissions.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C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794364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ptos"/>
              </a:rPr>
              <a:t>1</a:t>
            </a:r>
            <a:r>
              <a:rPr lang="en-US" sz="2600" b="1" dirty="0">
                <a:solidFill>
                  <a:srgbClr val="FFFFFF"/>
                </a:solidFill>
                <a:latin typeface="Aptos"/>
              </a:rPr>
              <a:t>2</a:t>
            </a:r>
            <a:r>
              <a:rPr sz="2600" b="1" dirty="0">
                <a:solidFill>
                  <a:srgbClr val="FFFFFF"/>
                </a:solidFill>
                <a:latin typeface="Aptos"/>
              </a:rPr>
              <a:t>. What data quality and diagnostics matter most?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36D"/>
                </a:solidFill>
                <a:latin typeface="Aptos"/>
              </a:rPr>
              <a:t>Conventional SA is only as good as the input data and the interpretation strategy.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565392"/>
            <a:ext cx="11551615" cy="18288"/>
          </a:xfrm>
          <a:prstGeom prst="rect">
            <a:avLst/>
          </a:prstGeom>
          <a:solidFill>
            <a:srgbClr val="EA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Species selection: choose variables that are informative, stable, and above detection limits often enough.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Uncertainties: estimate them carefully; PMF and CMB explicitly depend on them.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Missing and below-detection-limit values must be treated consistently.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Temporal coverage: enough samples are needed to represent source variability.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External validation: wind direction, trajectories, day-of-week patterns, and independent tracers help validate the solution.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63040"/>
            <a:ext cx="475488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76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32A34"/>
                </a:solidFill>
                <a:latin typeface="Aptos"/>
              </a:rPr>
              <a:t>Before modeling
scatter plots, time series, ion balance, correlations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788920"/>
            <a:ext cx="475488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37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32A34"/>
                </a:solidFill>
                <a:latin typeface="Aptos"/>
              </a:rPr>
              <a:t>During modeling
Q values, residuals, factor stability, bootstrap / displacement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114800"/>
            <a:ext cx="475488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32A34"/>
                </a:solidFill>
                <a:latin typeface="Aptos"/>
              </a:rPr>
              <a:t>After modeling
source tracers, expected ratios, seasonality, external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54864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636D"/>
                </a:solidFill>
                <a:latin typeface="Aptos"/>
              </a:rPr>
              <a:t>Especially for PMF, factor assignment is usually the most subjective step.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C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48770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ptos"/>
              </a:rPr>
              <a:t>1</a:t>
            </a:r>
            <a:r>
              <a:rPr lang="en-US" sz="2600" b="1" dirty="0">
                <a:solidFill>
                  <a:srgbClr val="FFFFFF"/>
                </a:solidFill>
                <a:latin typeface="Aptos"/>
              </a:rPr>
              <a:t>3</a:t>
            </a:r>
            <a:r>
              <a:rPr sz="2600" b="1" dirty="0">
                <a:solidFill>
                  <a:srgbClr val="FFFFFF"/>
                </a:solidFill>
                <a:latin typeface="Aptos"/>
              </a:rPr>
              <a:t>. Why move toward real-time source apportionment?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36D"/>
                </a:solidFill>
                <a:latin typeface="Aptos"/>
              </a:rPr>
              <a:t>Online measurements overcome the latency of offline analysis and reveal fast temporal dynamics.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565392"/>
            <a:ext cx="11551615" cy="18288"/>
          </a:xfrm>
          <a:prstGeom prst="rect">
            <a:avLst/>
          </a:prstGeom>
          <a:solidFill>
            <a:srgbClr val="EA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Traditional offline SA provides valuable results, but often only after sampling, laboratory analysis, and repeated model runs.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Online measurements enable high-time-resolution composition data, which reveal diurnal cycles, short-lived events, and rapid source changes.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Real-time SA can provide updated source contributions within minutes to hours after measurement, supporting faster interpretation and action.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This is especially useful for episodic events such as traffic peaks, dust intrusions, solid-fuel combustion, and industrial plumes.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280160"/>
            <a:ext cx="2834640" cy="384048"/>
          </a:xfrm>
          <a:prstGeom prst="roundRect">
            <a:avLst/>
          </a:prstGeom>
          <a:solidFill>
            <a:srgbClr val="DFECFC"/>
          </a:solidFill>
          <a:ln>
            <a:solidFill>
              <a:srgbClr val="376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C3F6C"/>
                </a:solidFill>
                <a:latin typeface="Aptos"/>
              </a:rPr>
              <a:t>Latency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3F6C"/>
                </a:solidFill>
                <a:latin typeface="Aptos"/>
              </a:rPr>
              <a:t>Offline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737360"/>
            <a:ext cx="82296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76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32A34"/>
                </a:solidFill>
                <a:latin typeface="Aptos"/>
              </a:rPr>
              <a:t>Sample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737360"/>
            <a:ext cx="82296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76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32A34"/>
                </a:solidFill>
                <a:latin typeface="Aptos"/>
              </a:rPr>
              <a:t>Lab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737360"/>
            <a:ext cx="82296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76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32A34"/>
                </a:solidFill>
                <a:latin typeface="Aptos"/>
              </a:rPr>
              <a:t>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0" y="1737360"/>
            <a:ext cx="82296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76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32A34"/>
                </a:solidFill>
                <a:latin typeface="Aptos"/>
              </a:rPr>
              <a:t>Result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38160" y="1993392"/>
            <a:ext cx="137160" cy="0"/>
          </a:xfrm>
          <a:prstGeom prst="line">
            <a:avLst/>
          </a:prstGeom>
          <a:ln w="31750">
            <a:solidFill>
              <a:srgbClr val="376E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098280" y="1993392"/>
            <a:ext cx="137160" cy="0"/>
          </a:xfrm>
          <a:prstGeom prst="line">
            <a:avLst/>
          </a:prstGeom>
          <a:ln w="31750">
            <a:solidFill>
              <a:srgbClr val="376E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058400" y="1993392"/>
            <a:ext cx="228600" cy="0"/>
          </a:xfrm>
          <a:prstGeom prst="line">
            <a:avLst/>
          </a:prstGeom>
          <a:ln w="31750">
            <a:solidFill>
              <a:srgbClr val="376E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0" y="23317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A636D"/>
                </a:solidFill>
                <a:latin typeface="Aptos"/>
              </a:rPr>
              <a:t>days to weeks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246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32A34"/>
                </a:solidFill>
                <a:latin typeface="Aptos"/>
              </a:rPr>
              <a:t>Real-time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3154680"/>
            <a:ext cx="86868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32A34"/>
                </a:solidFill>
                <a:latin typeface="Aptos"/>
              </a:rPr>
              <a:t>Measure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3154680"/>
            <a:ext cx="86868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32A34"/>
                </a:solidFill>
                <a:latin typeface="Aptos"/>
              </a:rPr>
              <a:t>Auto-QC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3154680"/>
            <a:ext cx="86868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32A34"/>
                </a:solidFill>
                <a:latin typeface="Aptos"/>
              </a:rPr>
              <a:t>Auto-SA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0" y="3154680"/>
            <a:ext cx="86868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32A34"/>
                </a:solidFill>
                <a:latin typeface="Aptos"/>
              </a:rPr>
              <a:t>Update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183879" y="3410712"/>
            <a:ext cx="228601" cy="0"/>
          </a:xfrm>
          <a:prstGeom prst="line">
            <a:avLst/>
          </a:prstGeom>
          <a:ln w="31750">
            <a:solidFill>
              <a:srgbClr val="468C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81160" y="3410712"/>
            <a:ext cx="182880" cy="0"/>
          </a:xfrm>
          <a:prstGeom prst="line">
            <a:avLst/>
          </a:prstGeom>
          <a:ln w="31750">
            <a:solidFill>
              <a:srgbClr val="468C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32720" y="3410712"/>
            <a:ext cx="182880" cy="0"/>
          </a:xfrm>
          <a:prstGeom prst="line">
            <a:avLst/>
          </a:prstGeom>
          <a:ln w="31750">
            <a:solidFill>
              <a:srgbClr val="468C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406640" y="3749039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A636D"/>
                </a:solidFill>
                <a:latin typeface="Aptos"/>
              </a:rPr>
              <a:t>minutes to hours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663440"/>
            <a:ext cx="4709160" cy="868680"/>
          </a:xfrm>
          <a:prstGeom prst="roundRect">
            <a:avLst/>
          </a:prstGeom>
          <a:solidFill>
            <a:srgbClr val="FCE9E6"/>
          </a:solidFill>
          <a:ln w="16510">
            <a:solidFill>
              <a:srgbClr val="B04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32A34"/>
                </a:solidFill>
                <a:latin typeface="Aptos"/>
              </a:rPr>
              <a:t>Important caveat
Real-time systems usually depend on prior optimization and robust quality control.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C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62246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ptos"/>
              </a:rPr>
              <a:t>1</a:t>
            </a:r>
            <a:r>
              <a:rPr lang="en-US" sz="2600" b="1" dirty="0">
                <a:solidFill>
                  <a:srgbClr val="FFFFFF"/>
                </a:solidFill>
                <a:latin typeface="Aptos"/>
              </a:rPr>
              <a:t>4</a:t>
            </a:r>
            <a:r>
              <a:rPr sz="2600" b="1" dirty="0">
                <a:solidFill>
                  <a:srgbClr val="FFFFFF"/>
                </a:solidFill>
                <a:latin typeface="Aptos"/>
              </a:rPr>
              <a:t>. The instruments behind real-time 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36D"/>
                </a:solidFill>
                <a:latin typeface="Aptos"/>
              </a:rPr>
              <a:t>No single instrument measures all PM components, so multi-instrument setups are used.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565392"/>
            <a:ext cx="11551615" cy="18288"/>
          </a:xfrm>
          <a:prstGeom prst="rect">
            <a:avLst/>
          </a:prstGeom>
          <a:solidFill>
            <a:srgbClr val="EA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2194560" cy="1005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76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32A34"/>
                </a:solidFill>
                <a:latin typeface="Aptos"/>
              </a:rPr>
              <a:t>ACSM
organics + major inorganic 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834640"/>
            <a:ext cx="2194560" cy="1005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37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32A34"/>
                </a:solidFill>
                <a:latin typeface="Aptos"/>
              </a:rPr>
              <a:t>Xact / XRF
trace elements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206240"/>
            <a:ext cx="2194560" cy="1005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32A34"/>
                </a:solidFill>
                <a:latin typeface="Aptos"/>
              </a:rPr>
              <a:t>Aethalometer
black carbon and BC source indicators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34640" y="1965960"/>
            <a:ext cx="1051560" cy="1097280"/>
          </a:xfrm>
          <a:prstGeom prst="line">
            <a:avLst/>
          </a:prstGeom>
          <a:ln w="31750">
            <a:solidFill>
              <a:srgbClr val="2C7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834640" y="3063240"/>
            <a:ext cx="1051560" cy="274320"/>
          </a:xfrm>
          <a:prstGeom prst="line">
            <a:avLst/>
          </a:prstGeom>
          <a:ln w="31750">
            <a:solidFill>
              <a:srgbClr val="2C7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834640" y="3063240"/>
            <a:ext cx="1051560" cy="1645920"/>
          </a:xfrm>
          <a:prstGeom prst="line">
            <a:avLst/>
          </a:prstGeom>
          <a:ln w="31750">
            <a:solidFill>
              <a:srgbClr val="2C7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977639" y="2331719"/>
            <a:ext cx="2743200" cy="1645915"/>
          </a:xfrm>
          <a:prstGeom prst="roundRect">
            <a:avLst/>
          </a:prstGeom>
          <a:solidFill>
            <a:srgbClr val="E1F5EB"/>
          </a:solidFill>
          <a:ln w="16510">
            <a:solidFill>
              <a:srgbClr val="2C7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 dirty="0">
                <a:solidFill>
                  <a:srgbClr val="232A34"/>
                </a:solidFill>
                <a:latin typeface="Aptos"/>
              </a:rPr>
              <a:t>AXA setup
complementary, high-time-resolution input data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12280" y="3063240"/>
            <a:ext cx="1005840" cy="0"/>
          </a:xfrm>
          <a:prstGeom prst="line">
            <a:avLst/>
          </a:prstGeom>
          <a:ln w="31750">
            <a:solidFill>
              <a:srgbClr val="2C7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55279" y="2240280"/>
            <a:ext cx="3200400" cy="1645920"/>
          </a:xfrm>
          <a:prstGeom prst="roundRect">
            <a:avLst/>
          </a:prstGeom>
          <a:solidFill>
            <a:srgbClr val="DFECFC"/>
          </a:solidFill>
          <a:ln w="16510">
            <a:solidFill>
              <a:srgbClr val="376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1C3F6C"/>
                </a:solidFill>
                <a:latin typeface="Aptos"/>
              </a:rPr>
              <a:t>Real-time SA software
pre-processing + instrument-specific SA + combined source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32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A636D"/>
                </a:solidFill>
                <a:latin typeface="Aptos"/>
              </a:rPr>
              <a:t>The ACSM–Xact–Aethalometer (AXA) setup is highlighted in the uploaded EAC 2025 and AMT 2025 materials as a practical framework for near-real-time SA.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C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791364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ptos"/>
              </a:rPr>
              <a:t>1</a:t>
            </a:r>
            <a:r>
              <a:rPr lang="en-US" sz="2600" b="1" dirty="0">
                <a:solidFill>
                  <a:srgbClr val="FFFFFF"/>
                </a:solidFill>
                <a:latin typeface="Aptos"/>
              </a:rPr>
              <a:t>5</a:t>
            </a:r>
            <a:r>
              <a:rPr sz="2600" b="1" dirty="0">
                <a:solidFill>
                  <a:srgbClr val="FFFFFF"/>
                </a:solidFill>
                <a:latin typeface="Aptos"/>
              </a:rPr>
              <a:t>. How can real-time source apportionment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36D"/>
                </a:solidFill>
                <a:latin typeface="Aptos"/>
              </a:rPr>
              <a:t>A practical implementation often follows a three-step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565392"/>
            <a:ext cx="11551615" cy="18288"/>
          </a:xfrm>
          <a:prstGeom prst="rect">
            <a:avLst/>
          </a:prstGeom>
          <a:solidFill>
            <a:srgbClr val="EA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755649"/>
            <a:ext cx="2743200" cy="2130551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76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dirty="0">
                <a:solidFill>
                  <a:srgbClr val="232A34"/>
                </a:solidFill>
                <a:latin typeface="Aptos"/>
              </a:rPr>
              <a:t>Step 1
Measure and process
Online instruments provide composition data and standard processed concentrations.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581912"/>
            <a:ext cx="2743200" cy="24414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dirty="0">
                <a:solidFill>
                  <a:srgbClr val="232A34"/>
                </a:solidFill>
                <a:latin typeface="Aptos"/>
              </a:rPr>
              <a:t>Step 2
Instrument-specific SA
Separate automated models estimate source contributions from organics, elements, and black carbon.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828800"/>
            <a:ext cx="2743200" cy="2057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37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32A34"/>
                </a:solidFill>
                <a:latin typeface="Aptos"/>
              </a:rPr>
              <a:t>Step 3
Recombine results
Outputs are merged into complete PM source contributions and updated continuously.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74720" y="2834640"/>
            <a:ext cx="594360" cy="0"/>
          </a:xfrm>
          <a:prstGeom prst="line">
            <a:avLst/>
          </a:prstGeom>
          <a:ln w="38100">
            <a:solidFill>
              <a:srgbClr val="376E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2834640"/>
            <a:ext cx="594360" cy="0"/>
          </a:xfrm>
          <a:prstGeom prst="line">
            <a:avLst/>
          </a:prstGeom>
          <a:ln w="38100">
            <a:solidFill>
              <a:srgbClr val="468C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4434840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In practice, the model parameters are usually initialized from optimized offline / supervised SA runs and then applied automatically to incoming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C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43269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ptos"/>
              </a:rPr>
              <a:t>1</a:t>
            </a:r>
            <a:r>
              <a:rPr lang="en-US" sz="2600" b="1" dirty="0">
                <a:solidFill>
                  <a:srgbClr val="FFFFFF"/>
                </a:solidFill>
                <a:latin typeface="Aptos"/>
              </a:rPr>
              <a:t>6</a:t>
            </a:r>
            <a:r>
              <a:rPr sz="2600" b="1" dirty="0">
                <a:solidFill>
                  <a:srgbClr val="FFFFFF"/>
                </a:solidFill>
                <a:latin typeface="Aptos"/>
              </a:rPr>
              <a:t>. Real-time model logic and implementation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36D"/>
                </a:solidFill>
                <a:latin typeface="Aptos"/>
              </a:rPr>
              <a:t>Automation is possible, but the model still needs carefully defined rules.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565392"/>
            <a:ext cx="11551615" cy="18288"/>
          </a:xfrm>
          <a:prstGeom prst="rect">
            <a:avLst/>
          </a:prstGeom>
          <a:solidFill>
            <a:srgbClr val="EA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Real-time SA often uses constrained or semi-constrained models so that known source profiles remain stable.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Moving-window implementations can allow the latest data to be assimilated while preserving model robustness.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Instrument-specific source profiles may be combined after separate real-time runs, or hybrid strategies can be used.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Automatic QA/QC, backups, and alerting are important because the system runs continuously.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91640"/>
            <a:ext cx="457200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76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32A34"/>
                </a:solidFill>
                <a:latin typeface="Aptos"/>
              </a:rPr>
              <a:t>Inputs: hourly/sub-hourly data, uncertainty estimates, QC flags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926080"/>
            <a:ext cx="457200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37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32A34"/>
                </a:solidFill>
                <a:latin typeface="Aptos"/>
              </a:rPr>
              <a:t>Model engine: PMF / ME-2 / constrained real-time routines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4160520"/>
            <a:ext cx="457200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32A34"/>
                </a:solidFill>
                <a:latin typeface="Aptos"/>
              </a:rPr>
              <a:t>Outputs: updated source time series, dashboards, 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5440680"/>
            <a:ext cx="4526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636D"/>
                </a:solidFill>
                <a:latin typeface="Aptos"/>
              </a:rPr>
              <a:t>Key idea: conventional SA is used to optimize the configuration; real-time SA then applies it automatically.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C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710309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ptos"/>
              </a:rPr>
              <a:t>1</a:t>
            </a:r>
            <a:r>
              <a:rPr lang="en-US" sz="2600" b="1" dirty="0">
                <a:solidFill>
                  <a:srgbClr val="FFFFFF"/>
                </a:solidFill>
                <a:latin typeface="Aptos"/>
              </a:rPr>
              <a:t>7</a:t>
            </a:r>
            <a:r>
              <a:rPr sz="2600" b="1" dirty="0">
                <a:solidFill>
                  <a:srgbClr val="FFFFFF"/>
                </a:solidFill>
                <a:latin typeface="Aptos"/>
              </a:rPr>
              <a:t>. What does real-time SA add scientifically?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36D"/>
                </a:solidFill>
                <a:latin typeface="Aptos"/>
              </a:rPr>
              <a:t>Beyond speed, it improves insight into source dynamics and short-lived events.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565392"/>
            <a:ext cx="11551615" cy="18288"/>
          </a:xfrm>
          <a:prstGeom prst="rect">
            <a:avLst/>
          </a:prstGeom>
          <a:solidFill>
            <a:srgbClr val="EA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Diurnal source patterns become much clearer than in daily offline datasets.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Specific episodes (dust storms, traffic rush hours, fireworks, solid-fuel peaks, industrial plumes) can be isolated in time.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The approach supports operational air-quality management because source-resolved information becomes available quickly.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Recent case studies show strong agreement between real-time results and optimized reference SA when the system is properly configured.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4846320" cy="1005840"/>
          </a:xfrm>
          <a:prstGeom prst="roundRect">
            <a:avLst/>
          </a:prstGeom>
          <a:solidFill>
            <a:srgbClr val="DFECFC"/>
          </a:solidFill>
          <a:ln w="16510">
            <a:solidFill>
              <a:srgbClr val="376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1C3F6C"/>
                </a:solidFill>
                <a:latin typeface="Aptos"/>
              </a:rPr>
              <a:t>Examples highlighted in the uploaded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697480"/>
            <a:ext cx="4572000" cy="3328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rPr dirty="0"/>
              <a:t>Athens case study: first implementation of the AXA setup with SoFi RT</a:t>
            </a:r>
            <a:r>
              <a:rPr lang="en-US" dirty="0"/>
              <a:t> </a:t>
            </a:r>
            <a:r>
              <a:rPr lang="en-US" sz="1600" dirty="0">
                <a:hlinkClick r:id="rId2"/>
              </a:rPr>
              <a:t>https://doi.org/10.5194/amt-18-3983-2025</a:t>
            </a:r>
            <a:endParaRPr lang="en-US" sz="1600" dirty="0"/>
          </a:p>
          <a:p>
            <a:pPr>
              <a:lnSpc>
                <a:spcPct val="108000"/>
              </a:lnSpc>
              <a:spcAft>
                <a:spcPts val="500"/>
              </a:spcAft>
              <a:defRPr sz="1600">
                <a:solidFill>
                  <a:srgbClr val="232A34"/>
                </a:solidFill>
                <a:latin typeface="Aptos"/>
              </a:defRPr>
            </a:pP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rPr dirty="0"/>
              <a:t>Six Chinese cities: strong correlation between near-real-time and optimized source apportionment results</a:t>
            </a:r>
            <a:endParaRPr lang="en-US" dirty="0"/>
          </a:p>
          <a:p>
            <a:pPr>
              <a:lnSpc>
                <a:spcPct val="108000"/>
              </a:lnSpc>
              <a:spcAft>
                <a:spcPts val="5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rPr lang="en-US" sz="1600" dirty="0"/>
              <a:t>https://doi.org/10.1038/s41598-026-38154-x 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600">
                <a:solidFill>
                  <a:srgbClr val="232A34"/>
                </a:solidFill>
                <a:latin typeface="Aptos"/>
              </a:defRPr>
            </a:pP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rPr dirty="0"/>
              <a:t>Applications emphasize urban air-quality management and timely mitigation.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C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009577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ptos"/>
              </a:rPr>
              <a:t>1</a:t>
            </a:r>
            <a:r>
              <a:rPr lang="en-US" sz="2600" b="1" dirty="0">
                <a:solidFill>
                  <a:srgbClr val="FFFFFF"/>
                </a:solidFill>
                <a:latin typeface="Aptos"/>
              </a:rPr>
              <a:t>8</a:t>
            </a:r>
            <a:r>
              <a:rPr sz="2600" b="1" dirty="0">
                <a:solidFill>
                  <a:srgbClr val="FFFFFF"/>
                </a:solidFill>
                <a:latin typeface="Aptos"/>
              </a:rPr>
              <a:t>. Conventional versus real-time SA: when should each be used?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36D"/>
                </a:solidFill>
                <a:latin typeface="Aptos"/>
              </a:rPr>
              <a:t>The best strategy is often to combine them rather than treat them as competitors.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565392"/>
            <a:ext cx="11551615" cy="18288"/>
          </a:xfrm>
          <a:prstGeom prst="rect">
            <a:avLst/>
          </a:prstGeom>
          <a:solidFill>
            <a:srgbClr val="EA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08760"/>
          <a:ext cx="10698478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Question</a:t>
                      </a:r>
                    </a:p>
                  </a:txBody>
                  <a:tcPr marL="50800" marR="50800" marT="38100" marB="38100">
                    <a:solidFill>
                      <a:srgbClr val="1C3F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Conventional SA</a:t>
                      </a:r>
                    </a:p>
                  </a:txBody>
                  <a:tcPr marL="50800" marR="50800" marT="38100" marB="38100">
                    <a:solidFill>
                      <a:srgbClr val="1C3F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Real-time SA</a:t>
                      </a:r>
                    </a:p>
                  </a:txBody>
                  <a:tcPr marL="50800" marR="50800" marT="38100" marB="38100">
                    <a:solidFill>
                      <a:srgbClr val="1C3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Best for...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robust retrospective analysis, method development, detailed validation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operational monitoring, short events, rapid source-resolved updates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Time resolution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usually daily or multi-hour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hourly to minute-scale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Human involvement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high during data preparation and interpretation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high during setup, lower during routine operation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Main challenge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latency and limited time resolution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instrument stability, automated QA/QC, maintaining valid constraints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Best overall use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optimize and validate the source-apportionment framework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A34"/>
                          </a:solidFill>
                          <a:latin typeface="Aptos"/>
                        </a:rPr>
                        <a:t>deploy the optimized framework continuously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C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397153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ptos"/>
              </a:rPr>
              <a:t>1</a:t>
            </a:r>
            <a:r>
              <a:rPr lang="en-US" sz="2600" b="1" dirty="0">
                <a:solidFill>
                  <a:srgbClr val="FFFFFF"/>
                </a:solidFill>
                <a:latin typeface="Aptos"/>
              </a:rPr>
              <a:t>9</a:t>
            </a:r>
            <a:r>
              <a:rPr sz="2600" b="1" dirty="0">
                <a:solidFill>
                  <a:srgbClr val="FFFFFF"/>
                </a:solidFill>
                <a:latin typeface="Aptos"/>
              </a:rPr>
              <a:t>. Take-home messages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36D"/>
                </a:solidFill>
                <a:latin typeface="Aptos"/>
              </a:rPr>
              <a:t>A short summary of the main points.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565392"/>
            <a:ext cx="11551615" cy="18288"/>
          </a:xfrm>
          <a:prstGeom prst="rect">
            <a:avLst/>
          </a:prstGeom>
          <a:solidFill>
            <a:srgbClr val="EA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2000">
                <a:solidFill>
                  <a:srgbClr val="232A34"/>
                </a:solidFill>
                <a:latin typeface="Aptos"/>
              </a:defRPr>
            </a:pPr>
            <a:r>
              <a:t>Source apportionment identifies and quantifies PM sources using measured composition data and mass-balance concepts.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2000">
                <a:solidFill>
                  <a:srgbClr val="232A34"/>
                </a:solidFill>
                <a:latin typeface="Aptos"/>
              </a:defRPr>
            </a:pPr>
            <a:r>
              <a:t>PCA is mainly exploratory, CMB is profile-driven, and PMF is the most widely used uncertainty-weighted receptor model for conventional SA.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2000">
                <a:solidFill>
                  <a:srgbClr val="232A34"/>
                </a:solidFill>
                <a:latin typeface="Aptos"/>
              </a:defRPr>
            </a:pPr>
            <a:r>
              <a:t>Conventional SA remains essential for robust interpretation and for defining model settings and source profiles.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2000">
                <a:solidFill>
                  <a:srgbClr val="232A34"/>
                </a:solidFill>
                <a:latin typeface="Aptos"/>
              </a:defRPr>
            </a:pPr>
            <a:r>
              <a:t>Real-time SA uses online measurements and automated workflows to provide source-resolved information within minutes to hours.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2000">
                <a:solidFill>
                  <a:srgbClr val="232A34"/>
                </a:solidFill>
                <a:latin typeface="Aptos"/>
              </a:defRPr>
            </a:pPr>
            <a:r>
              <a:t>In practice, conventional and real-time SA are complementary: optimize first, then automate and deploy.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5349240"/>
            <a:ext cx="5669280" cy="731520"/>
          </a:xfrm>
          <a:prstGeom prst="roundRect">
            <a:avLst/>
          </a:prstGeom>
          <a:solidFill>
            <a:srgbClr val="FFF4D6"/>
          </a:solidFill>
          <a:ln w="16510">
            <a:solidFill>
              <a:srgbClr val="D37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32A34"/>
                </a:solidFill>
                <a:latin typeface="Aptos"/>
              </a:rPr>
              <a:t>Best teaching message: understand the assumptions of each model before interpreting the output.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2492</Words>
  <Application>Microsoft Office PowerPoint</Application>
  <PresentationFormat>Widescreen</PresentationFormat>
  <Paragraphs>262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Manos Manousakas</dc:creator>
  <cp:keywords/>
  <dc:description>generated using python-pptx</dc:description>
  <cp:lastModifiedBy>Manos Manousakas</cp:lastModifiedBy>
  <cp:revision>2</cp:revision>
  <dcterms:created xsi:type="dcterms:W3CDTF">2013-01-27T09:14:16Z</dcterms:created>
  <dcterms:modified xsi:type="dcterms:W3CDTF">2026-04-29T08:51:07Z</dcterms:modified>
  <cp:category/>
</cp:coreProperties>
</file>