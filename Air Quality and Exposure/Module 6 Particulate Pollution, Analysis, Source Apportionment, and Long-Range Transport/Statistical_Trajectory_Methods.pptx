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s Manousakas" userId="472fbd7d13858be9" providerId="LiveId" clId="{18BF0762-94E8-4A6B-A634-3860A1919F74}"/>
    <pc:docChg chg="custSel modSld">
      <pc:chgData name="Manos Manousakas" userId="472fbd7d13858be9" providerId="LiveId" clId="{18BF0762-94E8-4A6B-A634-3860A1919F74}" dt="2026-04-29T11:16:27.734" v="5" actId="20577"/>
      <pc:docMkLst>
        <pc:docMk/>
      </pc:docMkLst>
      <pc:sldChg chg="delSp modSp mod">
        <pc:chgData name="Manos Manousakas" userId="472fbd7d13858be9" providerId="LiveId" clId="{18BF0762-94E8-4A6B-A634-3860A1919F74}" dt="2026-04-29T11:16:27.734" v="5" actId="20577"/>
        <pc:sldMkLst>
          <pc:docMk/>
          <pc:sldMk cId="0" sldId="292"/>
        </pc:sldMkLst>
        <pc:spChg chg="mod">
          <ac:chgData name="Manos Manousakas" userId="472fbd7d13858be9" providerId="LiveId" clId="{18BF0762-94E8-4A6B-A634-3860A1919F74}" dt="2026-04-29T11:16:27.734" v="5" actId="20577"/>
          <ac:spMkLst>
            <pc:docMk/>
            <pc:sldMk cId="0" sldId="292"/>
            <ac:spMk id="612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11:16:11.880" v="0" actId="1076"/>
          <ac:spMkLst>
            <pc:docMk/>
            <pc:sldMk cId="0" sldId="292"/>
            <ac:spMk id="61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11:16:14.750" v="1" actId="478"/>
          <ac:spMkLst>
            <pc:docMk/>
            <pc:sldMk cId="0" sldId="292"/>
            <ac:spMk id="6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CC9A99-BDD2-4373-97DB-30D4A3BE0F4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7CEE33-DB7F-406D-9E64-8CF3FB3C78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7080C1-DDA0-422C-BFD9-BD748AE9BC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0E9736-61BC-4357-B162-346863E300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7D76BC-FB1B-4132-BE66-50488190E1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832CCF-4BB9-46F5-B056-3490BCB889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6ABFF4-3AF4-4301-8476-B86DC86B9A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254977-384D-4EE6-B288-F0965C1346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D5BE27-FB41-4565-9EF0-3BD8903F2D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63A670-3C0C-4D73-AC0B-DB6FDD219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82E976-28A9-4A24-93FD-ABA51C25B2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498FD7-D2F5-43AB-B11B-CAA203F825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2D386B-5179-4E26-8E2C-C6BFC4C9CB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7E931F-AAFC-490D-B4DA-1E10B689C9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78165C-ED3E-4DB1-9DCA-A4FEBB3C3B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182313-E363-4A5F-AE44-602483C805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47D845-B16E-4417-9EAC-7D32100146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81C341-3E9A-43E0-B2C6-4AAA03A71F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9C65AC-A12D-4378-A11A-9B0A386711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6A2599-9DC9-4886-AC3F-40D8D8F3D0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7B3DCB-15BF-4813-8F64-1A751179CB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ABBEAC-4E7B-4957-9020-0B69D457B9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B19B52-E09E-4CB6-990F-227B9565CD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2FAFE8-C5A2-4D36-8396-C508DD4FBF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AD9468-4416-4FEF-A744-F20B1D0BBB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3C6327-66E3-4ECB-9073-A785EAEEA9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AACF8D-0849-4746-B729-F194AB4838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8E3BE0-AEAC-4583-8E39-6D8C30F4E8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7EA8D1-A5E1-41F3-A0B8-B8F741B311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18321-374F-4A9A-B41D-DD17FFA55C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74FC16-EE04-45D9-8D61-6A64686D03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885120" cy="6856920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02920" y="594360"/>
            <a:ext cx="501840" cy="50184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51560" y="502920"/>
            <a:ext cx="254880" cy="254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2103120" y="320040"/>
            <a:ext cx="181800" cy="181800"/>
          </a:xfrm>
          <a:prstGeom prst="ellipse">
            <a:avLst/>
          </a:prstGeom>
          <a:solidFill>
            <a:srgbClr val="FFE9A8"/>
          </a:solidFill>
          <a:ln w="12700">
            <a:solidFill>
              <a:srgbClr val="FFE9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85800" y="3611880"/>
            <a:ext cx="163440" cy="163440"/>
          </a:xfrm>
          <a:prstGeom prst="ellipse">
            <a:avLst/>
          </a:prstGeom>
          <a:solidFill>
            <a:srgbClr val="E28A35"/>
          </a:solidFill>
          <a:ln w="1270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02920" y="1234440"/>
            <a:ext cx="292500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Long-range transport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methods for PM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30280" y="2743200"/>
            <a:ext cx="2742120" cy="7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7EEF8"/>
                </a:solidFill>
                <a:effectLst/>
                <a:uFillTx/>
                <a:latin typeface="Aptos"/>
                <a:ea typeface="Aptos"/>
              </a:rPr>
              <a:t>Trajectory statistical methods with emphasis on CPF/PSCF and CWT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617720" y="9601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6FB0"/>
                </a:solidFill>
                <a:effectLst/>
                <a:uFillTx/>
                <a:latin typeface="Aptos"/>
                <a:ea typeface="Aptos"/>
              </a:rPr>
              <a:t>Part 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617720" y="1188720"/>
            <a:ext cx="62168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Concepts and methods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617720" y="32461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B8C5B"/>
                </a:solidFill>
                <a:effectLst/>
                <a:uFillTx/>
                <a:latin typeface="Aptos"/>
                <a:ea typeface="Aptos"/>
              </a:rPr>
              <a:t>Part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617720" y="3474720"/>
            <a:ext cx="63082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HYSPLIT + openair practical workflow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663440" y="4800600"/>
            <a:ext cx="1187640" cy="501840"/>
          </a:xfrm>
          <a:prstGeom prst="roundRect">
            <a:avLst>
              <a:gd name="adj" fmla="val 14545"/>
            </a:avLst>
          </a:prstGeom>
          <a:solidFill>
            <a:srgbClr val="FFF0DD"/>
          </a:solidFill>
          <a:ln w="1524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736520" y="4846320"/>
            <a:ext cx="10414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CWT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080760" y="4800600"/>
            <a:ext cx="1827720" cy="501840"/>
          </a:xfrm>
          <a:prstGeom prst="roundRect">
            <a:avLst>
              <a:gd name="adj" fmla="val 14545"/>
            </a:avLst>
          </a:prstGeom>
          <a:solidFill>
            <a:srgbClr val="E8F6EE"/>
          </a:solidFill>
          <a:ln w="1524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153840" y="4846320"/>
            <a:ext cx="1681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CPF / PSCF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138160" y="4800600"/>
            <a:ext cx="1416240" cy="501840"/>
          </a:xfrm>
          <a:prstGeom prst="roundRect">
            <a:avLst>
              <a:gd name="adj" fmla="val 14545"/>
            </a:avLst>
          </a:prstGeom>
          <a:solidFill>
            <a:srgbClr val="EDF6FF"/>
          </a:solidFill>
          <a:ln w="152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211240" y="4846320"/>
            <a:ext cx="12700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HYSPLIT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738360" y="4800600"/>
            <a:ext cx="1324800" cy="501840"/>
          </a:xfrm>
          <a:prstGeom prst="roundRect">
            <a:avLst>
              <a:gd name="adj" fmla="val 14545"/>
            </a:avLst>
          </a:prstGeom>
          <a:solidFill>
            <a:srgbClr val="F0E9FA"/>
          </a:solidFill>
          <a:ln w="15240">
            <a:solidFill>
              <a:srgbClr val="7E5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9811440" y="4846320"/>
            <a:ext cx="11786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openair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Course roadmap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A practical path from air-mass history to CWT/CPF maps and reproducible R workflows.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685800" y="1874520"/>
            <a:ext cx="223920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795600" y="1984320"/>
            <a:ext cx="2019600" cy="16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Why transport?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Transboundary PM and natural dust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2971800" y="2788920"/>
            <a:ext cx="274320" cy="360"/>
          </a:xfrm>
          <a:prstGeom prst="line">
            <a:avLst/>
          </a:prstGeom>
          <a:ln w="27940">
            <a:solidFill>
              <a:srgbClr val="2F6FB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3291840" y="1874520"/>
            <a:ext cx="223920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3401640" y="1984320"/>
            <a:ext cx="2019600" cy="16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Trajectory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HYSPLIT endpoints linked to PM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5577840" y="2788920"/>
            <a:ext cx="274320" cy="360"/>
          </a:xfrm>
          <a:prstGeom prst="line">
            <a:avLst/>
          </a:prstGeom>
          <a:ln w="27940">
            <a:solidFill>
              <a:srgbClr val="2A9D8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5897880" y="1874520"/>
            <a:ext cx="223920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6007680" y="1984320"/>
            <a:ext cx="2019600" cy="16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CPF / PSCF + CWT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Probability and weighted concentration maps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1"/>
          <p:cNvSpPr/>
          <p:nvPr/>
        </p:nvSpPr>
        <p:spPr>
          <a:xfrm>
            <a:off x="8183880" y="2788920"/>
            <a:ext cx="274320" cy="360"/>
          </a:xfrm>
          <a:prstGeom prst="line">
            <a:avLst/>
          </a:prstGeom>
          <a:ln w="2794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8503920" y="1874520"/>
            <a:ext cx="223920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8613720" y="1984320"/>
            <a:ext cx="2019600" cy="16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Practical tools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Install, import, plot, interpret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868680" y="4846320"/>
            <a:ext cx="20106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Learning outcome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3063240" y="4736520"/>
            <a:ext cx="7999920" cy="86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Explain what a CPF/PSCF map and a CWT map show.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Choose reasonable trajectory settings and input pollutants.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Run the core openair commands for trajectory plotting, CPF/PSCF, CWT and clustering.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Why study long-range transport?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Local concentrations may include material transported over hundreds or thousands of kilometres.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640080" y="1828800"/>
            <a:ext cx="23763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749880" y="1938600"/>
            <a:ext cx="21567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Local emissions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traffic • heating • industry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4800600" y="1508760"/>
            <a:ext cx="2513520" cy="14162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4910400" y="1618560"/>
            <a:ext cx="2293920" cy="119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Regional formation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secondary sulfate/nitrate/organic aerosol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8961120" y="1828800"/>
            <a:ext cx="23763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9070920" y="1938600"/>
            <a:ext cx="21567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Natural transport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African dust • sea salt • wildfire smoke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 flipV="1">
            <a:off x="3063240" y="2212560"/>
            <a:ext cx="1554480" cy="119160"/>
          </a:xfrm>
          <a:prstGeom prst="line">
            <a:avLst/>
          </a:prstGeom>
          <a:ln w="3175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7360920" y="2240280"/>
            <a:ext cx="1371600" cy="91440"/>
          </a:xfrm>
          <a:prstGeom prst="line">
            <a:avLst/>
          </a:prstGeom>
          <a:ln w="3175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3703320" y="4160520"/>
            <a:ext cx="4799520" cy="913320"/>
          </a:xfrm>
          <a:prstGeom prst="roundRect">
            <a:avLst>
              <a:gd name="adj" fmla="val 8000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3813120" y="4270320"/>
            <a:ext cx="457992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Receptor site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measured PM = local + regional + long-range contributions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1051560" y="5532120"/>
            <a:ext cx="1005732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Key message: a decrease in local emissions does not always lead to a proportional decrease in measured PM if transported aerosols or precursors are important.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Air-mass history: the core idea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Back trajectories estimate where the arriving air parcel has travelled before reaching the receptor.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777240" y="1920240"/>
            <a:ext cx="2284920" cy="913320"/>
          </a:xfrm>
          <a:prstGeom prst="roundRect">
            <a:avLst>
              <a:gd name="adj" fmla="val 8000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887040" y="2030040"/>
            <a:ext cx="206532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Start at receptor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(time, location, height)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4846320" y="1417320"/>
            <a:ext cx="2284920" cy="913320"/>
          </a:xfrm>
          <a:prstGeom prst="roundRect">
            <a:avLst>
              <a:gd name="adj" fmla="val 8000"/>
            </a:avLst>
          </a:prstGeom>
          <a:solidFill>
            <a:srgbClr val="FFF0DD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4956120" y="1527120"/>
            <a:ext cx="206532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Run backward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24–120 h or longer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8869680" y="1920240"/>
            <a:ext cx="2284920" cy="913320"/>
          </a:xfrm>
          <a:prstGeom prst="roundRect">
            <a:avLst>
              <a:gd name="adj" fmla="val 8000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8979480" y="2030040"/>
            <a:ext cx="206532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Get endpoints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lat • lon • height •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 flipV="1">
            <a:off x="3154680" y="1874520"/>
            <a:ext cx="1508760" cy="502920"/>
          </a:xfrm>
          <a:prstGeom prst="line">
            <a:avLst/>
          </a:prstGeom>
          <a:ln w="3175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7178040" y="1874520"/>
            <a:ext cx="1508760" cy="502920"/>
          </a:xfrm>
          <a:prstGeom prst="line">
            <a:avLst/>
          </a:prstGeom>
          <a:ln w="3175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 flipV="1">
            <a:off x="1005840" y="4480560"/>
            <a:ext cx="1737360" cy="411480"/>
          </a:xfrm>
          <a:prstGeom prst="line">
            <a:avLst/>
          </a:prstGeom>
          <a:ln w="279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2743200" y="4480560"/>
            <a:ext cx="2011680" cy="137160"/>
          </a:xfrm>
          <a:prstGeom prst="line">
            <a:avLst/>
          </a:prstGeom>
          <a:ln w="279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3"/>
          <p:cNvSpPr/>
          <p:nvPr/>
        </p:nvSpPr>
        <p:spPr>
          <a:xfrm flipV="1">
            <a:off x="4754880" y="4297680"/>
            <a:ext cx="1737360" cy="320040"/>
          </a:xfrm>
          <a:prstGeom prst="line">
            <a:avLst/>
          </a:prstGeom>
          <a:ln w="279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6492240" y="4297680"/>
            <a:ext cx="1371600" cy="228600"/>
          </a:xfrm>
          <a:prstGeom prst="line">
            <a:avLst/>
          </a:prstGeom>
          <a:ln w="279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5"/>
          <p:cNvSpPr/>
          <p:nvPr/>
        </p:nvSpPr>
        <p:spPr>
          <a:xfrm flipV="1">
            <a:off x="7863840" y="4160520"/>
            <a:ext cx="1737360" cy="365760"/>
          </a:xfrm>
          <a:prstGeom prst="line">
            <a:avLst/>
          </a:prstGeom>
          <a:ln w="279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9601200" y="4160520"/>
            <a:ext cx="1371600" cy="182880"/>
          </a:xfrm>
          <a:prstGeom prst="line">
            <a:avLst/>
          </a:prstGeom>
          <a:ln w="279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914400" y="5687640"/>
            <a:ext cx="1042308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Back trajectories are estimates, not exact paths. Interpret many trajectories together, not just one.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What does a trajectory model need?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HYSPLIT and similar models use gridded meteorology to calculate air-mass paths.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777240" y="1508760"/>
            <a:ext cx="201060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887040" y="1618560"/>
            <a:ext cx="179100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Receptor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latitude / longitude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3063240" y="1508760"/>
            <a:ext cx="201060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3173040" y="1618560"/>
            <a:ext cx="179100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Arrival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UTC date + hour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5349240" y="1508760"/>
            <a:ext cx="201060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459040" y="1618560"/>
            <a:ext cx="179100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Starting height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AGL / ASL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7635240" y="1508760"/>
            <a:ext cx="201060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7745040" y="1618560"/>
            <a:ext cx="179100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Run duration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backward hours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9921240" y="1508760"/>
            <a:ext cx="201060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10031040" y="1618560"/>
            <a:ext cx="179100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Meteorology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GDAS / GFS / other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822960" y="3063240"/>
            <a:ext cx="40222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Output: a table of trajectory endpoints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822960" y="3703320"/>
            <a:ext cx="1141920" cy="474480"/>
          </a:xfrm>
          <a:prstGeom prst="roundRect">
            <a:avLst>
              <a:gd name="adj" fmla="val 15385"/>
            </a:avLst>
          </a:prstGeom>
          <a:solidFill>
            <a:srgbClr val="FFF0DD"/>
          </a:solidFill>
          <a:ln w="1524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896040" y="3749040"/>
            <a:ext cx="99576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2359080" y="3703320"/>
            <a:ext cx="1141920" cy="474480"/>
          </a:xfrm>
          <a:prstGeom prst="roundRect">
            <a:avLst>
              <a:gd name="adj" fmla="val 15385"/>
            </a:avLst>
          </a:prstGeom>
          <a:solidFill>
            <a:srgbClr val="FFF0DD"/>
          </a:solidFill>
          <a:ln w="1524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2432160" y="3749040"/>
            <a:ext cx="99576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date2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3895200" y="3703320"/>
            <a:ext cx="1141920" cy="474480"/>
          </a:xfrm>
          <a:prstGeom prst="roundRect">
            <a:avLst>
              <a:gd name="adj" fmla="val 15385"/>
            </a:avLst>
          </a:prstGeom>
          <a:solidFill>
            <a:srgbClr val="FFF0DD"/>
          </a:solidFill>
          <a:ln w="1524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3968640" y="3749040"/>
            <a:ext cx="99576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hour.inc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5431680" y="3703320"/>
            <a:ext cx="1141920" cy="474480"/>
          </a:xfrm>
          <a:prstGeom prst="roundRect">
            <a:avLst>
              <a:gd name="adj" fmla="val 15385"/>
            </a:avLst>
          </a:prstGeom>
          <a:solidFill>
            <a:srgbClr val="E8F6EE"/>
          </a:solidFill>
          <a:ln w="1524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5504760" y="3749040"/>
            <a:ext cx="99576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6967800" y="3703320"/>
            <a:ext cx="1141920" cy="474480"/>
          </a:xfrm>
          <a:prstGeom prst="roundRect">
            <a:avLst>
              <a:gd name="adj" fmla="val 15385"/>
            </a:avLst>
          </a:prstGeom>
          <a:solidFill>
            <a:srgbClr val="E8F6EE"/>
          </a:solidFill>
          <a:ln w="1524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7040880" y="3749040"/>
            <a:ext cx="99576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4"/>
          <p:cNvSpPr/>
          <p:nvPr/>
        </p:nvSpPr>
        <p:spPr>
          <a:xfrm>
            <a:off x="8503920" y="3703320"/>
            <a:ext cx="1141920" cy="474480"/>
          </a:xfrm>
          <a:prstGeom prst="roundRect">
            <a:avLst>
              <a:gd name="adj" fmla="val 15385"/>
            </a:avLst>
          </a:prstGeom>
          <a:solidFill>
            <a:srgbClr val="E8F6EE"/>
          </a:solidFill>
          <a:ln w="1524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8577000" y="3749040"/>
            <a:ext cx="99576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height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10040040" y="3703320"/>
            <a:ext cx="1141920" cy="474480"/>
          </a:xfrm>
          <a:prstGeom prst="roundRect">
            <a:avLst>
              <a:gd name="adj" fmla="val 15385"/>
            </a:avLst>
          </a:prstGeom>
          <a:solidFill>
            <a:srgbClr val="E8F6EE"/>
          </a:solidFill>
          <a:ln w="1524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7"/>
          <p:cNvSpPr/>
          <p:nvPr/>
        </p:nvSpPr>
        <p:spPr>
          <a:xfrm>
            <a:off x="10113120" y="3749040"/>
            <a:ext cx="99576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pressure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8"/>
          <p:cNvSpPr/>
          <p:nvPr/>
        </p:nvSpPr>
        <p:spPr>
          <a:xfrm>
            <a:off x="914400" y="4892040"/>
            <a:ext cx="102402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These endpoints can be joined with pollutant concentrations measured at the arrival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Why trajectory statistical methods?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A single back trajectory is useful for context, but it is not enough for source-region identification.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868680" y="1600200"/>
            <a:ext cx="2559240" cy="684720"/>
          </a:xfrm>
          <a:prstGeom prst="roundRect">
            <a:avLst>
              <a:gd name="adj" fmla="val 10667"/>
            </a:avLst>
          </a:prstGeom>
          <a:solidFill>
            <a:srgbClr val="FCE7E4"/>
          </a:solidFill>
          <a:ln w="13970">
            <a:solidFill>
              <a:srgbClr val="C64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978480" y="1710000"/>
            <a:ext cx="233964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Single trajectory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1005840" y="2514600"/>
            <a:ext cx="2422080" cy="16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uncertain path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sensitive to height and meteorology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cannot prove source–receptor link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4800600" y="1600200"/>
            <a:ext cx="2787840" cy="684720"/>
          </a:xfrm>
          <a:prstGeom prst="roundRect">
            <a:avLst>
              <a:gd name="adj" fmla="val 10667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4910400" y="1710000"/>
            <a:ext cx="256824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Large trajectory ensemble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4937760" y="2514600"/>
            <a:ext cx="2696400" cy="16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hundreds to thousands of endpoints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uncertainty partly averages out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patterns become visible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8915400" y="1600200"/>
            <a:ext cx="2376360" cy="684720"/>
          </a:xfrm>
          <a:prstGeom prst="roundRect">
            <a:avLst>
              <a:gd name="adj" fmla="val 10667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9025200" y="1710000"/>
            <a:ext cx="215676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TSM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9052560" y="2514600"/>
            <a:ext cx="2284920" cy="16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transport pathways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potential source regions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meteorological regimes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3611880" y="1938240"/>
            <a:ext cx="978120" cy="360"/>
          </a:xfrm>
          <a:prstGeom prst="line">
            <a:avLst/>
          </a:prstGeom>
          <a:ln w="3175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7790400" y="1938240"/>
            <a:ext cx="914400" cy="360"/>
          </a:xfrm>
          <a:prstGeom prst="line">
            <a:avLst/>
          </a:prstGeom>
          <a:ln w="31750">
            <a:solidFill>
              <a:srgbClr val="2F6FB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1005840" y="516636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Trajectory statistical methods combine many trajectories with measured pollutant concentrations.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Trajectory statistical methods: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TSM integrates concentration data and meteorological transport information.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640080" y="2057400"/>
            <a:ext cx="214776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749880" y="2167200"/>
            <a:ext cx="19281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Measure PM / species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2880360" y="2057400"/>
            <a:ext cx="214776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2990160" y="2167200"/>
            <a:ext cx="19281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Calculate back trajectories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5120640" y="2057400"/>
            <a:ext cx="214776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5230440" y="2167200"/>
            <a:ext cx="19281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Join by arrival time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7360920" y="2057400"/>
            <a:ext cx="214776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7470720" y="2167200"/>
            <a:ext cx="19281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Grid endpoints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9601200" y="2057400"/>
            <a:ext cx="214776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7E5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9711000" y="2167200"/>
            <a:ext cx="19281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Compute CPF/PSCF or CWT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2788920" y="2423160"/>
            <a:ext cx="91440" cy="360"/>
          </a:xfrm>
          <a:prstGeom prst="line">
            <a:avLst/>
          </a:prstGeom>
          <a:ln w="27940">
            <a:solidFill>
              <a:srgbClr val="2A9D8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5029200" y="2423160"/>
            <a:ext cx="91440" cy="360"/>
          </a:xfrm>
          <a:prstGeom prst="line">
            <a:avLst/>
          </a:prstGeom>
          <a:ln w="2794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5"/>
          <p:cNvSpPr/>
          <p:nvPr/>
        </p:nvSpPr>
        <p:spPr>
          <a:xfrm>
            <a:off x="7269480" y="2423160"/>
            <a:ext cx="91440" cy="360"/>
          </a:xfrm>
          <a:prstGeom prst="line">
            <a:avLst/>
          </a:prstGeom>
          <a:ln w="2794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9509760" y="2423160"/>
            <a:ext cx="91440" cy="360"/>
          </a:xfrm>
          <a:prstGeom prst="line">
            <a:avLst/>
          </a:prstGeom>
          <a:ln w="27940">
            <a:solidFill>
              <a:srgbClr val="7E5A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1143000" y="4343400"/>
            <a:ext cx="9920160" cy="959040"/>
          </a:xfrm>
          <a:prstGeom prst="roundRect">
            <a:avLst>
              <a:gd name="adj" fmla="val 7619"/>
            </a:avLst>
          </a:prstGeom>
          <a:solidFill>
            <a:srgbClr val="FFF8DC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1252800" y="4453200"/>
            <a:ext cx="9700560" cy="73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Output maps do not identify exact emission points. They identify geographic regions and pathways statistically associated with elevated receptor concentrations.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Method family: what each map answers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Use multiple views together to avoid over-interpreting any single method.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685800" y="1600200"/>
            <a:ext cx="5028120" cy="1416240"/>
          </a:xfrm>
          <a:prstGeom prst="roundRect">
            <a:avLst>
              <a:gd name="adj" fmla="val 5161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795600" y="1710000"/>
            <a:ext cx="4808520" cy="119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Frequency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Where did air masses pass most often?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263640" y="1600200"/>
            <a:ext cx="5028120" cy="1416240"/>
          </a:xfrm>
          <a:prstGeom prst="roundRect">
            <a:avLst>
              <a:gd name="adj" fmla="val 5161"/>
            </a:avLst>
          </a:prstGeom>
          <a:solidFill>
            <a:srgbClr val="E3F6F3"/>
          </a:solidFill>
          <a:ln w="1397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6373440" y="1710000"/>
            <a:ext cx="4808520" cy="119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Cluster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Which air-mass pathways are similar?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685800" y="3657600"/>
            <a:ext cx="5028120" cy="1416240"/>
          </a:xfrm>
          <a:prstGeom prst="roundRect">
            <a:avLst>
              <a:gd name="adj" fmla="val 5161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795600" y="3767400"/>
            <a:ext cx="4808520" cy="119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CPF / PSCF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Where did trajectories pass during high events?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6263640" y="3657600"/>
            <a:ext cx="5028120" cy="1416240"/>
          </a:xfrm>
          <a:prstGeom prst="roundRect">
            <a:avLst>
              <a:gd name="adj" fmla="val 5161"/>
            </a:avLst>
          </a:prstGeom>
          <a:solidFill>
            <a:srgbClr val="FFF0DD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6373440" y="3767400"/>
            <a:ext cx="4808520" cy="119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CWT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Where are trajectories associated with higher concentrations?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914400" y="5897880"/>
            <a:ext cx="10331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This presentation emphasizes CPF/PSCF and CWT because they connect measured concentrations to trajectory residence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CPF / PSCF: the probability 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CPF asks: when concentrations are high, where did the air masses pass?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777240" y="1508760"/>
            <a:ext cx="2833560" cy="639000"/>
          </a:xfrm>
          <a:prstGeom prst="roundRect">
            <a:avLst>
              <a:gd name="adj" fmla="val 11429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887040" y="1618560"/>
            <a:ext cx="261396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All trajectory endpoints in cell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4709160" y="1508760"/>
            <a:ext cx="2833560" cy="639000"/>
          </a:xfrm>
          <a:prstGeom prst="roundRect">
            <a:avLst>
              <a:gd name="adj" fmla="val 11429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4818960" y="1618560"/>
            <a:ext cx="261396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Endpoints during high PM events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8595360" y="1508760"/>
            <a:ext cx="2650680" cy="639000"/>
          </a:xfrm>
          <a:prstGeom prst="roundRect">
            <a:avLst>
              <a:gd name="adj" fmla="val 11429"/>
            </a:avLst>
          </a:prstGeom>
          <a:solidFill>
            <a:srgbClr val="FFF8DC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8705160" y="1618560"/>
            <a:ext cx="243108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CPF / PSCF probability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3703320" y="1828800"/>
            <a:ext cx="868680" cy="360"/>
          </a:xfrm>
          <a:prstGeom prst="line">
            <a:avLst/>
          </a:prstGeom>
          <a:ln w="3175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7635240" y="1828800"/>
            <a:ext cx="822960" cy="360"/>
          </a:xfrm>
          <a:prstGeom prst="line">
            <a:avLst/>
          </a:prstGeom>
          <a:ln w="3175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914400" y="278892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914400" y="320040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914400" y="361188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914400" y="402336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914400" y="443484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1325880" y="278892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1325880" y="320040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1325880" y="361188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1325880" y="402336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1325880" y="443484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1"/>
          <p:cNvSpPr/>
          <p:nvPr/>
        </p:nvSpPr>
        <p:spPr>
          <a:xfrm>
            <a:off x="1737360" y="278892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1737360" y="320040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1737360" y="361188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1737360" y="402336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1737360" y="443484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6"/>
          <p:cNvSpPr/>
          <p:nvPr/>
        </p:nvSpPr>
        <p:spPr>
          <a:xfrm>
            <a:off x="2148840" y="278892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7"/>
          <p:cNvSpPr/>
          <p:nvPr/>
        </p:nvSpPr>
        <p:spPr>
          <a:xfrm>
            <a:off x="2148840" y="320040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8"/>
          <p:cNvSpPr/>
          <p:nvPr/>
        </p:nvSpPr>
        <p:spPr>
          <a:xfrm>
            <a:off x="2148840" y="3611880"/>
            <a:ext cx="410400" cy="410400"/>
          </a:xfrm>
          <a:prstGeom prst="rect">
            <a:avLst/>
          </a:prstGeom>
          <a:solidFill>
            <a:srgbClr val="E8F6EE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9"/>
          <p:cNvSpPr/>
          <p:nvPr/>
        </p:nvSpPr>
        <p:spPr>
          <a:xfrm>
            <a:off x="2148840" y="402336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0"/>
          <p:cNvSpPr/>
          <p:nvPr/>
        </p:nvSpPr>
        <p:spPr>
          <a:xfrm>
            <a:off x="2148840" y="443484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1"/>
          <p:cNvSpPr/>
          <p:nvPr/>
        </p:nvSpPr>
        <p:spPr>
          <a:xfrm>
            <a:off x="2560320" y="278892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2"/>
          <p:cNvSpPr/>
          <p:nvPr/>
        </p:nvSpPr>
        <p:spPr>
          <a:xfrm>
            <a:off x="2560320" y="320040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3"/>
          <p:cNvSpPr/>
          <p:nvPr/>
        </p:nvSpPr>
        <p:spPr>
          <a:xfrm>
            <a:off x="2560320" y="361188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4"/>
          <p:cNvSpPr/>
          <p:nvPr/>
        </p:nvSpPr>
        <p:spPr>
          <a:xfrm>
            <a:off x="2560320" y="402336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5"/>
          <p:cNvSpPr/>
          <p:nvPr/>
        </p:nvSpPr>
        <p:spPr>
          <a:xfrm>
            <a:off x="2560320" y="443484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6"/>
          <p:cNvSpPr/>
          <p:nvPr/>
        </p:nvSpPr>
        <p:spPr>
          <a:xfrm>
            <a:off x="2971800" y="278892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7"/>
          <p:cNvSpPr/>
          <p:nvPr/>
        </p:nvSpPr>
        <p:spPr>
          <a:xfrm>
            <a:off x="2971800" y="320040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8"/>
          <p:cNvSpPr/>
          <p:nvPr/>
        </p:nvSpPr>
        <p:spPr>
          <a:xfrm>
            <a:off x="2971800" y="361188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9"/>
          <p:cNvSpPr/>
          <p:nvPr/>
        </p:nvSpPr>
        <p:spPr>
          <a:xfrm>
            <a:off x="2971800" y="402336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0"/>
          <p:cNvSpPr/>
          <p:nvPr/>
        </p:nvSpPr>
        <p:spPr>
          <a:xfrm>
            <a:off x="2971800" y="4434840"/>
            <a:ext cx="410400" cy="41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1"/>
          <p:cNvSpPr/>
          <p:nvPr/>
        </p:nvSpPr>
        <p:spPr>
          <a:xfrm>
            <a:off x="2277000" y="3740040"/>
            <a:ext cx="108720" cy="108720"/>
          </a:xfrm>
          <a:prstGeom prst="ellipse">
            <a:avLst/>
          </a:prstGeom>
          <a:solidFill>
            <a:srgbClr val="3B8C5B"/>
          </a:solidFill>
          <a:ln w="1270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2"/>
          <p:cNvSpPr/>
          <p:nvPr/>
        </p:nvSpPr>
        <p:spPr>
          <a:xfrm>
            <a:off x="2423160" y="3886200"/>
            <a:ext cx="90360" cy="903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3"/>
          <p:cNvSpPr/>
          <p:nvPr/>
        </p:nvSpPr>
        <p:spPr>
          <a:xfrm>
            <a:off x="3931920" y="3154680"/>
            <a:ext cx="71312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For each grid cell: count all endpoints and count endpoints linked to high concentrations.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4"/>
          <p:cNvSpPr/>
          <p:nvPr/>
        </p:nvSpPr>
        <p:spPr>
          <a:xfrm>
            <a:off x="3931920" y="4023360"/>
            <a:ext cx="69483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B8C5B"/>
                </a:solidFill>
                <a:effectLst/>
                <a:uFillTx/>
                <a:latin typeface="Aptos"/>
                <a:ea typeface="Aptos"/>
              </a:rPr>
              <a:t>High value = the cell is frequently crossed before high concentration days.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5"/>
          <p:cNvSpPr/>
          <p:nvPr/>
        </p:nvSpPr>
        <p:spPr>
          <a:xfrm>
            <a:off x="3931920" y="4937760"/>
            <a:ext cx="71312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In openair trajectory analysis this is implemented as statistic = "pscf".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6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09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CPF / PSCF formula and interpretation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A simple ratio: high-event residence divided by all residence.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868680" y="1508760"/>
            <a:ext cx="4570920" cy="959040"/>
          </a:xfrm>
          <a:prstGeom prst="roundRect">
            <a:avLst>
              <a:gd name="adj" fmla="val 7619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978480" y="1618560"/>
            <a:ext cx="4351320" cy="73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CPFᵢⱼ / PSCFᵢⱼ = mᵢⱼ / nᵢⱼ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5989320" y="1325880"/>
            <a:ext cx="4845240" cy="6847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6099120" y="1435680"/>
            <a:ext cx="462564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nᵢⱼ = all trajectory endpoints in grid cell (i,j)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5989320" y="2240280"/>
            <a:ext cx="4845240" cy="6847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6099120" y="2350080"/>
            <a:ext cx="462564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mᵢⱼ = endpoints in cell (i,j) when concentration is high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5989320" y="3154680"/>
            <a:ext cx="4845240" cy="6847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6099120" y="3264480"/>
            <a:ext cx="462564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high = often &gt;90th percentile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(adjust with percentile option)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960120" y="3063240"/>
            <a:ext cx="4936680" cy="22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Best for identifying regions linked to high-concentration episodes.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Cells with few endpoints should be down-weighted or excluded.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CPF/PSCF is a probability map, not a concentration map.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CWT: the concentration-weighted 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CWT asks: what average receptor concentration is associated with air passing over each grid cell?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"/>
          <p:cNvSpPr/>
          <p:nvPr/>
        </p:nvSpPr>
        <p:spPr>
          <a:xfrm>
            <a:off x="777240" y="1508760"/>
            <a:ext cx="3473640" cy="684720"/>
          </a:xfrm>
          <a:prstGeom prst="roundRect">
            <a:avLst>
              <a:gd name="adj" fmla="val 10667"/>
            </a:avLst>
          </a:prstGeom>
          <a:solidFill>
            <a:srgbClr val="FFF0DD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887040" y="1618560"/>
            <a:ext cx="325404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Trajectory endpoints carry the arrival concentration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4526280" y="1508760"/>
            <a:ext cx="3565080" cy="684720"/>
          </a:xfrm>
          <a:prstGeom prst="roundRect">
            <a:avLst>
              <a:gd name="adj" fmla="val 10667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4636080" y="1618560"/>
            <a:ext cx="334548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Grid cells accumulate concentration-weighted residence time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8366760" y="1508760"/>
            <a:ext cx="2879280" cy="684720"/>
          </a:xfrm>
          <a:prstGeom prst="roundRect">
            <a:avLst>
              <a:gd name="adj" fmla="val 10667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8476560" y="1618560"/>
            <a:ext cx="265968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High CWT = cell linked to higher receptor concentrations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4315680" y="1828800"/>
            <a:ext cx="164880" cy="360"/>
          </a:xfrm>
          <a:prstGeom prst="line">
            <a:avLst/>
          </a:prstGeom>
          <a:ln w="3048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8183880" y="1828800"/>
            <a:ext cx="137160" cy="360"/>
          </a:xfrm>
          <a:prstGeom prst="line">
            <a:avLst/>
          </a:prstGeom>
          <a:ln w="3048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960120" y="283464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960120" y="324612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960120" y="365760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960120" y="406908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960120" y="448056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6"/>
          <p:cNvSpPr/>
          <p:nvPr/>
        </p:nvSpPr>
        <p:spPr>
          <a:xfrm>
            <a:off x="1463040" y="283464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1463040" y="324612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1463040" y="365760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1463040" y="406908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0"/>
          <p:cNvSpPr/>
          <p:nvPr/>
        </p:nvSpPr>
        <p:spPr>
          <a:xfrm>
            <a:off x="1463040" y="448056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1"/>
          <p:cNvSpPr/>
          <p:nvPr/>
        </p:nvSpPr>
        <p:spPr>
          <a:xfrm>
            <a:off x="1965960" y="283464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2"/>
          <p:cNvSpPr/>
          <p:nvPr/>
        </p:nvSpPr>
        <p:spPr>
          <a:xfrm>
            <a:off x="1965960" y="324612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3"/>
          <p:cNvSpPr/>
          <p:nvPr/>
        </p:nvSpPr>
        <p:spPr>
          <a:xfrm>
            <a:off x="1965960" y="365760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4"/>
          <p:cNvSpPr/>
          <p:nvPr/>
        </p:nvSpPr>
        <p:spPr>
          <a:xfrm>
            <a:off x="1965960" y="406908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1965960" y="448056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6"/>
          <p:cNvSpPr/>
          <p:nvPr/>
        </p:nvSpPr>
        <p:spPr>
          <a:xfrm>
            <a:off x="2468880" y="2834640"/>
            <a:ext cx="501840" cy="410400"/>
          </a:xfrm>
          <a:prstGeom prst="rect">
            <a:avLst/>
          </a:prstGeom>
          <a:solidFill>
            <a:srgbClr val="F8FBFF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7"/>
          <p:cNvSpPr/>
          <p:nvPr/>
        </p:nvSpPr>
        <p:spPr>
          <a:xfrm>
            <a:off x="2468880" y="324612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8"/>
          <p:cNvSpPr/>
          <p:nvPr/>
        </p:nvSpPr>
        <p:spPr>
          <a:xfrm>
            <a:off x="2468880" y="365760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9"/>
          <p:cNvSpPr/>
          <p:nvPr/>
        </p:nvSpPr>
        <p:spPr>
          <a:xfrm>
            <a:off x="2468880" y="406908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0"/>
          <p:cNvSpPr/>
          <p:nvPr/>
        </p:nvSpPr>
        <p:spPr>
          <a:xfrm>
            <a:off x="2468880" y="448056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1"/>
          <p:cNvSpPr/>
          <p:nvPr/>
        </p:nvSpPr>
        <p:spPr>
          <a:xfrm>
            <a:off x="2971800" y="283464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2"/>
          <p:cNvSpPr/>
          <p:nvPr/>
        </p:nvSpPr>
        <p:spPr>
          <a:xfrm>
            <a:off x="2971800" y="3246120"/>
            <a:ext cx="501840" cy="410400"/>
          </a:xfrm>
          <a:prstGeom prst="rect">
            <a:avLst/>
          </a:prstGeom>
          <a:solidFill>
            <a:srgbClr val="DCEBF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3"/>
          <p:cNvSpPr/>
          <p:nvPr/>
        </p:nvSpPr>
        <p:spPr>
          <a:xfrm>
            <a:off x="2971800" y="365760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4"/>
          <p:cNvSpPr/>
          <p:nvPr/>
        </p:nvSpPr>
        <p:spPr>
          <a:xfrm>
            <a:off x="2971800" y="406908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5"/>
          <p:cNvSpPr/>
          <p:nvPr/>
        </p:nvSpPr>
        <p:spPr>
          <a:xfrm>
            <a:off x="2971800" y="448056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6"/>
          <p:cNvSpPr/>
          <p:nvPr/>
        </p:nvSpPr>
        <p:spPr>
          <a:xfrm>
            <a:off x="3474720" y="283464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7"/>
          <p:cNvSpPr/>
          <p:nvPr/>
        </p:nvSpPr>
        <p:spPr>
          <a:xfrm>
            <a:off x="3474720" y="324612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8"/>
          <p:cNvSpPr/>
          <p:nvPr/>
        </p:nvSpPr>
        <p:spPr>
          <a:xfrm>
            <a:off x="3474720" y="365760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9"/>
          <p:cNvSpPr/>
          <p:nvPr/>
        </p:nvSpPr>
        <p:spPr>
          <a:xfrm>
            <a:off x="3474720" y="4069080"/>
            <a:ext cx="501840" cy="410400"/>
          </a:xfrm>
          <a:prstGeom prst="rect">
            <a:avLst/>
          </a:prstGeom>
          <a:solidFill>
            <a:srgbClr val="9FCCED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0"/>
          <p:cNvSpPr/>
          <p:nvPr/>
        </p:nvSpPr>
        <p:spPr>
          <a:xfrm>
            <a:off x="3474720" y="448056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1"/>
          <p:cNvSpPr/>
          <p:nvPr/>
        </p:nvSpPr>
        <p:spPr>
          <a:xfrm>
            <a:off x="3977640" y="283464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2"/>
          <p:cNvSpPr/>
          <p:nvPr/>
        </p:nvSpPr>
        <p:spPr>
          <a:xfrm>
            <a:off x="3977640" y="324612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3"/>
          <p:cNvSpPr/>
          <p:nvPr/>
        </p:nvSpPr>
        <p:spPr>
          <a:xfrm>
            <a:off x="3977640" y="365760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4"/>
          <p:cNvSpPr/>
          <p:nvPr/>
        </p:nvSpPr>
        <p:spPr>
          <a:xfrm>
            <a:off x="3977640" y="406908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45"/>
          <p:cNvSpPr/>
          <p:nvPr/>
        </p:nvSpPr>
        <p:spPr>
          <a:xfrm>
            <a:off x="3977640" y="448056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6"/>
          <p:cNvSpPr/>
          <p:nvPr/>
        </p:nvSpPr>
        <p:spPr>
          <a:xfrm>
            <a:off x="4480560" y="283464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7"/>
          <p:cNvSpPr/>
          <p:nvPr/>
        </p:nvSpPr>
        <p:spPr>
          <a:xfrm>
            <a:off x="4480560" y="324612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8"/>
          <p:cNvSpPr/>
          <p:nvPr/>
        </p:nvSpPr>
        <p:spPr>
          <a:xfrm>
            <a:off x="4480560" y="3657600"/>
            <a:ext cx="501840" cy="410400"/>
          </a:xfrm>
          <a:prstGeom prst="rect">
            <a:avLst/>
          </a:prstGeom>
          <a:solidFill>
            <a:srgbClr val="F2B15C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9"/>
          <p:cNvSpPr/>
          <p:nvPr/>
        </p:nvSpPr>
        <p:spPr>
          <a:xfrm>
            <a:off x="4480560" y="4069080"/>
            <a:ext cx="501840" cy="410400"/>
          </a:xfrm>
          <a:prstGeom prst="rect">
            <a:avLst/>
          </a:prstGeom>
          <a:solidFill>
            <a:srgbClr val="4F9AD4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0"/>
          <p:cNvSpPr/>
          <p:nvPr/>
        </p:nvSpPr>
        <p:spPr>
          <a:xfrm>
            <a:off x="4480560" y="4480560"/>
            <a:ext cx="501840" cy="410400"/>
          </a:xfrm>
          <a:prstGeom prst="rect">
            <a:avLst/>
          </a:prstGeom>
          <a:solidFill>
            <a:srgbClr val="F2B15C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1"/>
          <p:cNvSpPr/>
          <p:nvPr/>
        </p:nvSpPr>
        <p:spPr>
          <a:xfrm>
            <a:off x="5486400" y="3108960"/>
            <a:ext cx="548532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Each cell receives a weighted value based on the pollutant concentration measured when those trajectories arrived.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52"/>
          <p:cNvSpPr/>
          <p:nvPr/>
        </p:nvSpPr>
        <p:spPr>
          <a:xfrm>
            <a:off x="5486400" y="4160520"/>
            <a:ext cx="52110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In openair: trajLevel(..., statistic = "cwt")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3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CWT formula and interpretation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CWT preserves concentration intensity, unlike CPF/PSCF threshold counting.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"/>
          <p:cNvSpPr/>
          <p:nvPr/>
        </p:nvSpPr>
        <p:spPr>
          <a:xfrm>
            <a:off x="777240" y="1463040"/>
            <a:ext cx="5485320" cy="959040"/>
          </a:xfrm>
          <a:prstGeom prst="roundRect">
            <a:avLst>
              <a:gd name="adj" fmla="val 7619"/>
            </a:avLst>
          </a:prstGeom>
          <a:solidFill>
            <a:srgbClr val="FFF0DD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887040" y="1572840"/>
            <a:ext cx="5265720" cy="73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CWTᵢⱼ = Σ(Cₖ τᵢⱼₖ) / Σ(τᵢⱼₖ)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1005840" y="2788920"/>
            <a:ext cx="4845240" cy="86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Cₖ = pollutant concentration at arrival of trajectory 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τᵢⱼₖ = residence time of trajectory k in cell (i,j)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6720840" y="1463040"/>
            <a:ext cx="2056320" cy="684720"/>
          </a:xfrm>
          <a:prstGeom prst="roundRect">
            <a:avLst>
              <a:gd name="adj" fmla="val 10667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6830640" y="1572840"/>
            <a:ext cx="183672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High CWT value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8"/>
          <p:cNvSpPr/>
          <p:nvPr/>
        </p:nvSpPr>
        <p:spPr>
          <a:xfrm>
            <a:off x="6949440" y="2423160"/>
            <a:ext cx="4022280" cy="7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Air parcels passing this cell are, on average, associated with high receptor concentrations.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6720840" y="3703320"/>
            <a:ext cx="2056320" cy="593280"/>
          </a:xfrm>
          <a:prstGeom prst="roundRect">
            <a:avLst>
              <a:gd name="adj" fmla="val 12308"/>
            </a:avLst>
          </a:prstGeom>
          <a:solidFill>
            <a:srgbClr val="FFF8DC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6830640" y="3813120"/>
            <a:ext cx="183672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Important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6949440" y="4572000"/>
            <a:ext cx="415944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CWT is useful for ranking potential source regions, but must still be interpreted with emissions, meteorology and chemical tracers.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2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CPF/PSCF versus CWT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They answer related but different questions. Use both when possible.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685800" y="1417320"/>
            <a:ext cx="2010600" cy="776160"/>
          </a:xfrm>
          <a:prstGeom prst="rect">
            <a:avLst/>
          </a:prstGeom>
          <a:solidFill>
            <a:srgbClr val="153A5B"/>
          </a:solidFill>
          <a:ln w="10160">
            <a:solidFill>
              <a:srgbClr val="153A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758880" y="1490400"/>
            <a:ext cx="186444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Feature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2697480" y="1417320"/>
            <a:ext cx="4159440" cy="776160"/>
          </a:xfrm>
          <a:prstGeom prst="rect">
            <a:avLst/>
          </a:prstGeom>
          <a:solidFill>
            <a:srgbClr val="153A5B"/>
          </a:solidFill>
          <a:ln w="10160">
            <a:solidFill>
              <a:srgbClr val="153A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2770560" y="149040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CPF / PSCF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6858000" y="1417320"/>
            <a:ext cx="4159440" cy="776160"/>
          </a:xfrm>
          <a:prstGeom prst="rect">
            <a:avLst/>
          </a:prstGeom>
          <a:solidFill>
            <a:srgbClr val="153A5B"/>
          </a:solidFill>
          <a:ln w="10160">
            <a:solidFill>
              <a:srgbClr val="153A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6931080" y="149040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CWT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685800" y="2194560"/>
            <a:ext cx="2010600" cy="77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0"/>
          <p:cNvSpPr/>
          <p:nvPr/>
        </p:nvSpPr>
        <p:spPr>
          <a:xfrm>
            <a:off x="758880" y="2267640"/>
            <a:ext cx="186444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Core question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2697480" y="2194560"/>
            <a:ext cx="4159440" cy="776160"/>
          </a:xfrm>
          <a:prstGeom prst="rect">
            <a:avLst/>
          </a:prstGeom>
          <a:solidFill>
            <a:srgbClr val="E8F6EE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2770560" y="226764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Where were trajectories during high events?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3"/>
          <p:cNvSpPr/>
          <p:nvPr/>
        </p:nvSpPr>
        <p:spPr>
          <a:xfrm>
            <a:off x="6858000" y="2194560"/>
            <a:ext cx="4159440" cy="776160"/>
          </a:xfrm>
          <a:prstGeom prst="rect">
            <a:avLst/>
          </a:prstGeom>
          <a:solidFill>
            <a:srgbClr val="FFF0DD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6931080" y="226764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Which cells are linked to higher average concentrations?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5"/>
          <p:cNvSpPr/>
          <p:nvPr/>
        </p:nvSpPr>
        <p:spPr>
          <a:xfrm>
            <a:off x="685800" y="2971800"/>
            <a:ext cx="2010600" cy="77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758880" y="3044880"/>
            <a:ext cx="186444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7"/>
          <p:cNvSpPr/>
          <p:nvPr/>
        </p:nvSpPr>
        <p:spPr>
          <a:xfrm>
            <a:off x="2697480" y="2971800"/>
            <a:ext cx="4159440" cy="776160"/>
          </a:xfrm>
          <a:prstGeom prst="rect">
            <a:avLst/>
          </a:prstGeom>
          <a:solidFill>
            <a:srgbClr val="E8F6EE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2770560" y="304488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Probability / conditional probability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6858000" y="2971800"/>
            <a:ext cx="4159440" cy="776160"/>
          </a:xfrm>
          <a:prstGeom prst="rect">
            <a:avLst/>
          </a:prstGeom>
          <a:solidFill>
            <a:srgbClr val="FFF0DD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6931080" y="304488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Concentration-weighted field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685800" y="3749040"/>
            <a:ext cx="2010600" cy="77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2"/>
          <p:cNvSpPr/>
          <p:nvPr/>
        </p:nvSpPr>
        <p:spPr>
          <a:xfrm>
            <a:off x="758880" y="3822120"/>
            <a:ext cx="186444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Strength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3"/>
          <p:cNvSpPr/>
          <p:nvPr/>
        </p:nvSpPr>
        <p:spPr>
          <a:xfrm>
            <a:off x="2697480" y="3749040"/>
            <a:ext cx="4159440" cy="776160"/>
          </a:xfrm>
          <a:prstGeom prst="rect">
            <a:avLst/>
          </a:prstGeom>
          <a:solidFill>
            <a:srgbClr val="E8F6EE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4"/>
          <p:cNvSpPr/>
          <p:nvPr/>
        </p:nvSpPr>
        <p:spPr>
          <a:xfrm>
            <a:off x="2770560" y="382212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Highlights high-event pathways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5"/>
          <p:cNvSpPr/>
          <p:nvPr/>
        </p:nvSpPr>
        <p:spPr>
          <a:xfrm>
            <a:off x="6858000" y="3749040"/>
            <a:ext cx="4159440" cy="776160"/>
          </a:xfrm>
          <a:prstGeom prst="rect">
            <a:avLst/>
          </a:prstGeom>
          <a:solidFill>
            <a:srgbClr val="FFF0DD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6"/>
          <p:cNvSpPr/>
          <p:nvPr/>
        </p:nvSpPr>
        <p:spPr>
          <a:xfrm>
            <a:off x="6931080" y="382212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Preserves concentration intensity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7"/>
          <p:cNvSpPr/>
          <p:nvPr/>
        </p:nvSpPr>
        <p:spPr>
          <a:xfrm>
            <a:off x="685800" y="4526280"/>
            <a:ext cx="2010600" cy="77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8"/>
          <p:cNvSpPr/>
          <p:nvPr/>
        </p:nvSpPr>
        <p:spPr>
          <a:xfrm>
            <a:off x="758880" y="4599360"/>
            <a:ext cx="186444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Main caution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9"/>
          <p:cNvSpPr/>
          <p:nvPr/>
        </p:nvSpPr>
        <p:spPr>
          <a:xfrm>
            <a:off x="2697480" y="4526280"/>
            <a:ext cx="4159440" cy="776160"/>
          </a:xfrm>
          <a:prstGeom prst="rect">
            <a:avLst/>
          </a:prstGeom>
          <a:solidFill>
            <a:srgbClr val="E8F6EE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0"/>
          <p:cNvSpPr/>
          <p:nvPr/>
        </p:nvSpPr>
        <p:spPr>
          <a:xfrm>
            <a:off x="2770560" y="459936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Threshold choice matters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1"/>
          <p:cNvSpPr/>
          <p:nvPr/>
        </p:nvSpPr>
        <p:spPr>
          <a:xfrm>
            <a:off x="6858000" y="4526280"/>
            <a:ext cx="4159440" cy="776160"/>
          </a:xfrm>
          <a:prstGeom prst="rect">
            <a:avLst/>
          </a:prstGeom>
          <a:solidFill>
            <a:srgbClr val="FFF0DD"/>
          </a:solidFill>
          <a:ln w="1016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2"/>
          <p:cNvSpPr/>
          <p:nvPr/>
        </p:nvSpPr>
        <p:spPr>
          <a:xfrm>
            <a:off x="6931080" y="4599360"/>
            <a:ext cx="4013280" cy="63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Hot cells can reflect trajectory frequency and outliers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3"/>
          <p:cNvSpPr/>
          <p:nvPr/>
        </p:nvSpPr>
        <p:spPr>
          <a:xfrm>
            <a:off x="1097280" y="5806440"/>
            <a:ext cx="100573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Teaching shortcut: CPF/PSCF says “how often during high events”; CWT says “how high on average”.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4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Practical choices before mapping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Method settings influence the maps. Sensitivity tests are part of the analysis.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777240" y="14630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4"/>
          <p:cNvSpPr/>
          <p:nvPr/>
        </p:nvSpPr>
        <p:spPr>
          <a:xfrm>
            <a:off x="887040" y="15728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Trajectory length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72–120 h common for regional PM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4526280" y="14630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4636080" y="15728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Starting height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test near-surface and elevated arrivals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7"/>
          <p:cNvSpPr/>
          <p:nvPr/>
        </p:nvSpPr>
        <p:spPr>
          <a:xfrm>
            <a:off x="8275320" y="14630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8"/>
          <p:cNvSpPr/>
          <p:nvPr/>
        </p:nvSpPr>
        <p:spPr>
          <a:xfrm>
            <a:off x="8385120" y="15728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Grid size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coarse enough for sufficient endpoints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9"/>
          <p:cNvSpPr/>
          <p:nvPr/>
        </p:nvSpPr>
        <p:spPr>
          <a:xfrm>
            <a:off x="777240" y="32918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0"/>
          <p:cNvSpPr/>
          <p:nvPr/>
        </p:nvSpPr>
        <p:spPr>
          <a:xfrm>
            <a:off x="887040" y="34016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High threshold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often 90th percentile for CPF/PSCF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1"/>
          <p:cNvSpPr/>
          <p:nvPr/>
        </p:nvSpPr>
        <p:spPr>
          <a:xfrm>
            <a:off x="4526280" y="32918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C64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2"/>
          <p:cNvSpPr/>
          <p:nvPr/>
        </p:nvSpPr>
        <p:spPr>
          <a:xfrm>
            <a:off x="4636080" y="34016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Minimum bin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remove or down-weight sparse cells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3"/>
          <p:cNvSpPr/>
          <p:nvPr/>
        </p:nvSpPr>
        <p:spPr>
          <a:xfrm>
            <a:off x="8275320" y="32918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7E5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4"/>
          <p:cNvSpPr/>
          <p:nvPr/>
        </p:nvSpPr>
        <p:spPr>
          <a:xfrm>
            <a:off x="8385120" y="34016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Smoothing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helps visualization but can blur details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5"/>
          <p:cNvSpPr/>
          <p:nvPr/>
        </p:nvSpPr>
        <p:spPr>
          <a:xfrm>
            <a:off x="868680" y="5623560"/>
            <a:ext cx="1051452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Always report key settings: meteorology, receptor height, trajectory duration, grid increment, percentile, min.bin and smoothing.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6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Interpretation rules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Trajectory maps suggest regions and pathways — they do not prove emission sources alone.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"/>
          <p:cNvSpPr/>
          <p:nvPr/>
        </p:nvSpPr>
        <p:spPr>
          <a:xfrm>
            <a:off x="731520" y="1463040"/>
            <a:ext cx="1827720" cy="639000"/>
          </a:xfrm>
          <a:prstGeom prst="roundRect">
            <a:avLst>
              <a:gd name="adj" fmla="val 11429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"/>
          <p:cNvSpPr/>
          <p:nvPr/>
        </p:nvSpPr>
        <p:spPr>
          <a:xfrm>
            <a:off x="841320" y="1572840"/>
            <a:ext cx="160812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914400" y="2331720"/>
            <a:ext cx="4205160" cy="27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use many trajectories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compare CPF/PSCF and CWT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check chemical tracers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test seasons and heights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cross-check with emissions and events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6720840" y="1463040"/>
            <a:ext cx="1827720" cy="639000"/>
          </a:xfrm>
          <a:prstGeom prst="roundRect">
            <a:avLst>
              <a:gd name="adj" fmla="val 11429"/>
            </a:avLst>
          </a:prstGeom>
          <a:solidFill>
            <a:srgbClr val="FCE7E4"/>
          </a:solidFill>
          <a:ln w="13970">
            <a:solidFill>
              <a:srgbClr val="C64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7"/>
          <p:cNvSpPr/>
          <p:nvPr/>
        </p:nvSpPr>
        <p:spPr>
          <a:xfrm>
            <a:off x="6830640" y="1572840"/>
            <a:ext cx="160812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Do not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8"/>
          <p:cNvSpPr/>
          <p:nvPr/>
        </p:nvSpPr>
        <p:spPr>
          <a:xfrm>
            <a:off x="6903720" y="2331720"/>
            <a:ext cx="4205160" cy="27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interpret one trajectory as proof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ignore local sources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over-read sparse grid cells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forget trajectory uncertainty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hide sensitivity choices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9"/>
          <p:cNvSpPr/>
          <p:nvPr/>
        </p:nvSpPr>
        <p:spPr>
          <a:xfrm>
            <a:off x="960120" y="5742360"/>
            <a:ext cx="102402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Best practice: combine trajectory maps with meteorology, source apportionment, satellite products, emission inventories and known events.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0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731520" y="100584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E9A8"/>
                </a:solidFill>
                <a:effectLst/>
                <a:uFillTx/>
                <a:latin typeface="Aptos"/>
                <a:ea typeface="Aptos"/>
              </a:rPr>
              <a:t>Part II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731520" y="1417320"/>
            <a:ext cx="6399720" cy="11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Practical workflow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HYSPLIT + openair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"/>
          <p:cNvSpPr/>
          <p:nvPr/>
        </p:nvSpPr>
        <p:spPr>
          <a:xfrm>
            <a:off x="777240" y="306324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DCEBFA"/>
                </a:solidFill>
                <a:effectLst/>
                <a:uFillTx/>
                <a:latin typeface="Aptos"/>
                <a:ea typeface="Aptos"/>
              </a:rPr>
              <a:t>Install tools, prepare trajectories, run CPF/PSCF and CWT examples.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777240" y="4251960"/>
            <a:ext cx="2650680" cy="501840"/>
          </a:xfrm>
          <a:prstGeom prst="roundRect">
            <a:avLst>
              <a:gd name="adj" fmla="val 14545"/>
            </a:avLst>
          </a:prstGeom>
          <a:solidFill>
            <a:srgbClr val="EDF6FF"/>
          </a:solidFill>
          <a:ln w="1524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850320" y="4297680"/>
            <a:ext cx="250452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1. Generate trajectories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5"/>
          <p:cNvSpPr/>
          <p:nvPr/>
        </p:nvSpPr>
        <p:spPr>
          <a:xfrm>
            <a:off x="3657600" y="4251960"/>
            <a:ext cx="1827720" cy="501840"/>
          </a:xfrm>
          <a:prstGeom prst="roundRect">
            <a:avLst>
              <a:gd name="adj" fmla="val 14545"/>
            </a:avLst>
          </a:prstGeom>
          <a:solidFill>
            <a:srgbClr val="E8F6EE"/>
          </a:solidFill>
          <a:ln w="1524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3730680" y="4297680"/>
            <a:ext cx="1681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2. Import to 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7"/>
          <p:cNvSpPr/>
          <p:nvPr/>
        </p:nvSpPr>
        <p:spPr>
          <a:xfrm>
            <a:off x="5715000" y="4251960"/>
            <a:ext cx="2010600" cy="501840"/>
          </a:xfrm>
          <a:prstGeom prst="roundRect">
            <a:avLst>
              <a:gd name="adj" fmla="val 14545"/>
            </a:avLst>
          </a:prstGeom>
          <a:solidFill>
            <a:srgbClr val="FFF0DD"/>
          </a:solidFill>
          <a:ln w="1524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5788080" y="4297680"/>
            <a:ext cx="1864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3. Map CPF/CWT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16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The software 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HYSPLIT generates air-mass trajectories; openair analyses and maps them with air-pollution data.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822960" y="2103120"/>
            <a:ext cx="2284920" cy="913320"/>
          </a:xfrm>
          <a:prstGeom prst="roundRect">
            <a:avLst>
              <a:gd name="adj" fmla="val 8000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932760" y="2212920"/>
            <a:ext cx="206532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HYSPLIT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trajectory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3840480" y="2103120"/>
            <a:ext cx="274212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6"/>
          <p:cNvSpPr/>
          <p:nvPr/>
        </p:nvSpPr>
        <p:spPr>
          <a:xfrm>
            <a:off x="3950280" y="2212920"/>
            <a:ext cx="252252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Trajectory endpoint table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date • lat • lon • hour.inc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7"/>
          <p:cNvSpPr/>
          <p:nvPr/>
        </p:nvSpPr>
        <p:spPr>
          <a:xfrm>
            <a:off x="7315200" y="2103120"/>
            <a:ext cx="3016440" cy="913320"/>
          </a:xfrm>
          <a:prstGeom prst="roundRect">
            <a:avLst>
              <a:gd name="adj" fmla="val 8000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8"/>
          <p:cNvSpPr/>
          <p:nvPr/>
        </p:nvSpPr>
        <p:spPr>
          <a:xfrm>
            <a:off x="7425000" y="2212920"/>
            <a:ext cx="279684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openair in 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trajPlot • trajLevel • trajCluster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9"/>
          <p:cNvSpPr/>
          <p:nvPr/>
        </p:nvSpPr>
        <p:spPr>
          <a:xfrm>
            <a:off x="3200400" y="2560320"/>
            <a:ext cx="502920" cy="360"/>
          </a:xfrm>
          <a:prstGeom prst="line">
            <a:avLst/>
          </a:prstGeom>
          <a:ln w="3175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6720840" y="2560320"/>
            <a:ext cx="457200" cy="360"/>
          </a:xfrm>
          <a:prstGeom prst="line">
            <a:avLst/>
          </a:prstGeom>
          <a:ln w="3175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1"/>
          <p:cNvSpPr/>
          <p:nvPr/>
        </p:nvSpPr>
        <p:spPr>
          <a:xfrm>
            <a:off x="3840480" y="4114800"/>
            <a:ext cx="2742120" cy="776160"/>
          </a:xfrm>
          <a:prstGeom prst="roundRect">
            <a:avLst>
              <a:gd name="adj" fmla="val 9412"/>
            </a:avLst>
          </a:prstGeom>
          <a:solidFill>
            <a:srgbClr val="FFF8DC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3950280" y="4224600"/>
            <a:ext cx="252252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PM / species time series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joined by arrival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3"/>
          <p:cNvSpPr/>
          <p:nvPr/>
        </p:nvSpPr>
        <p:spPr>
          <a:xfrm flipV="1">
            <a:off x="5212080" y="3108960"/>
            <a:ext cx="360" cy="960120"/>
          </a:xfrm>
          <a:prstGeom prst="line">
            <a:avLst/>
          </a:prstGeom>
          <a:ln w="2794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4"/>
          <p:cNvSpPr/>
          <p:nvPr/>
        </p:nvSpPr>
        <p:spPr>
          <a:xfrm>
            <a:off x="1097280" y="5715000"/>
            <a:ext cx="9874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Minimum data idea: every trajectory endpoint inherits the pollutant concentration measured when the air mass arrived at the receptor.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5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Install R, RStudio and openair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openair is installed from CRAN and used inside R or RStudio.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3"/>
          <p:cNvSpPr/>
          <p:nvPr/>
        </p:nvSpPr>
        <p:spPr>
          <a:xfrm>
            <a:off x="731520" y="1600200"/>
            <a:ext cx="2010600" cy="867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"/>
          <p:cNvSpPr/>
          <p:nvPr/>
        </p:nvSpPr>
        <p:spPr>
          <a:xfrm>
            <a:off x="841320" y="1710000"/>
            <a:ext cx="1791000" cy="64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Install 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3063240" y="1600200"/>
            <a:ext cx="2284920" cy="867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6"/>
          <p:cNvSpPr/>
          <p:nvPr/>
        </p:nvSpPr>
        <p:spPr>
          <a:xfrm>
            <a:off x="3173040" y="1710000"/>
            <a:ext cx="2065320" cy="64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Install RStudio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(optional but recommended)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7"/>
          <p:cNvSpPr/>
          <p:nvPr/>
        </p:nvSpPr>
        <p:spPr>
          <a:xfrm>
            <a:off x="5715000" y="1600200"/>
            <a:ext cx="2102040" cy="867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8"/>
          <p:cNvSpPr/>
          <p:nvPr/>
        </p:nvSpPr>
        <p:spPr>
          <a:xfrm>
            <a:off x="5824800" y="1710000"/>
            <a:ext cx="1882440" cy="64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Install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9"/>
          <p:cNvSpPr/>
          <p:nvPr/>
        </p:nvSpPr>
        <p:spPr>
          <a:xfrm>
            <a:off x="8229600" y="1600200"/>
            <a:ext cx="2102040" cy="867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0"/>
          <p:cNvSpPr/>
          <p:nvPr/>
        </p:nvSpPr>
        <p:spPr>
          <a:xfrm>
            <a:off x="8339400" y="1710000"/>
            <a:ext cx="1882440" cy="64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Load libraries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1"/>
          <p:cNvSpPr/>
          <p:nvPr/>
        </p:nvSpPr>
        <p:spPr>
          <a:xfrm>
            <a:off x="960120" y="3063240"/>
            <a:ext cx="10240200" cy="169056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2"/>
          <p:cNvSpPr/>
          <p:nvPr/>
        </p:nvSpPr>
        <p:spPr>
          <a:xfrm>
            <a:off x="1106280" y="3209400"/>
            <a:ext cx="9947520" cy="139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install.packages("openair")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install.packages(c("tidyverse", "lubridate"))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library(openair)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library(tidyverse)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library(lubridate)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3"/>
          <p:cNvSpPr/>
          <p:nvPr/>
        </p:nvSpPr>
        <p:spPr>
          <a:xfrm>
            <a:off x="960120" y="5257800"/>
            <a:ext cx="102402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Tip: after loading openair, use ?openair or ?trajLevel for function documentation.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4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openair data requirements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Correct column names and date formatting prevent most problems.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"/>
          <p:cNvSpPr/>
          <p:nvPr/>
        </p:nvSpPr>
        <p:spPr>
          <a:xfrm>
            <a:off x="777240" y="1508760"/>
            <a:ext cx="2559240" cy="639000"/>
          </a:xfrm>
          <a:prstGeom prst="roundRect">
            <a:avLst>
              <a:gd name="adj" fmla="val 11429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887040" y="1618560"/>
            <a:ext cx="233964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Air-quality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5"/>
          <p:cNvSpPr/>
          <p:nvPr/>
        </p:nvSpPr>
        <p:spPr>
          <a:xfrm>
            <a:off x="4800600" y="1508760"/>
            <a:ext cx="2559240" cy="639000"/>
          </a:xfrm>
          <a:prstGeom prst="roundRect">
            <a:avLst>
              <a:gd name="adj" fmla="val 11429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6"/>
          <p:cNvSpPr/>
          <p:nvPr/>
        </p:nvSpPr>
        <p:spPr>
          <a:xfrm>
            <a:off x="4910400" y="1618560"/>
            <a:ext cx="233964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Trajectory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7"/>
          <p:cNvSpPr/>
          <p:nvPr/>
        </p:nvSpPr>
        <p:spPr>
          <a:xfrm>
            <a:off x="8641080" y="1508760"/>
            <a:ext cx="2559240" cy="639000"/>
          </a:xfrm>
          <a:prstGeom prst="roundRect">
            <a:avLst>
              <a:gd name="adj" fmla="val 11429"/>
            </a:avLst>
          </a:prstGeom>
          <a:solidFill>
            <a:srgbClr val="FFF0DD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8"/>
          <p:cNvSpPr/>
          <p:nvPr/>
        </p:nvSpPr>
        <p:spPr>
          <a:xfrm>
            <a:off x="8750880" y="1618560"/>
            <a:ext cx="233964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Joined dataset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9"/>
          <p:cNvSpPr/>
          <p:nvPr/>
        </p:nvSpPr>
        <p:spPr>
          <a:xfrm>
            <a:off x="868680" y="2514600"/>
            <a:ext cx="3290760" cy="20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date column in POSIXct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pollutants as numeric columns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ws and wd for local wind analyses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0"/>
          <p:cNvSpPr/>
          <p:nvPr/>
        </p:nvSpPr>
        <p:spPr>
          <a:xfrm>
            <a:off x="4892040" y="2514600"/>
            <a:ext cx="3107880" cy="20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date = arrival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date2 = endpoint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lat, lon, height, hour.inc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1"/>
          <p:cNvSpPr/>
          <p:nvPr/>
        </p:nvSpPr>
        <p:spPr>
          <a:xfrm>
            <a:off x="8732520" y="2514600"/>
            <a:ext cx="3107880" cy="20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merge by date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each endpoint carries arrival concentration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ready for trajPlot and trajLevel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2"/>
          <p:cNvSpPr/>
          <p:nvPr/>
        </p:nvSpPr>
        <p:spPr>
          <a:xfrm>
            <a:off x="960120" y="5577840"/>
            <a:ext cx="102402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Column names are case-sensitive: use date, lat, lon, hour.inc, ws and wd where relevant.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3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19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HYSPLIT: two ways to work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Use the web version for quick runs, or install locally for repeated / scripted analyses.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"/>
          <p:cNvSpPr/>
          <p:nvPr/>
        </p:nvSpPr>
        <p:spPr>
          <a:xfrm>
            <a:off x="777240" y="1554480"/>
            <a:ext cx="3107880" cy="684720"/>
          </a:xfrm>
          <a:prstGeom prst="roundRect">
            <a:avLst>
              <a:gd name="adj" fmla="val 10667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887040" y="1664280"/>
            <a:ext cx="288828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READY web version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960120" y="2514600"/>
            <a:ext cx="3199320" cy="20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no local install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good for teaching and small numbers of trajectories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manual setup through web forms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5989320" y="1554480"/>
            <a:ext cx="3290760" cy="684720"/>
          </a:xfrm>
          <a:prstGeom prst="roundRect">
            <a:avLst>
              <a:gd name="adj" fmla="val 10667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6099120" y="1664280"/>
            <a:ext cx="3071160" cy="46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Desktop / local HYSPLIT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6172200" y="2514600"/>
            <a:ext cx="3473640" cy="20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Windows, Mac and Linux options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GUI and script workflows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better for batch trajectory production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1097280" y="5577840"/>
            <a:ext cx="9874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For training: start with READY web trajectories, then move to local HYSPLIT when the analysis requires many receptor times, heights or sites.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0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3108600" cy="6857640"/>
          </a:xfrm>
          <a:prstGeom prst="rect">
            <a:avLst/>
          </a:prstGeom>
          <a:solidFill>
            <a:srgbClr val="14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5" name="TextBox 2"/>
          <p:cNvSpPr/>
          <p:nvPr/>
        </p:nvSpPr>
        <p:spPr>
          <a:xfrm>
            <a:off x="502920" y="10972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 IIa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3"/>
          <p:cNvSpPr/>
          <p:nvPr/>
        </p:nvSpPr>
        <p:spPr>
          <a:xfrm>
            <a:off x="502920" y="1600200"/>
            <a:ext cx="219420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Installing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HYSPLIT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locally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4"/>
          <p:cNvSpPr/>
          <p:nvPr/>
        </p:nvSpPr>
        <p:spPr>
          <a:xfrm>
            <a:off x="530280" y="32461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DEE8F5"/>
                </a:solidFill>
                <a:effectLst/>
                <a:uFillTx/>
                <a:latin typeface="Aptos"/>
              </a:rPr>
              <a:t>A Windows-focused procedure for trajectory calculation and openair workflows.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5"/>
          <p:cNvSpPr/>
          <p:nvPr/>
        </p:nvSpPr>
        <p:spPr>
          <a:xfrm>
            <a:off x="502920" y="2286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HYSPLIT installation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530280" y="749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No screenshots: procedure only. Use the READY web version for quick demonstrations; install locally for batch work.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7"/>
          <p:cNvSpPr/>
          <p:nvPr/>
        </p:nvSpPr>
        <p:spPr>
          <a:xfrm>
            <a:off x="502920" y="1078920"/>
            <a:ext cx="11109600" cy="3636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21" name="TextBox 8"/>
          <p:cNvSpPr/>
          <p:nvPr/>
        </p:nvSpPr>
        <p:spPr>
          <a:xfrm>
            <a:off x="11201400" y="228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ounded Rectangle 9"/>
          <p:cNvSpPr/>
          <p:nvPr/>
        </p:nvSpPr>
        <p:spPr>
          <a:xfrm>
            <a:off x="3931920" y="214884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1 Utilities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Install Tcl/Tk + graphics tools first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ounded Rectangle 10"/>
          <p:cNvSpPr/>
          <p:nvPr/>
        </p:nvSpPr>
        <p:spPr>
          <a:xfrm>
            <a:off x="6080760" y="214884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4B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2 HYSPLIT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Download and install the model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ounded Rectangle 11"/>
          <p:cNvSpPr/>
          <p:nvPr/>
        </p:nvSpPr>
        <p:spPr>
          <a:xfrm>
            <a:off x="8229600" y="214884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C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3 Configure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Check GUI paths and shortcut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12"/>
          <p:cNvSpPr/>
          <p:nvPr/>
        </p:nvSpPr>
        <p:spPr>
          <a:xfrm>
            <a:off x="10378440" y="214884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A8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4 Test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Run one backward trajectory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3"/>
          <p:cNvSpPr/>
          <p:nvPr/>
        </p:nvSpPr>
        <p:spPr>
          <a:xfrm>
            <a:off x="3977640" y="3977640"/>
            <a:ext cx="71319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Install to a simple folder such as C:\hysplit and avoid spaces in paths.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The public/unregistered version is sufficient for trajectory calculations.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Verify that the GUI opens and that a sample trajectory runs before producing many trajectories.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4"/>
          <p:cNvSpPr/>
          <p:nvPr/>
        </p:nvSpPr>
        <p:spPr>
          <a:xfrm>
            <a:off x="3977640" y="571500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Source: uploaded HYSPLIT installation PDF and NOAA ARL Windows installation guidance.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"/>
          <p:cNvSpPr/>
          <p:nvPr/>
        </p:nvSpPr>
        <p:spPr>
          <a:xfrm>
            <a:off x="502920" y="2286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Install locally or use READY web?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"/>
          <p:cNvSpPr/>
          <p:nvPr/>
        </p:nvSpPr>
        <p:spPr>
          <a:xfrm>
            <a:off x="530280" y="749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Choose the simplest workflow that matches the task.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3"/>
          <p:cNvSpPr/>
          <p:nvPr/>
        </p:nvSpPr>
        <p:spPr>
          <a:xfrm>
            <a:off x="502920" y="1078920"/>
            <a:ext cx="11109600" cy="3636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1" name="TextBox 4"/>
          <p:cNvSpPr/>
          <p:nvPr/>
        </p:nvSpPr>
        <p:spPr>
          <a:xfrm>
            <a:off x="11201400" y="228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21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ounded Rectangle 5"/>
          <p:cNvSpPr/>
          <p:nvPr/>
        </p:nvSpPr>
        <p:spPr>
          <a:xfrm>
            <a:off x="777240" y="1645920"/>
            <a:ext cx="4983120" cy="548280"/>
          </a:xfrm>
          <a:prstGeom prst="roundRect">
            <a:avLst>
              <a:gd name="adj" fmla="val 16667"/>
            </a:avLst>
          </a:prstGeom>
          <a:solidFill>
            <a:srgbClr val="DDEBF7"/>
          </a:solidFill>
          <a:ln w="1524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READY web version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6"/>
          <p:cNvSpPr/>
          <p:nvPr/>
        </p:nvSpPr>
        <p:spPr>
          <a:xfrm>
            <a:off x="6446520" y="1645920"/>
            <a:ext cx="4983120" cy="548280"/>
          </a:xfrm>
          <a:prstGeom prst="roundRect">
            <a:avLst>
              <a:gd name="adj" fmla="val 16667"/>
            </a:avLst>
          </a:prstGeom>
          <a:solidFill>
            <a:srgbClr val="E4F4EB"/>
          </a:solidFill>
          <a:ln w="15240">
            <a:solidFill>
              <a:srgbClr val="4B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Local desktop installation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7"/>
          <p:cNvSpPr/>
          <p:nvPr/>
        </p:nvSpPr>
        <p:spPr>
          <a:xfrm>
            <a:off x="1005840" y="2468880"/>
            <a:ext cx="448020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No local model installation.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Good for teaching and single trajectories.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Useful when only a few receptor times are needed.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Less convenient for large batches or automated workflows.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8"/>
          <p:cNvSpPr/>
          <p:nvPr/>
        </p:nvSpPr>
        <p:spPr>
          <a:xfrm>
            <a:off x="6675120" y="2468880"/>
            <a:ext cx="448020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Runs through GUI or scripts.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Better for repeated analyses, many dates, multiple heights or sites.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Requires utilities and correct path configuration.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Recommended for reproducible research workflows.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ounded Rectangle 9"/>
          <p:cNvSpPr/>
          <p:nvPr/>
        </p:nvSpPr>
        <p:spPr>
          <a:xfrm>
            <a:off x="2286000" y="5440680"/>
            <a:ext cx="7589160" cy="639720"/>
          </a:xfrm>
          <a:prstGeom prst="roundRect">
            <a:avLst>
              <a:gd name="adj" fmla="val 16667"/>
            </a:avLst>
          </a:prstGeom>
          <a:solidFill>
            <a:srgbClr val="FFF4D4"/>
          </a:solidFill>
          <a:ln w="15240">
            <a:solidFill>
              <a:srgbClr val="DC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Teaching sequence: demonstrate with READY → install locally → automate batch trajectories.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Box 1"/>
          <p:cNvSpPr/>
          <p:nvPr/>
        </p:nvSpPr>
        <p:spPr>
          <a:xfrm>
            <a:off x="502920" y="2286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Step 1 — choose the HYSPLIT download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2"/>
          <p:cNvSpPr/>
          <p:nvPr/>
        </p:nvSpPr>
        <p:spPr>
          <a:xfrm>
            <a:off x="530280" y="749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For this course, the public/unregistered version is enough for trajectory exercises.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3"/>
          <p:cNvSpPr/>
          <p:nvPr/>
        </p:nvSpPr>
        <p:spPr>
          <a:xfrm>
            <a:off x="502920" y="1078920"/>
            <a:ext cx="11109600" cy="3636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0" name="TextBox 4"/>
          <p:cNvSpPr/>
          <p:nvPr/>
        </p:nvSpPr>
        <p:spPr>
          <a:xfrm>
            <a:off x="11201400" y="228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22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ounded Rectangle 5"/>
          <p:cNvSpPr/>
          <p:nvPr/>
        </p:nvSpPr>
        <p:spPr>
          <a:xfrm>
            <a:off x="777240" y="1508760"/>
            <a:ext cx="3017160" cy="1188360"/>
          </a:xfrm>
          <a:prstGeom prst="roundRect">
            <a:avLst>
              <a:gd name="adj" fmla="val 16667"/>
            </a:avLst>
          </a:prstGeom>
          <a:solidFill>
            <a:srgbClr val="DDEBF7"/>
          </a:solidFill>
          <a:ln w="1524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20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Public / unregistered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6"/>
          <p:cNvSpPr/>
          <p:nvPr/>
        </p:nvSpPr>
        <p:spPr>
          <a:xfrm>
            <a:off x="4069080" y="1536120"/>
            <a:ext cx="68576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Use this for computing archive or forecast back trajectories. It is suitable for CPF/PSCF, CWT and clustering exercises because those methods only need trajectory endpoints.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ounded Rectangle 7"/>
          <p:cNvSpPr/>
          <p:nvPr/>
        </p:nvSpPr>
        <p:spPr>
          <a:xfrm>
            <a:off x="777240" y="3063240"/>
            <a:ext cx="301716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A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200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Registered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8"/>
          <p:cNvSpPr/>
          <p:nvPr/>
        </p:nvSpPr>
        <p:spPr>
          <a:xfrm>
            <a:off x="4069080" y="3063240"/>
            <a:ext cx="68576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Registration mainly affects some dispersion/concentration calculations with forecast meteorology. It is not required for the trajectory-only workflow used in this presentation.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9"/>
          <p:cNvSpPr/>
          <p:nvPr/>
        </p:nvSpPr>
        <p:spPr>
          <a:xfrm>
            <a:off x="1280160" y="4983480"/>
            <a:ext cx="9692280" cy="731160"/>
          </a:xfrm>
          <a:prstGeom prst="roundRect">
            <a:avLst>
              <a:gd name="adj" fmla="val 16667"/>
            </a:avLst>
          </a:prstGeom>
          <a:solidFill>
            <a:srgbClr val="FFF4D4"/>
          </a:solidFill>
          <a:ln w="15240">
            <a:solidFill>
              <a:srgbClr val="DC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Install path recommendation: C:\hysplit  — avoid folders with spaces, such as “Program Files”.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10"/>
          <p:cNvSpPr/>
          <p:nvPr/>
        </p:nvSpPr>
        <p:spPr>
          <a:xfrm>
            <a:off x="1280160" y="592524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Note: older HYSPLIT4 tutorials may refer to C:\hysplit4; use the path that matches your installation and update examples accordingly.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Box 1"/>
          <p:cNvSpPr/>
          <p:nvPr/>
        </p:nvSpPr>
        <p:spPr>
          <a:xfrm>
            <a:off x="502920" y="2286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Step 2 — install required utilities first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2"/>
          <p:cNvSpPr/>
          <p:nvPr/>
        </p:nvSpPr>
        <p:spPr>
          <a:xfrm>
            <a:off x="530280" y="749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The HYSPLIT model can run from command line, but the GUI and graphics need supporting tools.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3"/>
          <p:cNvSpPr/>
          <p:nvPr/>
        </p:nvSpPr>
        <p:spPr>
          <a:xfrm>
            <a:off x="502920" y="1078920"/>
            <a:ext cx="11109600" cy="3636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50" name="TextBox 4"/>
          <p:cNvSpPr/>
          <p:nvPr/>
        </p:nvSpPr>
        <p:spPr>
          <a:xfrm>
            <a:off x="11201400" y="228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23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ounded Rectangle 5"/>
          <p:cNvSpPr/>
          <p:nvPr/>
        </p:nvSpPr>
        <p:spPr>
          <a:xfrm>
            <a:off x="685800" y="1645920"/>
            <a:ext cx="214848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Tcl/Tk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Required to run the HYSPLIT graphical user interface. If using ARL tcl.zip, unzip it for example to C:\tcl.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ounded Rectangle 6"/>
          <p:cNvSpPr/>
          <p:nvPr/>
        </p:nvSpPr>
        <p:spPr>
          <a:xfrm>
            <a:off x="3611880" y="1645920"/>
            <a:ext cx="214848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A8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Ghostscript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Used for viewing/printing PostScript graphics generated by HYSPLIT plotting programs.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ounded Rectangle 7"/>
          <p:cNvSpPr/>
          <p:nvPr/>
        </p:nvSpPr>
        <p:spPr>
          <a:xfrm>
            <a:off x="6537960" y="1645920"/>
            <a:ext cx="214848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C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GSView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Legacy PostScript viewer. It may be useful for older workflows, but it is no longer actively supported.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ounded Rectangle 8"/>
          <p:cNvSpPr/>
          <p:nvPr/>
        </p:nvSpPr>
        <p:spPr>
          <a:xfrm>
            <a:off x="9464040" y="1645920"/>
            <a:ext cx="214848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4B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ImageMagick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Used to convert PostScript graphics. During installation, enable legacy utilities when prompted.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ounded Rectangle 9"/>
          <p:cNvSpPr/>
          <p:nvPr/>
        </p:nvSpPr>
        <p:spPr>
          <a:xfrm>
            <a:off x="914400" y="4069080"/>
            <a:ext cx="10332360" cy="685440"/>
          </a:xfrm>
          <a:prstGeom prst="roundRect">
            <a:avLst>
              <a:gd name="adj" fmla="val 16667"/>
            </a:avLst>
          </a:prstGeom>
          <a:solidFill>
            <a:srgbClr val="DDEBF7"/>
          </a:solidFill>
          <a:ln w="1524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Recommended order: Tcl/Tk → Ghostscript / GSView → ImageMagick → HYSPLIT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0"/>
          <p:cNvSpPr/>
          <p:nvPr/>
        </p:nvSpPr>
        <p:spPr>
          <a:xfrm>
            <a:off x="1051560" y="5074920"/>
            <a:ext cx="99666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If utilities are already installed from a previous HYSPLIT version, they usually do not need to be reinstalled.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Administrator rights may be required, especially on institutional computers.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Box 1"/>
          <p:cNvSpPr/>
          <p:nvPr/>
        </p:nvSpPr>
        <p:spPr>
          <a:xfrm>
            <a:off x="502920" y="2286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Step 3 — install HYSPLIT on Windows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2"/>
          <p:cNvSpPr/>
          <p:nvPr/>
        </p:nvSpPr>
        <p:spPr>
          <a:xfrm>
            <a:off x="530280" y="749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After utilities are installed, install the model itself.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3"/>
          <p:cNvSpPr/>
          <p:nvPr/>
        </p:nvSpPr>
        <p:spPr>
          <a:xfrm>
            <a:off x="502920" y="1078920"/>
            <a:ext cx="11109600" cy="3636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60" name="TextBox 4"/>
          <p:cNvSpPr/>
          <p:nvPr/>
        </p:nvSpPr>
        <p:spPr>
          <a:xfrm>
            <a:off x="11201400" y="228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24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Oval 5"/>
          <p:cNvSpPr/>
          <p:nvPr/>
        </p:nvSpPr>
        <p:spPr>
          <a:xfrm>
            <a:off x="822960" y="1527120"/>
            <a:ext cx="438480" cy="438480"/>
          </a:xfrm>
          <a:prstGeom prst="ellipse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6"/>
          <p:cNvSpPr/>
          <p:nvPr/>
        </p:nvSpPr>
        <p:spPr>
          <a:xfrm>
            <a:off x="1389960" y="1417320"/>
            <a:ext cx="9856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F69B4"/>
                </a:solidFill>
                <a:effectLst/>
                <a:uFillTx/>
                <a:latin typeface="Aptos"/>
              </a:rPr>
              <a:t>Open the NOAA ARL HYSPLIT download page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7"/>
          <p:cNvSpPr/>
          <p:nvPr/>
        </p:nvSpPr>
        <p:spPr>
          <a:xfrm>
            <a:off x="1389960" y="1737360"/>
            <a:ext cx="98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Use the official READY / HYSPLIT pages and select the Windows PC version.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Oval 8"/>
          <p:cNvSpPr/>
          <p:nvPr/>
        </p:nvSpPr>
        <p:spPr>
          <a:xfrm>
            <a:off x="822960" y="2304360"/>
            <a:ext cx="438480" cy="438480"/>
          </a:xfrm>
          <a:prstGeom prst="ellipse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9"/>
          <p:cNvSpPr/>
          <p:nvPr/>
        </p:nvSpPr>
        <p:spPr>
          <a:xfrm>
            <a:off x="1389960" y="2194560"/>
            <a:ext cx="9856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F69B4"/>
                </a:solidFill>
                <a:effectLst/>
                <a:uFillTx/>
                <a:latin typeface="Aptos"/>
              </a:rPr>
              <a:t>Read the use agreement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0"/>
          <p:cNvSpPr/>
          <p:nvPr/>
        </p:nvSpPr>
        <p:spPr>
          <a:xfrm>
            <a:off x="1389960" y="2514600"/>
            <a:ext cx="98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The download page requires confirmation of the HYSPLIT use agreement.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Oval 11"/>
          <p:cNvSpPr/>
          <p:nvPr/>
        </p:nvSpPr>
        <p:spPr>
          <a:xfrm>
            <a:off x="822960" y="3081600"/>
            <a:ext cx="438480" cy="438480"/>
          </a:xfrm>
          <a:prstGeom prst="ellipse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12"/>
          <p:cNvSpPr/>
          <p:nvPr/>
        </p:nvSpPr>
        <p:spPr>
          <a:xfrm>
            <a:off x="1389960" y="2971800"/>
            <a:ext cx="9856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F69B4"/>
                </a:solidFill>
                <a:effectLst/>
                <a:uFillTx/>
                <a:latin typeface="Aptos"/>
              </a:rPr>
              <a:t>Enter your email and agree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3"/>
          <p:cNvSpPr/>
          <p:nvPr/>
        </p:nvSpPr>
        <p:spPr>
          <a:xfrm>
            <a:off x="1389960" y="3291840"/>
            <a:ext cx="98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Provide an email address if requested, then proceed to the download link.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Oval 14"/>
          <p:cNvSpPr/>
          <p:nvPr/>
        </p:nvSpPr>
        <p:spPr>
          <a:xfrm>
            <a:off x="822960" y="3858840"/>
            <a:ext cx="438480" cy="438480"/>
          </a:xfrm>
          <a:prstGeom prst="ellipse">
            <a:avLst/>
          </a:prstGeom>
          <a:solidFill>
            <a:srgbClr val="4B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15"/>
          <p:cNvSpPr/>
          <p:nvPr/>
        </p:nvSpPr>
        <p:spPr>
          <a:xfrm>
            <a:off x="1389960" y="3749040"/>
            <a:ext cx="9856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4B965A"/>
                </a:solidFill>
                <a:effectLst/>
                <a:uFillTx/>
                <a:latin typeface="Aptos"/>
              </a:rPr>
              <a:t>Run the installer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6"/>
          <p:cNvSpPr/>
          <p:nvPr/>
        </p:nvSpPr>
        <p:spPr>
          <a:xfrm>
            <a:off x="1389960" y="4069080"/>
            <a:ext cx="98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Use the 64-bit Windows installer or unzip the distribution according to the NOAA instructions.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Oval 17"/>
          <p:cNvSpPr/>
          <p:nvPr/>
        </p:nvSpPr>
        <p:spPr>
          <a:xfrm>
            <a:off x="822960" y="4636080"/>
            <a:ext cx="438480" cy="438480"/>
          </a:xfrm>
          <a:prstGeom prst="ellipse">
            <a:avLst/>
          </a:prstGeom>
          <a:solidFill>
            <a:srgbClr val="4B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18"/>
          <p:cNvSpPr/>
          <p:nvPr/>
        </p:nvSpPr>
        <p:spPr>
          <a:xfrm>
            <a:off x="1389960" y="4526280"/>
            <a:ext cx="9856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4B965A"/>
                </a:solidFill>
                <a:effectLst/>
                <a:uFillTx/>
                <a:latin typeface="Aptos"/>
              </a:rPr>
              <a:t>Choose a simple folder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19"/>
          <p:cNvSpPr/>
          <p:nvPr/>
        </p:nvSpPr>
        <p:spPr>
          <a:xfrm>
            <a:off x="1389960" y="4846320"/>
            <a:ext cx="98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Install to C:\hysplit or another path without spaces. Keep the location consistent for scripts and examples.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ounded Rectangle 20"/>
          <p:cNvSpPr/>
          <p:nvPr/>
        </p:nvSpPr>
        <p:spPr>
          <a:xfrm>
            <a:off x="1097280" y="5532120"/>
            <a:ext cx="9966600" cy="548280"/>
          </a:xfrm>
          <a:prstGeom prst="roundRect">
            <a:avLst>
              <a:gd name="adj" fmla="val 16667"/>
            </a:avLst>
          </a:prstGeom>
          <a:solidFill>
            <a:srgbClr val="FFF4D4"/>
          </a:solidFill>
          <a:ln w="15240">
            <a:solidFill>
              <a:srgbClr val="DC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Before moving to openair: confirm that HYSPLIT can produce one trajectory endpoint output file.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Box 1"/>
          <p:cNvSpPr/>
          <p:nvPr/>
        </p:nvSpPr>
        <p:spPr>
          <a:xfrm>
            <a:off x="502920" y="2286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Step 4 — configure the shortcut and test the GUI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2"/>
          <p:cNvSpPr/>
          <p:nvPr/>
        </p:nvSpPr>
        <p:spPr>
          <a:xfrm>
            <a:off x="530280" y="749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This is mainly needed when Tcl/Tk was installed separately or from the ARL zip file.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3"/>
          <p:cNvSpPr/>
          <p:nvPr/>
        </p:nvSpPr>
        <p:spPr>
          <a:xfrm>
            <a:off x="502920" y="1078920"/>
            <a:ext cx="11109600" cy="3636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0" name="TextBox 4"/>
          <p:cNvSpPr/>
          <p:nvPr/>
        </p:nvSpPr>
        <p:spPr>
          <a:xfrm>
            <a:off x="11201400" y="228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5"/>
          <p:cNvSpPr/>
          <p:nvPr/>
        </p:nvSpPr>
        <p:spPr>
          <a:xfrm>
            <a:off x="777240" y="1417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Check the desktop shortcut target. The Tcl/Tk interpreter should call the HYSPLIT GUI script.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ounded Rectangle 6"/>
          <p:cNvSpPr/>
          <p:nvPr/>
        </p:nvSpPr>
        <p:spPr>
          <a:xfrm>
            <a:off x="914400" y="1965960"/>
            <a:ext cx="10240920" cy="7768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323741"/>
                </a:solidFill>
                <a:effectLst/>
                <a:uFillTx/>
                <a:latin typeface="Cascadia Mono"/>
              </a:rPr>
              <a:t>C:\tcl\bin\wish86t.exe C:\hysplit\guicode\hysplit.tcl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7"/>
          <p:cNvSpPr/>
          <p:nvPr/>
        </p:nvSpPr>
        <p:spPr>
          <a:xfrm>
            <a:off x="1005840" y="3063240"/>
            <a:ext cx="502884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Right-click “Run Hysplit” and open Properties.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In Target, place the Tcl/Tk interpreter before the HYSPLIT Tcl script.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Separate the two paths with one blank space.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Use the correct folder names for your installation.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8"/>
          <p:cNvSpPr/>
          <p:nvPr/>
        </p:nvSpPr>
        <p:spPr>
          <a:xfrm>
            <a:off x="6446520" y="3063240"/>
            <a:ext cx="47545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Open the GUI.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Run one simple backward trajectory.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Check that a plot and endpoint file are created.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Only then proceed to batch trajectory production.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ounded Rectangle 9"/>
          <p:cNvSpPr/>
          <p:nvPr/>
        </p:nvSpPr>
        <p:spPr>
          <a:xfrm>
            <a:off x="1097280" y="5532120"/>
            <a:ext cx="9875160" cy="548280"/>
          </a:xfrm>
          <a:prstGeom prst="roundRect">
            <a:avLst>
              <a:gd name="adj" fmla="val 16667"/>
            </a:avLst>
          </a:prstGeom>
          <a:solidFill>
            <a:srgbClr val="DDEBF7"/>
          </a:solidFill>
          <a:ln w="1524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Older installations may use C:\hysplit4\guicode\hysplit4.tcl — always match the command to your installed folder.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Box 1"/>
          <p:cNvSpPr/>
          <p:nvPr/>
        </p:nvSpPr>
        <p:spPr>
          <a:xfrm>
            <a:off x="502920" y="2286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4385F"/>
                </a:solidFill>
                <a:effectLst/>
                <a:uFillTx/>
                <a:latin typeface="Aptos"/>
              </a:rPr>
              <a:t>HYSPLIT installation: checklist and troubleshooting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2"/>
          <p:cNvSpPr/>
          <p:nvPr/>
        </p:nvSpPr>
        <p:spPr>
          <a:xfrm>
            <a:off x="530280" y="749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Most problems come from paths, permissions, utilities, or missing meteorological data.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3"/>
          <p:cNvSpPr/>
          <p:nvPr/>
        </p:nvSpPr>
        <p:spPr>
          <a:xfrm>
            <a:off x="502920" y="1078920"/>
            <a:ext cx="11109600" cy="3636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9" name="TextBox 4"/>
          <p:cNvSpPr/>
          <p:nvPr/>
        </p:nvSpPr>
        <p:spPr>
          <a:xfrm>
            <a:off x="11201400" y="228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Rounded Rectangle 5"/>
          <p:cNvSpPr/>
          <p:nvPr/>
        </p:nvSpPr>
        <p:spPr>
          <a:xfrm>
            <a:off x="685800" y="1508760"/>
            <a:ext cx="2148480" cy="297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91" name="TextBox 6"/>
          <p:cNvSpPr/>
          <p:nvPr/>
        </p:nvSpPr>
        <p:spPr>
          <a:xfrm>
            <a:off x="82296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F69B4"/>
                </a:solidFill>
                <a:effectLst/>
                <a:uFillTx/>
                <a:latin typeface="Aptos"/>
              </a:rPr>
              <a:t>Path problems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7"/>
          <p:cNvSpPr/>
          <p:nvPr/>
        </p:nvSpPr>
        <p:spPr>
          <a:xfrm>
            <a:off x="914400" y="224028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Avoid spaces in folder names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Use C:\hysplit or similar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Check shortcut target carefully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ounded Rectangle 8"/>
          <p:cNvSpPr/>
          <p:nvPr/>
        </p:nvSpPr>
        <p:spPr>
          <a:xfrm>
            <a:off x="3611880" y="1508760"/>
            <a:ext cx="2148480" cy="297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C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94" name="TextBox 9"/>
          <p:cNvSpPr/>
          <p:nvPr/>
        </p:nvSpPr>
        <p:spPr>
          <a:xfrm>
            <a:off x="374904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DC8432"/>
                </a:solidFill>
                <a:effectLst/>
                <a:uFillTx/>
                <a:latin typeface="Aptos"/>
              </a:rPr>
              <a:t>Utility problems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10"/>
          <p:cNvSpPr/>
          <p:nvPr/>
        </p:nvSpPr>
        <p:spPr>
          <a:xfrm>
            <a:off x="3840480" y="224028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Tcl/Tk needed for GUI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Ghostscript/GSView for PostScript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ImageMagick for conversion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ounded Rectangle 11"/>
          <p:cNvSpPr/>
          <p:nvPr/>
        </p:nvSpPr>
        <p:spPr>
          <a:xfrm>
            <a:off x="6537960" y="1508760"/>
            <a:ext cx="2148480" cy="297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4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97" name="TextBox 12"/>
          <p:cNvSpPr/>
          <p:nvPr/>
        </p:nvSpPr>
        <p:spPr>
          <a:xfrm>
            <a:off x="667512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B4463C"/>
                </a:solidFill>
                <a:effectLst/>
                <a:uFillTx/>
                <a:latin typeface="Aptos"/>
              </a:rPr>
              <a:t>Permission problems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13"/>
          <p:cNvSpPr/>
          <p:nvPr/>
        </p:nvSpPr>
        <p:spPr>
          <a:xfrm>
            <a:off x="6766560" y="224028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Install as administrator if needed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Ask IT for managed computers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Check antivirus/quarantine rules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ounded Rectangle 14"/>
          <p:cNvSpPr/>
          <p:nvPr/>
        </p:nvSpPr>
        <p:spPr>
          <a:xfrm>
            <a:off x="9464040" y="1508760"/>
            <a:ext cx="2148480" cy="297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4B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00" name="TextBox 15"/>
          <p:cNvSpPr/>
          <p:nvPr/>
        </p:nvSpPr>
        <p:spPr>
          <a:xfrm>
            <a:off x="960120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4B965A"/>
                </a:solidFill>
                <a:effectLst/>
                <a:uFillTx/>
                <a:latin typeface="Aptos"/>
              </a:rPr>
              <a:t>Run problems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16"/>
          <p:cNvSpPr/>
          <p:nvPr/>
        </p:nvSpPr>
        <p:spPr>
          <a:xfrm>
            <a:off x="9692640" y="224028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Confirm meteorological data exist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Test one trajectory first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• Check UTC times and heights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ounded Rectangle 17"/>
          <p:cNvSpPr/>
          <p:nvPr/>
        </p:nvSpPr>
        <p:spPr>
          <a:xfrm>
            <a:off x="1097280" y="4983480"/>
            <a:ext cx="9966600" cy="731160"/>
          </a:xfrm>
          <a:prstGeom prst="roundRect">
            <a:avLst>
              <a:gd name="adj" fmla="val 16667"/>
            </a:avLst>
          </a:prstGeom>
          <a:solidFill>
            <a:srgbClr val="FFF4D4"/>
          </a:solidFill>
          <a:ln w="15240">
            <a:solidFill>
              <a:srgbClr val="DC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76320" rIns="101520" bIns="763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 u="none" strike="noStrike">
                <a:solidFill>
                  <a:srgbClr val="222931"/>
                </a:solidFill>
                <a:effectLst/>
                <a:uFillTx/>
                <a:latin typeface="Aptos"/>
              </a:rPr>
              <a:t>Course checkpoint: produce one backward trajectory, save the endpoint table, then import it into R/openair.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18"/>
          <p:cNvSpPr/>
          <p:nvPr/>
        </p:nvSpPr>
        <p:spPr>
          <a:xfrm>
            <a:off x="1097280" y="5897880"/>
            <a:ext cx="9966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A5F69"/>
                </a:solidFill>
                <a:effectLst/>
                <a:uFillTx/>
                <a:latin typeface="Aptos"/>
              </a:rPr>
              <a:t>For class exercises, document: HYSPLIT version, install path, meteorological dataset, receptor coordinates, heights, duration, and UTC arrival times.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Running a HYSPLIT trajectory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The same basic settings appear in the web and desktop interfaces.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777240" y="14630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4"/>
          <p:cNvSpPr/>
          <p:nvPr/>
        </p:nvSpPr>
        <p:spPr>
          <a:xfrm>
            <a:off x="887040" y="15728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Direction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Backward for source-region analysis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4526280" y="14630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4636080" y="15728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Meteorology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choose archive or forecast data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7"/>
          <p:cNvSpPr/>
          <p:nvPr/>
        </p:nvSpPr>
        <p:spPr>
          <a:xfrm>
            <a:off x="8275320" y="14630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8"/>
          <p:cNvSpPr/>
          <p:nvPr/>
        </p:nvSpPr>
        <p:spPr>
          <a:xfrm>
            <a:off x="8385120" y="15728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Start time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match sample / measurement time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777240" y="32918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887040" y="34016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Location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receptor latitude and longitude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1"/>
          <p:cNvSpPr/>
          <p:nvPr/>
        </p:nvSpPr>
        <p:spPr>
          <a:xfrm>
            <a:off x="4526280" y="32918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C64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2"/>
          <p:cNvSpPr/>
          <p:nvPr/>
        </p:nvSpPr>
        <p:spPr>
          <a:xfrm>
            <a:off x="4636080" y="34016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Height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e.g. 100, 500, 1000 m AGL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3"/>
          <p:cNvSpPr/>
          <p:nvPr/>
        </p:nvSpPr>
        <p:spPr>
          <a:xfrm>
            <a:off x="8275320" y="329184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7E5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4"/>
          <p:cNvSpPr/>
          <p:nvPr/>
        </p:nvSpPr>
        <p:spPr>
          <a:xfrm>
            <a:off x="8385120" y="340164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Duration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e.g. 72 or 96 h back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914400" y="5623560"/>
            <a:ext cx="1024020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Export or save the trajectory endpoints; openair needs the endpoint coordinates and the trajectory arrival 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From HYSPLIT output to openair input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The key step is converting trajectory output into a tidy endpoint table.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3"/>
          <p:cNvSpPr/>
          <p:nvPr/>
        </p:nvSpPr>
        <p:spPr>
          <a:xfrm>
            <a:off x="822960" y="1828800"/>
            <a:ext cx="2284920" cy="776160"/>
          </a:xfrm>
          <a:prstGeom prst="roundRect">
            <a:avLst>
              <a:gd name="adj" fmla="val 9412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4"/>
          <p:cNvSpPr/>
          <p:nvPr/>
        </p:nvSpPr>
        <p:spPr>
          <a:xfrm>
            <a:off x="932760" y="1938600"/>
            <a:ext cx="206532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HYSPLIT output file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5"/>
          <p:cNvSpPr/>
          <p:nvPr/>
        </p:nvSpPr>
        <p:spPr>
          <a:xfrm>
            <a:off x="3840480" y="1828800"/>
            <a:ext cx="2650680" cy="776160"/>
          </a:xfrm>
          <a:prstGeom prst="roundRect">
            <a:avLst>
              <a:gd name="adj" fmla="val 9412"/>
            </a:avLst>
          </a:prstGeom>
          <a:solidFill>
            <a:srgbClr val="FFF0DD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6"/>
          <p:cNvSpPr/>
          <p:nvPr/>
        </p:nvSpPr>
        <p:spPr>
          <a:xfrm>
            <a:off x="3950280" y="1938600"/>
            <a:ext cx="243108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Clean / reshape endpoints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7"/>
          <p:cNvSpPr/>
          <p:nvPr/>
        </p:nvSpPr>
        <p:spPr>
          <a:xfrm>
            <a:off x="7223760" y="1828800"/>
            <a:ext cx="2467800" cy="776160"/>
          </a:xfrm>
          <a:prstGeom prst="roundRect">
            <a:avLst>
              <a:gd name="adj" fmla="val 9412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8"/>
          <p:cNvSpPr/>
          <p:nvPr/>
        </p:nvSpPr>
        <p:spPr>
          <a:xfrm>
            <a:off x="7333560" y="1938600"/>
            <a:ext cx="224820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Join PM data by date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9"/>
          <p:cNvSpPr/>
          <p:nvPr/>
        </p:nvSpPr>
        <p:spPr>
          <a:xfrm>
            <a:off x="10012680" y="1828800"/>
            <a:ext cx="1690560" cy="776160"/>
          </a:xfrm>
          <a:prstGeom prst="roundRect">
            <a:avLst>
              <a:gd name="adj" fmla="val 9412"/>
            </a:avLst>
          </a:prstGeom>
          <a:solidFill>
            <a:srgbClr val="F0E9FA"/>
          </a:solidFill>
          <a:ln w="13970">
            <a:solidFill>
              <a:srgbClr val="7E5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0"/>
          <p:cNvSpPr/>
          <p:nvPr/>
        </p:nvSpPr>
        <p:spPr>
          <a:xfrm>
            <a:off x="10122480" y="1938600"/>
            <a:ext cx="147096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Plot and grid in openair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1"/>
          <p:cNvSpPr/>
          <p:nvPr/>
        </p:nvSpPr>
        <p:spPr>
          <a:xfrm>
            <a:off x="3154680" y="2212560"/>
            <a:ext cx="548640" cy="360"/>
          </a:xfrm>
          <a:prstGeom prst="line">
            <a:avLst/>
          </a:prstGeom>
          <a:ln w="29210">
            <a:solidFill>
              <a:srgbClr val="E28A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12"/>
          <p:cNvSpPr/>
          <p:nvPr/>
        </p:nvSpPr>
        <p:spPr>
          <a:xfrm>
            <a:off x="6537960" y="2212560"/>
            <a:ext cx="548640" cy="360"/>
          </a:xfrm>
          <a:prstGeom prst="line">
            <a:avLst/>
          </a:prstGeom>
          <a:ln w="29210">
            <a:solidFill>
              <a:srgbClr val="3B8C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3"/>
          <p:cNvSpPr/>
          <p:nvPr/>
        </p:nvSpPr>
        <p:spPr>
          <a:xfrm>
            <a:off x="9738360" y="2212560"/>
            <a:ext cx="228600" cy="360"/>
          </a:xfrm>
          <a:prstGeom prst="line">
            <a:avLst/>
          </a:prstGeom>
          <a:ln w="29210">
            <a:solidFill>
              <a:srgbClr val="7E5A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4"/>
          <p:cNvSpPr/>
          <p:nvPr/>
        </p:nvSpPr>
        <p:spPr>
          <a:xfrm>
            <a:off x="914400" y="3246120"/>
            <a:ext cx="10285920" cy="205632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5"/>
          <p:cNvSpPr/>
          <p:nvPr/>
        </p:nvSpPr>
        <p:spPr>
          <a:xfrm>
            <a:off x="1060560" y="3392280"/>
            <a:ext cx="9993240" cy="17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 &lt;- read.csv("hysplit_openair.csv") |&gt;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mutate(date = ymd_hms(date, tz = "UTC"),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     date2 = ymd_hms(date2, tz = "UTC"))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pm &lt;- read.csv("pm_data.csv") |&gt;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mutate(date = ymd_hms(date, tz = "UTC"))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traj_pm &lt;- left_join(traj, pm, by = "date")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6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Example 1: import and plot trajectories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openair can import pre-calculated HYSPLIT trajectories for supported sites.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3"/>
          <p:cNvSpPr/>
          <p:nvPr/>
        </p:nvSpPr>
        <p:spPr>
          <a:xfrm>
            <a:off x="777240" y="1417320"/>
            <a:ext cx="5302440" cy="3473640"/>
          </a:xfrm>
          <a:prstGeom prst="roundRect">
            <a:avLst>
              <a:gd name="adj" fmla="val 1579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4"/>
          <p:cNvSpPr/>
          <p:nvPr/>
        </p:nvSpPr>
        <p:spPr>
          <a:xfrm>
            <a:off x="923400" y="1563480"/>
            <a:ext cx="5009760" cy="318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library(openair)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library(tidyverse)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 &lt;- importTraj(site = "london", year = 2010)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quick check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head(traj)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plot all trajectories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trajPlot(traj)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5"/>
          <p:cNvSpPr/>
          <p:nvPr/>
        </p:nvSpPr>
        <p:spPr>
          <a:xfrm>
            <a:off x="6629400" y="1508760"/>
            <a:ext cx="2193480" cy="593280"/>
          </a:xfrm>
          <a:prstGeom prst="roundRect">
            <a:avLst>
              <a:gd name="adj" fmla="val 12308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6"/>
          <p:cNvSpPr/>
          <p:nvPr/>
        </p:nvSpPr>
        <p:spPr>
          <a:xfrm>
            <a:off x="6739200" y="1618560"/>
            <a:ext cx="197388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What to look for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7"/>
          <p:cNvSpPr/>
          <p:nvPr/>
        </p:nvSpPr>
        <p:spPr>
          <a:xfrm>
            <a:off x="6812280" y="2331720"/>
            <a:ext cx="3839400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arrival date and endpoint date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trajectory duration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main transport sectors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height evolution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8"/>
          <p:cNvSpPr/>
          <p:nvPr/>
        </p:nvSpPr>
        <p:spPr>
          <a:xfrm>
            <a:off x="6812280" y="4846320"/>
            <a:ext cx="4022280" cy="59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  <a:ea typeface="Aptos"/>
              </a:rPr>
              <a:t>Use trajPlot() first to understand the raw trajectories before calculating statistics.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Example 2: link trajectories to pollutant data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Trajectory analysis becomes powerful when each endpoint is linked to measured concentration.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822960" y="1417320"/>
            <a:ext cx="5439600" cy="2833560"/>
          </a:xfrm>
          <a:prstGeom prst="roundRect">
            <a:avLst>
              <a:gd name="adj" fmla="val 1935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4"/>
          <p:cNvSpPr/>
          <p:nvPr/>
        </p:nvSpPr>
        <p:spPr>
          <a:xfrm>
            <a:off x="969120" y="1563480"/>
            <a:ext cx="5146920" cy="254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Example with UK monitoring data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kc1 &lt;- </a:t>
            </a: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importUKAQ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("kc1", year = 2010)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traj_pm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&lt;- </a:t>
            </a: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left_join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, kc1, by = "date")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plot trajectories </a:t>
            </a: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coloured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by PM10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trajPlot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traj_pm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, pollutant = "pm10",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     cols = "turbo", </a:t>
            </a: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lwd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= 1)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5"/>
          <p:cNvSpPr/>
          <p:nvPr/>
        </p:nvSpPr>
        <p:spPr>
          <a:xfrm>
            <a:off x="6675120" y="1508760"/>
            <a:ext cx="2559240" cy="593280"/>
          </a:xfrm>
          <a:prstGeom prst="roundRect">
            <a:avLst>
              <a:gd name="adj" fmla="val 12308"/>
            </a:avLst>
          </a:prstGeom>
          <a:solidFill>
            <a:srgbClr val="FFF8DC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6"/>
          <p:cNvSpPr/>
          <p:nvPr/>
        </p:nvSpPr>
        <p:spPr>
          <a:xfrm>
            <a:off x="6784920" y="1618560"/>
            <a:ext cx="233964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Interpret carefully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7"/>
          <p:cNvSpPr/>
          <p:nvPr/>
        </p:nvSpPr>
        <p:spPr>
          <a:xfrm>
            <a:off x="6858000" y="2331720"/>
            <a:ext cx="3930840" cy="219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high PM on a trajectory can still be local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check NOx, local winds and time series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compare rural/background sites when possible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8"/>
          <p:cNvSpPr/>
          <p:nvPr/>
        </p:nvSpPr>
        <p:spPr>
          <a:xfrm>
            <a:off x="1051560" y="5257800"/>
            <a:ext cx="100573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For PM components with regional character, such as sulfate, nitrate, PM2.5 and dust tracers, trajectory methods are usually more informative.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Example 3: CPF / PSCF map in openair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Use trajLevel() with statistic = "pscf".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3"/>
          <p:cNvSpPr/>
          <p:nvPr/>
        </p:nvSpPr>
        <p:spPr>
          <a:xfrm>
            <a:off x="777240" y="1325880"/>
            <a:ext cx="5668200" cy="4022280"/>
          </a:xfrm>
          <a:prstGeom prst="roundRect">
            <a:avLst>
              <a:gd name="adj" fmla="val 1364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4"/>
          <p:cNvSpPr/>
          <p:nvPr/>
        </p:nvSpPr>
        <p:spPr>
          <a:xfrm>
            <a:off x="923400" y="1472040"/>
            <a:ext cx="5375520" cy="372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traj_pm |&gt;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filter(lon &gt; -20, lon &lt; 20, lat &gt; 45, lat &lt; 60) |&gt;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trajLevel(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pollutant = "pm2.5",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statistic = "pscf",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percentile = 90,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min.bin = 10,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cols = "increment",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border = NA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5"/>
          <p:cNvSpPr/>
          <p:nvPr/>
        </p:nvSpPr>
        <p:spPr>
          <a:xfrm>
            <a:off x="6903720" y="1508760"/>
            <a:ext cx="2330640" cy="593280"/>
          </a:xfrm>
          <a:prstGeom prst="roundRect">
            <a:avLst>
              <a:gd name="adj" fmla="val 12308"/>
            </a:avLst>
          </a:prstGeom>
          <a:solidFill>
            <a:srgbClr val="E8F6EE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6"/>
          <p:cNvSpPr/>
          <p:nvPr/>
        </p:nvSpPr>
        <p:spPr>
          <a:xfrm>
            <a:off x="7013520" y="1618560"/>
            <a:ext cx="211104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Read the map 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7"/>
          <p:cNvSpPr/>
          <p:nvPr/>
        </p:nvSpPr>
        <p:spPr>
          <a:xfrm>
            <a:off x="7086600" y="2331720"/>
            <a:ext cx="3747960" cy="21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probability map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high-event pathways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sensitive to percentile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low-count cells need caution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8"/>
          <p:cNvSpPr/>
          <p:nvPr/>
        </p:nvSpPr>
        <p:spPr>
          <a:xfrm>
            <a:off x="7086600" y="4892040"/>
            <a:ext cx="38394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Shortcut: CPF/PSCF = “where trajectories passed before high PM events”.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Example 4: CWT map in openair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Use trajLevel() with statistic = "cwt".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"/>
          <p:cNvSpPr/>
          <p:nvPr/>
        </p:nvSpPr>
        <p:spPr>
          <a:xfrm>
            <a:off x="777240" y="1325880"/>
            <a:ext cx="5668200" cy="3839400"/>
          </a:xfrm>
          <a:prstGeom prst="roundRect">
            <a:avLst>
              <a:gd name="adj" fmla="val 1429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4"/>
          <p:cNvSpPr/>
          <p:nvPr/>
        </p:nvSpPr>
        <p:spPr>
          <a:xfrm>
            <a:off x="923400" y="1472040"/>
            <a:ext cx="5375520" cy="354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traj_pm |&gt;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filter(lon &gt; -20, lon &lt; 20, lat &gt; 45, lat &lt; 60) |&gt;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trajLevel(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pollutant = "pm2.5",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statistic = "cwt",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smooth = TRUE,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cols = "increment",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border = "white"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5"/>
          <p:cNvSpPr/>
          <p:nvPr/>
        </p:nvSpPr>
        <p:spPr>
          <a:xfrm>
            <a:off x="6903720" y="1508760"/>
            <a:ext cx="2330640" cy="593280"/>
          </a:xfrm>
          <a:prstGeom prst="roundRect">
            <a:avLst>
              <a:gd name="adj" fmla="val 12308"/>
            </a:avLst>
          </a:prstGeom>
          <a:solidFill>
            <a:srgbClr val="FFF0DD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6"/>
          <p:cNvSpPr/>
          <p:nvPr/>
        </p:nvSpPr>
        <p:spPr>
          <a:xfrm>
            <a:off x="7013520" y="1618560"/>
            <a:ext cx="211104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Read the map 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7"/>
          <p:cNvSpPr/>
          <p:nvPr/>
        </p:nvSpPr>
        <p:spPr>
          <a:xfrm>
            <a:off x="7086600" y="2331720"/>
            <a:ext cx="3747960" cy="21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concentration-weighted field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hotspots linked to high average PM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good complement to CPF/PSCF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check outliers and smoothing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8"/>
          <p:cNvSpPr/>
          <p:nvPr/>
        </p:nvSpPr>
        <p:spPr>
          <a:xfrm>
            <a:off x="7086600" y="4892040"/>
            <a:ext cx="38394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Shortcut: CWT = “how high PM tends to be when air passes over this region”.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9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Example 5: seasonal and sensitivity checks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Split the analysis and test whether the interpretation is stable.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3"/>
          <p:cNvSpPr/>
          <p:nvPr/>
        </p:nvSpPr>
        <p:spPr>
          <a:xfrm>
            <a:off x="777240" y="1325880"/>
            <a:ext cx="6399720" cy="4296600"/>
          </a:xfrm>
          <a:prstGeom prst="roundRect">
            <a:avLst>
              <a:gd name="adj" fmla="val 1277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4"/>
          <p:cNvSpPr/>
          <p:nvPr/>
        </p:nvSpPr>
        <p:spPr>
          <a:xfrm>
            <a:off x="923400" y="1472040"/>
            <a:ext cx="6107040" cy="400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seasonal CPF/PSCF panels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trajLevel(traj_pm, pollutant = "pm2.5",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      statistic = "pscf", type = "season",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      percentile = 90, ncol = 4)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change grid resolution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trajLevel(traj_pm, pollutant = "pm2.5",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      statistic = "cwt",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          lon.inc = 2, lat.inc = 2)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cluster pathways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clust &lt;- trajCluster(traj_pm, method = "Angle", n.cluster = 6)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5"/>
          <p:cNvSpPr/>
          <p:nvPr/>
        </p:nvSpPr>
        <p:spPr>
          <a:xfrm>
            <a:off x="7726680" y="1508760"/>
            <a:ext cx="2559240" cy="593280"/>
          </a:xfrm>
          <a:prstGeom prst="roundRect">
            <a:avLst>
              <a:gd name="adj" fmla="val 12308"/>
            </a:avLst>
          </a:prstGeom>
          <a:solidFill>
            <a:srgbClr val="EDF6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6"/>
          <p:cNvSpPr/>
          <p:nvPr/>
        </p:nvSpPr>
        <p:spPr>
          <a:xfrm>
            <a:off x="7836480" y="1618560"/>
            <a:ext cx="233964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3A5B"/>
                </a:solidFill>
                <a:effectLst/>
                <a:uFillTx/>
                <a:latin typeface="Aptos"/>
              </a:rPr>
              <a:t>Sensitivity checklist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7"/>
          <p:cNvSpPr/>
          <p:nvPr/>
        </p:nvSpPr>
        <p:spPr>
          <a:xfrm>
            <a:off x="7909560" y="2331720"/>
            <a:ext cx="310788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percentile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grid size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trajectory height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trajectory duration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season / event period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min.bin / weighting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8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Practical exercise: from trajectories to maps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A suggested hands-on activity for students.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3"/>
          <p:cNvSpPr/>
          <p:nvPr/>
        </p:nvSpPr>
        <p:spPr>
          <a:xfrm>
            <a:off x="777240" y="141732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F6F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4"/>
          <p:cNvSpPr/>
          <p:nvPr/>
        </p:nvSpPr>
        <p:spPr>
          <a:xfrm>
            <a:off x="887040" y="152712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Plot trajectories for an event period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5"/>
          <p:cNvSpPr/>
          <p:nvPr/>
        </p:nvSpPr>
        <p:spPr>
          <a:xfrm>
            <a:off x="4526280" y="141732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B8C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6"/>
          <p:cNvSpPr/>
          <p:nvPr/>
        </p:nvSpPr>
        <p:spPr>
          <a:xfrm>
            <a:off x="4636080" y="152712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B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Colour trajectories by PM10 or PM2.5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7"/>
          <p:cNvSpPr/>
          <p:nvPr/>
        </p:nvSpPr>
        <p:spPr>
          <a:xfrm>
            <a:off x="8275320" y="141732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8"/>
          <p:cNvSpPr/>
          <p:nvPr/>
        </p:nvSpPr>
        <p:spPr>
          <a:xfrm>
            <a:off x="8385120" y="152712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Create a CPF/PSCF map using the 90th percentile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9"/>
          <p:cNvSpPr/>
          <p:nvPr/>
        </p:nvSpPr>
        <p:spPr>
          <a:xfrm>
            <a:off x="777240" y="324612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0"/>
          <p:cNvSpPr/>
          <p:nvPr/>
        </p:nvSpPr>
        <p:spPr>
          <a:xfrm>
            <a:off x="887040" y="335592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Create a CWT map and compare with CPF/PSCF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1"/>
          <p:cNvSpPr/>
          <p:nvPr/>
        </p:nvSpPr>
        <p:spPr>
          <a:xfrm>
            <a:off x="4526280" y="3246120"/>
            <a:ext cx="30621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7E5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2"/>
          <p:cNvSpPr/>
          <p:nvPr/>
        </p:nvSpPr>
        <p:spPr>
          <a:xfrm>
            <a:off x="4636080" y="3355920"/>
            <a:ext cx="2842560" cy="92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Repeat by season or with a different grid size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3"/>
          <p:cNvSpPr/>
          <p:nvPr/>
        </p:nvSpPr>
        <p:spPr>
          <a:xfrm>
            <a:off x="960120" y="5532120"/>
            <a:ext cx="1005732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Deliverable: one slide with the event trajectory plot, one CPF/PSCF map, one CWT map, and three bullet points on interpretation and uncertainty.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4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Take-home messages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The best trajectory analysis is statistical, reproducible and cautious.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3"/>
          <p:cNvSpPr/>
          <p:nvPr/>
        </p:nvSpPr>
        <p:spPr>
          <a:xfrm>
            <a:off x="914400" y="1417320"/>
            <a:ext cx="10285920" cy="393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Long-range transport can strongly influence PM and its chemical components.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Back trajectories estimate air-mass history; use large ensembles and statistical maps.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CPF/PSCF highlights regions crossed before high-concentration events.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CWT highlights regions associated with higher average receptor concentrations.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HYSPLIT provides trajectories; openair provides plotting and trajectory-statistical tools.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• Interpret maps together with chemistry, meteorology, local emissions and sensitivity tests.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4"/>
          <p:cNvSpPr/>
          <p:nvPr/>
        </p:nvSpPr>
        <p:spPr>
          <a:xfrm>
            <a:off x="1097280" y="5623560"/>
            <a:ext cx="9965880" cy="593280"/>
          </a:xfrm>
          <a:prstGeom prst="roundRect">
            <a:avLst>
              <a:gd name="adj" fmla="val 12308"/>
            </a:avLst>
          </a:prstGeom>
          <a:solidFill>
            <a:srgbClr val="FFF8DC"/>
          </a:solidFill>
          <a:ln w="13970">
            <a:solidFill>
              <a:srgbClr val="E28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5"/>
          <p:cNvSpPr/>
          <p:nvPr/>
        </p:nvSpPr>
        <p:spPr>
          <a:xfrm>
            <a:off x="1207080" y="5733360"/>
            <a:ext cx="974628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Core principle: maps suggest potential source regions and transport pathways, not proof of source emissions alone.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6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Text 0"/>
          <p:cNvSpPr/>
          <p:nvPr/>
        </p:nvSpPr>
        <p:spPr>
          <a:xfrm>
            <a:off x="411480" y="274320"/>
            <a:ext cx="111546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3A5B"/>
                </a:solidFill>
                <a:effectLst/>
                <a:uFillTx/>
                <a:latin typeface="Aptos Display"/>
                <a:ea typeface="Aptos Display"/>
              </a:rPr>
              <a:t>Selected sources and further reading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"/>
          <p:cNvSpPr/>
          <p:nvPr/>
        </p:nvSpPr>
        <p:spPr>
          <a:xfrm>
            <a:off x="438840" y="74988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572"/>
                </a:solidFill>
                <a:effectLst/>
                <a:uFillTx/>
                <a:latin typeface="Aptos"/>
                <a:ea typeface="Aptos"/>
              </a:rPr>
              <a:t>Core sources used for this teaching deck.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2"/>
          <p:cNvSpPr/>
          <p:nvPr/>
        </p:nvSpPr>
        <p:spPr>
          <a:xfrm>
            <a:off x="411480" y="1051560"/>
            <a:ext cx="1124712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3"/>
          <p:cNvSpPr/>
          <p:nvPr/>
        </p:nvSpPr>
        <p:spPr>
          <a:xfrm>
            <a:off x="777240" y="1463040"/>
            <a:ext cx="10788840" cy="37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22831"/>
                </a:solidFill>
                <a:effectLst/>
                <a:uFillTx/>
                <a:latin typeface="Aptos"/>
              </a:rPr>
              <a:t>• Openair book: Introduction, openair package, trajectory analysis, and HYSPLIT trajectory </a:t>
            </a: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Aptos"/>
              </a:rPr>
              <a:t>files.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22831"/>
                </a:solidFill>
                <a:effectLst/>
                <a:uFillTx/>
                <a:latin typeface="Aptos"/>
              </a:rPr>
              <a:t>• NOAA ARL HYSPLIT / READY documentation and installation pages.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22831"/>
                </a:solidFill>
                <a:effectLst/>
                <a:uFillTx/>
                <a:latin typeface="Aptos"/>
              </a:rPr>
              <a:t>• Uploaded “R Practical Exercise” teaching material.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22831"/>
                </a:solidFill>
                <a:effectLst/>
                <a:uFillTx/>
                <a:latin typeface="Aptos"/>
              </a:rPr>
              <a:t>• Fleming et al. (2012), Seibert et al. (1994), Lupu &amp; </a:t>
            </a:r>
            <a:r>
              <a:rPr lang="en-US" sz="1700" b="0" u="none" strike="noStrike" dirty="0" err="1">
                <a:solidFill>
                  <a:srgbClr val="222831"/>
                </a:solidFill>
                <a:effectLst/>
                <a:uFillTx/>
                <a:latin typeface="Aptos"/>
              </a:rPr>
              <a:t>Maenhaut</a:t>
            </a:r>
            <a:r>
              <a:rPr lang="en-US" sz="1700" b="0" u="none" strike="noStrike" dirty="0">
                <a:solidFill>
                  <a:srgbClr val="222831"/>
                </a:solidFill>
                <a:effectLst/>
                <a:uFillTx/>
                <a:latin typeface="Aptos"/>
              </a:rPr>
              <a:t> (2002), Hsu et al. (2003), Stein et al. (2015).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4"/>
          <p:cNvSpPr/>
          <p:nvPr/>
        </p:nvSpPr>
        <p:spPr>
          <a:xfrm>
            <a:off x="868680" y="4636008"/>
            <a:ext cx="102402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53A5B"/>
                </a:solidFill>
                <a:effectLst/>
                <a:uFillTx/>
                <a:latin typeface="Aptos"/>
                <a:ea typeface="Aptos"/>
              </a:rPr>
              <a:t>Recommended final step for students: reproduce one CPF/PSCF and one CWT map with their own PM component time series.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5"/>
          <p:cNvSpPr/>
          <p:nvPr/>
        </p:nvSpPr>
        <p:spPr>
          <a:xfrm>
            <a:off x="11475720" y="6510600"/>
            <a:ext cx="3463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572"/>
                </a:solidFill>
                <a:effectLst/>
                <a:uFillTx/>
                <a:latin typeface="Aptos"/>
              </a:rPr>
              <a:t>30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3655</Words>
  <Application>Microsoft Office PowerPoint</Application>
  <PresentationFormat>Widescreen</PresentationFormat>
  <Paragraphs>615</Paragraphs>
  <Slides>37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Aptos</vt:lpstr>
      <vt:lpstr>Aptos Display</vt:lpstr>
      <vt:lpstr>Arial</vt:lpstr>
      <vt:lpstr>Cascadia Mono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Manos Manousakas</cp:lastModifiedBy>
  <cp:revision>1</cp:revision>
  <dcterms:modified xsi:type="dcterms:W3CDTF">2026-04-29T11:16:31Z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2026-04-29T09:40:59Z</dcterms:created>
  <dc:creator>OpenAI</dc:creator>
  <dc:description/>
  <dc:language>en-US</dc:language>
  <cp:lastModifiedBy>OpenAI</cp:lastModifiedBy>
  <dcterms:modified xsi:type="dcterms:W3CDTF">2026-04-29T09:40:59Z</dcterms:modified>
  <cp:revision>1</cp:revision>
  <dc:subject>Long-range transport methods, CWT, CPF/PSCF, HYSPLIT and openair</dc:subject>
  <dc:title>Long-range Transport Methods for PM: CWT, CPF/PSCF, HYSPLIT and openair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30</vt:r8>
  </property>
  <property fmtid="{D5CDD505-2E9C-101B-9397-08002B2CF9AE}" pid="3" name="PresentationFormat">
    <vt:lpwstr>On-screen Show (16:9)</vt:lpwstr>
  </property>
  <property fmtid="{D5CDD505-2E9C-101B-9397-08002B2CF9AE}" pid="4" name="Slides">
    <vt:r8>30</vt:r8>
  </property>
</Properties>
</file>